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3" r:id="rId7"/>
    <p:sldId id="262" r:id="rId8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1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01" d="100"/>
          <a:sy n="201" d="100"/>
        </p:scale>
        <p:origin x="120" y="236"/>
      </p:cViewPr>
      <p:guideLst>
        <p:guide orient="horz" pos="2880"/>
        <p:guide pos="181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32B498-91AC-42B8-8536-DA660F886583}" type="datetimeFigureOut">
              <a:rPr lang="zh-CN" altLang="en-US" smtClean="0"/>
              <a:t>2024/10/4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54A14A-83C2-42CC-A65E-76C3C2E836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830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54A14A-83C2-42CC-A65E-76C3C2E8360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851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Group</a:t>
            </a:r>
            <a:r>
              <a:rPr spc="-35" dirty="0"/>
              <a:t> </a:t>
            </a:r>
            <a:r>
              <a:rPr spc="-25" dirty="0"/>
              <a:t>Two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Group</a:t>
            </a:r>
            <a:r>
              <a:rPr spc="-35" dirty="0"/>
              <a:t> </a:t>
            </a:r>
            <a:r>
              <a:rPr spc="-25" dirty="0"/>
              <a:t>Two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Group</a:t>
            </a:r>
            <a:r>
              <a:rPr spc="-35" dirty="0"/>
              <a:t> </a:t>
            </a:r>
            <a:r>
              <a:rPr spc="-25" dirty="0"/>
              <a:t>Two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2"/>
            <a:ext cx="2880360" cy="122555"/>
          </a:xfrm>
          <a:custGeom>
            <a:avLst/>
            <a:gdLst/>
            <a:ahLst/>
            <a:cxnLst/>
            <a:rect l="l" t="t" r="r" b="b"/>
            <a:pathLst>
              <a:path w="2880360" h="122555">
                <a:moveTo>
                  <a:pt x="2880004" y="0"/>
                </a:moveTo>
                <a:lnTo>
                  <a:pt x="0" y="0"/>
                </a:lnTo>
                <a:lnTo>
                  <a:pt x="0" y="122389"/>
                </a:lnTo>
                <a:lnTo>
                  <a:pt x="2880004" y="122389"/>
                </a:lnTo>
                <a:lnTo>
                  <a:pt x="28800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880004" y="-12"/>
            <a:ext cx="2880360" cy="122555"/>
          </a:xfrm>
          <a:custGeom>
            <a:avLst/>
            <a:gdLst/>
            <a:ahLst/>
            <a:cxnLst/>
            <a:rect l="l" t="t" r="r" b="b"/>
            <a:pathLst>
              <a:path w="2880360" h="122555">
                <a:moveTo>
                  <a:pt x="2880004" y="0"/>
                </a:moveTo>
                <a:lnTo>
                  <a:pt x="0" y="0"/>
                </a:lnTo>
                <a:lnTo>
                  <a:pt x="0" y="122389"/>
                </a:lnTo>
                <a:lnTo>
                  <a:pt x="2880004" y="122389"/>
                </a:lnTo>
                <a:lnTo>
                  <a:pt x="2880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Group</a:t>
            </a:r>
            <a:r>
              <a:rPr spc="-35" dirty="0"/>
              <a:t> </a:t>
            </a:r>
            <a:r>
              <a:rPr spc="-25" dirty="0"/>
              <a:t>Two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Group</a:t>
            </a:r>
            <a:r>
              <a:rPr spc="-35" dirty="0"/>
              <a:t> </a:t>
            </a:r>
            <a:r>
              <a:rPr spc="-25" dirty="0"/>
              <a:t>Two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2"/>
            <a:ext cx="2880360" cy="79375"/>
          </a:xfrm>
          <a:custGeom>
            <a:avLst/>
            <a:gdLst/>
            <a:ahLst/>
            <a:cxnLst/>
            <a:rect l="l" t="t" r="r" b="b"/>
            <a:pathLst>
              <a:path w="2880360" h="79375">
                <a:moveTo>
                  <a:pt x="0" y="79222"/>
                </a:moveTo>
                <a:lnTo>
                  <a:pt x="2880004" y="79222"/>
                </a:lnTo>
                <a:lnTo>
                  <a:pt x="2880004" y="0"/>
                </a:lnTo>
                <a:lnTo>
                  <a:pt x="0" y="0"/>
                </a:lnTo>
                <a:lnTo>
                  <a:pt x="0" y="792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880004" y="-12"/>
            <a:ext cx="2880360" cy="79375"/>
          </a:xfrm>
          <a:custGeom>
            <a:avLst/>
            <a:gdLst/>
            <a:ahLst/>
            <a:cxnLst/>
            <a:rect l="l" t="t" r="r" b="b"/>
            <a:pathLst>
              <a:path w="2880360" h="79375">
                <a:moveTo>
                  <a:pt x="0" y="79222"/>
                </a:moveTo>
                <a:lnTo>
                  <a:pt x="2880004" y="79222"/>
                </a:lnTo>
                <a:lnTo>
                  <a:pt x="2880004" y="0"/>
                </a:lnTo>
                <a:lnTo>
                  <a:pt x="0" y="0"/>
                </a:lnTo>
                <a:lnTo>
                  <a:pt x="0" y="79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79209"/>
            <a:ext cx="5759996" cy="6752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143700"/>
            <a:ext cx="5760085" cy="303530"/>
          </a:xfrm>
          <a:custGeom>
            <a:avLst/>
            <a:gdLst/>
            <a:ahLst/>
            <a:cxnLst/>
            <a:rect l="l" t="t" r="r" b="b"/>
            <a:pathLst>
              <a:path w="5760085" h="303530">
                <a:moveTo>
                  <a:pt x="5759996" y="0"/>
                </a:moveTo>
                <a:lnTo>
                  <a:pt x="0" y="0"/>
                </a:lnTo>
                <a:lnTo>
                  <a:pt x="0" y="303250"/>
                </a:lnTo>
                <a:lnTo>
                  <a:pt x="5759996" y="303250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28518"/>
            <a:ext cx="2968625" cy="288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6463" y="702263"/>
            <a:ext cx="4845685" cy="2091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46426" y="3118180"/>
            <a:ext cx="438785" cy="122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Group</a:t>
            </a:r>
            <a:r>
              <a:rPr spc="-35" dirty="0"/>
              <a:t> </a:t>
            </a:r>
            <a:r>
              <a:rPr spc="-25" dirty="0"/>
              <a:t>Two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slide" Target="slide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slide" Target="slid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9193" y="712113"/>
            <a:ext cx="5193030" cy="564515"/>
            <a:chOff x="309193" y="712113"/>
            <a:chExt cx="5193030" cy="564515"/>
          </a:xfrm>
        </p:grpSpPr>
        <p:sp>
          <p:nvSpPr>
            <p:cNvPr id="3" name="object 3"/>
            <p:cNvSpPr/>
            <p:nvPr/>
          </p:nvSpPr>
          <p:spPr>
            <a:xfrm>
              <a:off x="309193" y="712113"/>
              <a:ext cx="5142230" cy="82550"/>
            </a:xfrm>
            <a:custGeom>
              <a:avLst/>
              <a:gdLst/>
              <a:ahLst/>
              <a:cxnLst/>
              <a:rect l="l" t="t" r="r" b="b"/>
              <a:pathLst>
                <a:path w="5142230" h="82550">
                  <a:moveTo>
                    <a:pt x="509087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141671" y="82384"/>
                  </a:lnTo>
                  <a:lnTo>
                    <a:pt x="5141671" y="50800"/>
                  </a:lnTo>
                  <a:lnTo>
                    <a:pt x="5137663" y="31075"/>
                  </a:lnTo>
                  <a:lnTo>
                    <a:pt x="5126749" y="14922"/>
                  </a:lnTo>
                  <a:lnTo>
                    <a:pt x="5110596" y="4008"/>
                  </a:lnTo>
                  <a:lnTo>
                    <a:pt x="5090871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9994" y="775376"/>
              <a:ext cx="5142230" cy="501015"/>
            </a:xfrm>
            <a:custGeom>
              <a:avLst/>
              <a:gdLst/>
              <a:ahLst/>
              <a:cxnLst/>
              <a:rect l="l" t="t" r="r" b="b"/>
              <a:pathLst>
                <a:path w="5142230" h="501015">
                  <a:moveTo>
                    <a:pt x="5141671" y="0"/>
                  </a:moveTo>
                  <a:lnTo>
                    <a:pt x="0" y="0"/>
                  </a:lnTo>
                  <a:lnTo>
                    <a:pt x="0" y="500910"/>
                  </a:lnTo>
                  <a:lnTo>
                    <a:pt x="5141671" y="500910"/>
                  </a:lnTo>
                  <a:lnTo>
                    <a:pt x="51416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193" y="756538"/>
              <a:ext cx="5142230" cy="469265"/>
            </a:xfrm>
            <a:custGeom>
              <a:avLst/>
              <a:gdLst/>
              <a:ahLst/>
              <a:cxnLst/>
              <a:rect l="l" t="t" r="r" b="b"/>
              <a:pathLst>
                <a:path w="5142230" h="469265">
                  <a:moveTo>
                    <a:pt x="5141671" y="0"/>
                  </a:moveTo>
                  <a:lnTo>
                    <a:pt x="0" y="0"/>
                  </a:lnTo>
                  <a:lnTo>
                    <a:pt x="0" y="418147"/>
                  </a:lnTo>
                  <a:lnTo>
                    <a:pt x="4008" y="437872"/>
                  </a:lnTo>
                  <a:lnTo>
                    <a:pt x="14922" y="454025"/>
                  </a:lnTo>
                  <a:lnTo>
                    <a:pt x="31075" y="464939"/>
                  </a:lnTo>
                  <a:lnTo>
                    <a:pt x="50800" y="468947"/>
                  </a:lnTo>
                  <a:lnTo>
                    <a:pt x="5090871" y="468947"/>
                  </a:lnTo>
                  <a:lnTo>
                    <a:pt x="5110596" y="464939"/>
                  </a:lnTo>
                  <a:lnTo>
                    <a:pt x="5126749" y="454025"/>
                  </a:lnTo>
                  <a:lnTo>
                    <a:pt x="5137663" y="437872"/>
                  </a:lnTo>
                  <a:lnTo>
                    <a:pt x="5141671" y="418147"/>
                  </a:lnTo>
                  <a:lnTo>
                    <a:pt x="5141671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59994" y="775376"/>
            <a:ext cx="5142230" cy="308418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R="94615" algn="ctr">
              <a:lnSpc>
                <a:spcPct val="100000"/>
              </a:lnSpc>
              <a:spcBef>
                <a:spcPts val="365"/>
              </a:spcBef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  <a:cs typeface="Arial"/>
              </a:rPr>
              <a:t>Intraday feature with a Two-stage model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44623" y="1441574"/>
            <a:ext cx="1271270" cy="7893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200" spc="-65" dirty="0">
                <a:latin typeface="Arial"/>
                <a:cs typeface="Arial"/>
              </a:rPr>
              <a:t>Group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Two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spc="-70" dirty="0">
                <a:latin typeface="Arial"/>
                <a:cs typeface="Arial"/>
              </a:rPr>
              <a:t>Oct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lang="en-US" altLang="zh-CN" sz="1200" spc="-35" dirty="0">
                <a:latin typeface="Arial"/>
                <a:cs typeface="Arial"/>
              </a:rPr>
              <a:t>4th</a:t>
            </a:r>
            <a:r>
              <a:rPr sz="1200" spc="-35" dirty="0">
                <a:latin typeface="Arial"/>
                <a:cs typeface="Arial"/>
              </a:rPr>
              <a:t>, </a:t>
            </a:r>
            <a:r>
              <a:rPr sz="1200" spc="-30" dirty="0">
                <a:latin typeface="Arial"/>
                <a:cs typeface="Arial"/>
              </a:rPr>
              <a:t>2024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80" dirty="0"/>
              <a:t>Theoretical</a:t>
            </a:r>
            <a:r>
              <a:rPr spc="-15" dirty="0"/>
              <a:t> </a:t>
            </a:r>
            <a:r>
              <a:rPr spc="-105" dirty="0"/>
              <a:t>Background</a:t>
            </a:r>
          </a:p>
        </p:txBody>
      </p:sp>
      <p:sp>
        <p:nvSpPr>
          <p:cNvPr id="3" name="object 3"/>
          <p:cNvSpPr/>
          <p:nvPr/>
        </p:nvSpPr>
        <p:spPr>
          <a:xfrm>
            <a:off x="-38" y="445259"/>
            <a:ext cx="5760085" cy="34290"/>
          </a:xfrm>
          <a:custGeom>
            <a:avLst/>
            <a:gdLst/>
            <a:ahLst/>
            <a:cxnLst/>
            <a:rect l="l" t="t" r="r" b="b"/>
            <a:pathLst>
              <a:path w="5760085" h="34290">
                <a:moveTo>
                  <a:pt x="5760072" y="0"/>
                </a:moveTo>
                <a:lnTo>
                  <a:pt x="0" y="0"/>
                </a:lnTo>
                <a:lnTo>
                  <a:pt x="0" y="33761"/>
                </a:lnTo>
                <a:lnTo>
                  <a:pt x="5760072" y="33761"/>
                </a:lnTo>
                <a:lnTo>
                  <a:pt x="5760072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173" y="632593"/>
            <a:ext cx="71513" cy="7151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596900" y="517171"/>
            <a:ext cx="5029200" cy="1075936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US" spc="-85" dirty="0"/>
              <a:t>Researchers argue the </a:t>
            </a:r>
            <a:r>
              <a:rPr lang="en-US" altLang="zh-CN" i="1" dirty="0"/>
              <a:t>correlation between intraday vol-price,</a:t>
            </a:r>
            <a:r>
              <a:rPr lang="en-US" altLang="zh-CN" dirty="0"/>
              <a:t> will give out a better prediction to future returns.</a:t>
            </a:r>
            <a:r>
              <a:rPr lang="en-US" altLang="zh-CN" spc="-85" dirty="0"/>
              <a:t> Because </a:t>
            </a:r>
            <a:r>
              <a:rPr lang="en-US" altLang="zh-CN" i="1" spc="-85" dirty="0"/>
              <a:t>Price increase with Vol expansion </a:t>
            </a:r>
            <a:r>
              <a:rPr lang="en-US" spc="-85" dirty="0"/>
              <a:t>Often means a good signal while vice verse.</a:t>
            </a: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US" spc="-85" dirty="0"/>
              <a:t>With more features, we proved that the subsample ensemble model idea is better </a:t>
            </a: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endParaRPr spc="-10" dirty="0"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8699" y="1209795"/>
            <a:ext cx="71513" cy="71513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117608"/>
            <a:ext cx="5760085" cy="122555"/>
            <a:chOff x="0" y="3117608"/>
            <a:chExt cx="5760085" cy="122555"/>
          </a:xfrm>
        </p:grpSpPr>
        <p:sp>
          <p:nvSpPr>
            <p:cNvPr id="9" name="object 9"/>
            <p:cNvSpPr/>
            <p:nvPr/>
          </p:nvSpPr>
          <p:spPr>
            <a:xfrm>
              <a:off x="0" y="3117608"/>
              <a:ext cx="2880360" cy="122555"/>
            </a:xfrm>
            <a:custGeom>
              <a:avLst/>
              <a:gdLst/>
              <a:ahLst/>
              <a:cxnLst/>
              <a:rect l="l" t="t" r="r" b="b"/>
              <a:pathLst>
                <a:path w="2880360" h="122555">
                  <a:moveTo>
                    <a:pt x="2880004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880004" y="12238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80004" y="3117608"/>
              <a:ext cx="2880360" cy="122555"/>
            </a:xfrm>
            <a:custGeom>
              <a:avLst/>
              <a:gdLst/>
              <a:ahLst/>
              <a:cxnLst/>
              <a:rect l="l" t="t" r="r" b="b"/>
              <a:pathLst>
                <a:path w="2880360" h="122555">
                  <a:moveTo>
                    <a:pt x="2880004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880004" y="12238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Group</a:t>
            </a:r>
            <a:r>
              <a:rPr spc="-35" dirty="0"/>
              <a:t> </a:t>
            </a:r>
            <a:r>
              <a:rPr spc="-25" dirty="0"/>
              <a:t>Two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75305" y="3117724"/>
            <a:ext cx="1239520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en-US" sz="600" b="1" dirty="0">
                <a:solidFill>
                  <a:srgbClr val="FFFFFF"/>
                </a:solidFill>
                <a:latin typeface="Arial"/>
                <a:cs typeface="Arial"/>
                <a:hlinkClick r:id="rId5" action="ppaction://hlinksldjump"/>
              </a:rPr>
              <a:t>Intraday feature with a Two-stage</a:t>
            </a:r>
            <a:r>
              <a:rPr lang="en-US" sz="600" b="1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endParaRPr lang="en-US" sz="600" dirty="0">
              <a:latin typeface="Arial"/>
              <a:cs typeface="Arial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8F1913B-A57F-CF07-7549-C1F90A0D079F}"/>
              </a:ext>
            </a:extLst>
          </p:cNvPr>
          <p:cNvGrpSpPr>
            <a:grpSpLocks/>
          </p:cNvGrpSpPr>
          <p:nvPr/>
        </p:nvGrpSpPr>
        <p:grpSpPr>
          <a:xfrm>
            <a:off x="292100" y="2026938"/>
            <a:ext cx="1328410" cy="872071"/>
            <a:chOff x="915407" y="2062951"/>
            <a:chExt cx="1328410" cy="872071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11984226-19F6-F784-6B92-FEF1FF109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5407" y="2062951"/>
              <a:ext cx="1328410" cy="872071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ABA277CE-3DA3-74A5-DC65-5B5B1EEDB8C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flipH="1">
              <a:off x="1516635" y="2466243"/>
              <a:ext cx="70864" cy="261435"/>
            </a:xfrm>
            <a:prstGeom prst="rect">
              <a:avLst/>
            </a:prstGeom>
          </p:spPr>
        </p:pic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53D2388-4A74-4A85-0C03-C643EBF81AE5}"/>
              </a:ext>
            </a:extLst>
          </p:cNvPr>
          <p:cNvGrpSpPr/>
          <p:nvPr/>
        </p:nvGrpSpPr>
        <p:grpSpPr>
          <a:xfrm>
            <a:off x="1739900" y="2026937"/>
            <a:ext cx="1328410" cy="872071"/>
            <a:chOff x="1739900" y="1998726"/>
            <a:chExt cx="1328410" cy="872071"/>
          </a:xfrm>
        </p:grpSpPr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39351AC3-8426-8465-988F-65B3BFAA2D52}"/>
                </a:ext>
              </a:extLst>
            </p:cNvPr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739900" y="1998726"/>
              <a:ext cx="1328410" cy="872071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2AA69069-540D-FEFD-3DC1-E8ED878EB5D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flipH="1">
              <a:off x="2280957" y="2324653"/>
              <a:ext cx="70864" cy="261435"/>
            </a:xfrm>
            <a:prstGeom prst="rect">
              <a:avLst/>
            </a:prstGeom>
          </p:spPr>
        </p:pic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42532A9E-25EE-A7F6-6531-E456707A3178}"/>
              </a:ext>
            </a:extLst>
          </p:cNvPr>
          <p:cNvSpPr txBox="1"/>
          <p:nvPr/>
        </p:nvSpPr>
        <p:spPr>
          <a:xfrm>
            <a:off x="368300" y="1855696"/>
            <a:ext cx="11430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500" i="1" dirty="0"/>
              <a:t>Price increase with </a:t>
            </a:r>
            <a:r>
              <a:rPr lang="zh-CN" altLang="en-US" sz="500" i="1" dirty="0"/>
              <a:t>Vol expansion </a:t>
            </a:r>
            <a:endParaRPr lang="zh-CN" altLang="en-US" sz="12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6DE04EF-6902-1792-B489-61DAEC63B63A}"/>
              </a:ext>
            </a:extLst>
          </p:cNvPr>
          <p:cNvSpPr txBox="1"/>
          <p:nvPr/>
        </p:nvSpPr>
        <p:spPr>
          <a:xfrm>
            <a:off x="1881180" y="1855696"/>
            <a:ext cx="11430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500" i="1" dirty="0"/>
              <a:t>Price decline with </a:t>
            </a:r>
            <a:r>
              <a:rPr lang="zh-CN" altLang="en-US" sz="500" i="1" dirty="0"/>
              <a:t>Vol expansion </a:t>
            </a:r>
            <a:endParaRPr lang="zh-CN" altLang="en-US" sz="1200" dirty="0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C452ED5E-F632-2A3F-0B25-E1B7A93F2B81}"/>
              </a:ext>
            </a:extLst>
          </p:cNvPr>
          <p:cNvGrpSpPr/>
          <p:nvPr/>
        </p:nvGrpSpPr>
        <p:grpSpPr>
          <a:xfrm>
            <a:off x="3320537" y="1851025"/>
            <a:ext cx="2589234" cy="1109191"/>
            <a:chOff x="3481422" y="2149048"/>
            <a:chExt cx="2142084" cy="870064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FCC7462C-4A23-861B-AF22-F7FB06B3CE65}"/>
                </a:ext>
              </a:extLst>
            </p:cNvPr>
            <p:cNvSpPr/>
            <p:nvPr/>
          </p:nvSpPr>
          <p:spPr>
            <a:xfrm>
              <a:off x="3721100" y="2460625"/>
              <a:ext cx="609600" cy="338966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98FBF12B-6895-E897-554F-C0A30483CC6A}"/>
                </a:ext>
              </a:extLst>
            </p:cNvPr>
            <p:cNvSpPr/>
            <p:nvPr/>
          </p:nvSpPr>
          <p:spPr>
            <a:xfrm>
              <a:off x="4384752" y="2460625"/>
              <a:ext cx="609600" cy="338966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88EB7DCA-0B6B-BE68-DD63-93F993C9E891}"/>
                </a:ext>
              </a:extLst>
            </p:cNvPr>
            <p:cNvCxnSpPr/>
            <p:nvPr/>
          </p:nvCxnSpPr>
          <p:spPr>
            <a:xfrm>
              <a:off x="3481422" y="2639439"/>
              <a:ext cx="1774756" cy="0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1F3EF7B5-B041-51F0-4C9D-2F3BB44C4F1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049869" y="2587342"/>
              <a:ext cx="622042" cy="0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DBAE67EF-EF80-4769-0B77-5D87E6EBCB73}"/>
                </a:ext>
              </a:extLst>
            </p:cNvPr>
            <p:cNvSpPr txBox="1"/>
            <p:nvPr/>
          </p:nvSpPr>
          <p:spPr>
            <a:xfrm>
              <a:off x="4958538" y="2495009"/>
              <a:ext cx="551314" cy="1448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altLang="zh-CN" sz="600" i="1" dirty="0"/>
                <a:t>Intra-Price</a:t>
              </a:r>
              <a:endParaRPr lang="zh-CN" altLang="en-US" sz="1400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742DCC47-B70E-D669-0FC9-2E2072FA0CC8}"/>
                </a:ext>
              </a:extLst>
            </p:cNvPr>
            <p:cNvSpPr txBox="1"/>
            <p:nvPr/>
          </p:nvSpPr>
          <p:spPr>
            <a:xfrm>
              <a:off x="4150900" y="2149048"/>
              <a:ext cx="467703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altLang="zh-CN" sz="600" i="1" dirty="0"/>
                <a:t>intra-vol</a:t>
              </a:r>
              <a:endParaRPr lang="zh-CN" altLang="en-US" sz="1400" dirty="0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6337C4E5-A7B3-A563-ED55-3D8594472870}"/>
                </a:ext>
              </a:extLst>
            </p:cNvPr>
            <p:cNvSpPr txBox="1"/>
            <p:nvPr/>
          </p:nvSpPr>
          <p:spPr>
            <a:xfrm>
              <a:off x="4561444" y="2310650"/>
              <a:ext cx="551314" cy="1327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altLang="zh-CN" sz="500" i="1" dirty="0"/>
                <a:t>+P  </a:t>
              </a:r>
              <a:r>
                <a:rPr lang="en-US" altLang="zh-CN" sz="500" i="1" dirty="0"/>
                <a:t>short</a:t>
              </a:r>
              <a:r>
                <a:rPr lang="en-GB" altLang="zh-CN" sz="500" i="1" dirty="0"/>
                <a:t> </a:t>
              </a:r>
              <a:endParaRPr lang="zh-CN" altLang="en-US" sz="1200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D8C30C7C-BFD0-3A3E-3B09-803BA65A1C72}"/>
                </a:ext>
              </a:extLst>
            </p:cNvPr>
            <p:cNvSpPr txBox="1"/>
            <p:nvPr/>
          </p:nvSpPr>
          <p:spPr>
            <a:xfrm>
              <a:off x="3802629" y="2310650"/>
              <a:ext cx="656864" cy="1327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altLang="zh-CN" sz="500" i="1" dirty="0"/>
                <a:t>-P </a:t>
              </a:r>
              <a:r>
                <a:rPr lang="en-US" altLang="zh-CN" sz="500" i="1" dirty="0"/>
                <a:t>long</a:t>
              </a:r>
              <a:endParaRPr lang="zh-CN" altLang="en-US" sz="1200" dirty="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1AB95919-C1CC-5A36-13B7-7C831882291F}"/>
                </a:ext>
              </a:extLst>
            </p:cNvPr>
            <p:cNvSpPr txBox="1"/>
            <p:nvPr/>
          </p:nvSpPr>
          <p:spPr>
            <a:xfrm>
              <a:off x="4941396" y="2316220"/>
              <a:ext cx="682110" cy="1327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500" i="1" dirty="0"/>
                <a:t>Tradition revision</a:t>
              </a:r>
              <a:endParaRPr lang="zh-CN" altLang="en-US" sz="12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0EEF33AF-437B-9655-1F0F-7CC71E2A036F}"/>
                </a:ext>
              </a:extLst>
            </p:cNvPr>
            <p:cNvSpPr txBox="1"/>
            <p:nvPr/>
          </p:nvSpPr>
          <p:spPr>
            <a:xfrm>
              <a:off x="3686728" y="2487568"/>
              <a:ext cx="707627" cy="1327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altLang="zh-CN" sz="500" i="1" dirty="0"/>
                <a:t>-P, +vol low-</a:t>
              </a:r>
              <a:r>
                <a:rPr lang="en-GB" altLang="zh-CN" sz="500" i="1" dirty="0" err="1"/>
                <a:t>corr</a:t>
              </a:r>
              <a:r>
                <a:rPr lang="en-GB" altLang="zh-CN" sz="500" i="1" dirty="0"/>
                <a:t> </a:t>
              </a:r>
              <a:r>
                <a:rPr lang="en-US" altLang="zh-CN" sz="500" i="1" dirty="0"/>
                <a:t>long</a:t>
              </a:r>
              <a:endParaRPr lang="zh-CN" altLang="en-US" sz="1200" dirty="0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1D7543EB-A872-96EB-36A8-C6C6BA123A1D}"/>
                </a:ext>
              </a:extLst>
            </p:cNvPr>
            <p:cNvSpPr txBox="1"/>
            <p:nvPr/>
          </p:nvSpPr>
          <p:spPr>
            <a:xfrm>
              <a:off x="3686728" y="2656632"/>
              <a:ext cx="707627" cy="1327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altLang="zh-CN" sz="500" i="1" dirty="0"/>
                <a:t>-P, -vol high-</a:t>
              </a:r>
              <a:r>
                <a:rPr lang="en-GB" altLang="zh-CN" sz="500" i="1" dirty="0" err="1"/>
                <a:t>corr</a:t>
              </a:r>
              <a:r>
                <a:rPr lang="en-GB" altLang="zh-CN" sz="500" i="1" dirty="0"/>
                <a:t> </a:t>
              </a:r>
              <a:r>
                <a:rPr lang="en-US" altLang="zh-CN" sz="500" i="1" dirty="0"/>
                <a:t>short</a:t>
              </a:r>
              <a:endParaRPr lang="zh-CN" altLang="en-US" sz="1200" dirty="0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E90AFF63-7DE5-69A7-C9BD-D98618A5BAC6}"/>
                </a:ext>
              </a:extLst>
            </p:cNvPr>
            <p:cNvSpPr txBox="1"/>
            <p:nvPr/>
          </p:nvSpPr>
          <p:spPr>
            <a:xfrm>
              <a:off x="4348791" y="2482889"/>
              <a:ext cx="709403" cy="1327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altLang="zh-CN" sz="500" i="1" dirty="0"/>
                <a:t>+P, +vol high-</a:t>
              </a:r>
              <a:r>
                <a:rPr lang="en-GB" altLang="zh-CN" sz="500" i="1" dirty="0" err="1"/>
                <a:t>corr</a:t>
              </a:r>
              <a:r>
                <a:rPr lang="en-GB" altLang="zh-CN" sz="500" i="1" dirty="0"/>
                <a:t> </a:t>
              </a:r>
              <a:r>
                <a:rPr lang="en-US" altLang="zh-CN" sz="500" i="1" dirty="0"/>
                <a:t>short</a:t>
              </a:r>
              <a:endParaRPr lang="zh-CN" altLang="en-US" sz="1200" dirty="0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389C3E65-E872-86FD-292D-9DA1396B4FA2}"/>
                </a:ext>
              </a:extLst>
            </p:cNvPr>
            <p:cNvSpPr txBox="1"/>
            <p:nvPr/>
          </p:nvSpPr>
          <p:spPr>
            <a:xfrm>
              <a:off x="4348791" y="2656631"/>
              <a:ext cx="656864" cy="1327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altLang="zh-CN" sz="500" i="1" dirty="0"/>
                <a:t>+P, -vol low-</a:t>
              </a:r>
              <a:r>
                <a:rPr lang="en-GB" altLang="zh-CN" sz="500" i="1" dirty="0" err="1"/>
                <a:t>corr</a:t>
              </a:r>
              <a:r>
                <a:rPr lang="en-GB" altLang="zh-CN" sz="500" i="1" dirty="0"/>
                <a:t> </a:t>
              </a:r>
              <a:r>
                <a:rPr lang="en-US" altLang="zh-CN" sz="500" i="1" dirty="0"/>
                <a:t>long</a:t>
              </a:r>
              <a:endParaRPr lang="zh-CN" altLang="en-US" sz="1200" dirty="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94755CA0-7B58-B7DA-895B-F8E0333B25E7}"/>
                </a:ext>
              </a:extLst>
            </p:cNvPr>
            <p:cNvSpPr txBox="1"/>
            <p:nvPr/>
          </p:nvSpPr>
          <p:spPr>
            <a:xfrm>
              <a:off x="4065923" y="2886329"/>
              <a:ext cx="719087" cy="1327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altLang="zh-CN" sz="500" i="1" dirty="0"/>
                <a:t>new </a:t>
              </a:r>
              <a:r>
                <a:rPr lang="en-GB" altLang="zh-CN" sz="500" i="1" dirty="0" err="1"/>
                <a:t>PV_corr_avg</a:t>
              </a:r>
              <a:endParaRPr lang="zh-CN" altLang="en-US" sz="1200" dirty="0"/>
            </a:p>
          </p:txBody>
        </p:sp>
      </p:grpSp>
      <p:sp>
        <p:nvSpPr>
          <p:cNvPr id="51" name="矩形 50">
            <a:extLst>
              <a:ext uri="{FF2B5EF4-FFF2-40B4-BE49-F238E27FC236}">
                <a16:creationId xmlns:a16="http://schemas.microsoft.com/office/drawing/2014/main" id="{CC3088B4-F0D3-9097-8C5B-5EEB73C813B7}"/>
              </a:ext>
            </a:extLst>
          </p:cNvPr>
          <p:cNvSpPr/>
          <p:nvPr/>
        </p:nvSpPr>
        <p:spPr>
          <a:xfrm>
            <a:off x="3708794" y="2101260"/>
            <a:ext cx="1993506" cy="102489"/>
          </a:xfrm>
          <a:prstGeom prst="rect">
            <a:avLst/>
          </a:prstGeom>
          <a:noFill/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20" dirty="0"/>
              <a:t>Feature</a:t>
            </a:r>
            <a:r>
              <a:rPr spc="25" dirty="0"/>
              <a:t> </a:t>
            </a:r>
            <a:r>
              <a:rPr spc="-80" dirty="0"/>
              <a:t>Construction</a:t>
            </a:r>
          </a:p>
        </p:txBody>
      </p:sp>
      <p:sp>
        <p:nvSpPr>
          <p:cNvPr id="3" name="object 3"/>
          <p:cNvSpPr/>
          <p:nvPr/>
        </p:nvSpPr>
        <p:spPr>
          <a:xfrm>
            <a:off x="-38" y="445259"/>
            <a:ext cx="5760085" cy="34290"/>
          </a:xfrm>
          <a:custGeom>
            <a:avLst/>
            <a:gdLst/>
            <a:ahLst/>
            <a:cxnLst/>
            <a:rect l="l" t="t" r="r" b="b"/>
            <a:pathLst>
              <a:path w="5760085" h="34290">
                <a:moveTo>
                  <a:pt x="5760072" y="0"/>
                </a:moveTo>
                <a:lnTo>
                  <a:pt x="0" y="0"/>
                </a:lnTo>
                <a:lnTo>
                  <a:pt x="0" y="33761"/>
                </a:lnTo>
                <a:lnTo>
                  <a:pt x="5760072" y="33761"/>
                </a:lnTo>
                <a:lnTo>
                  <a:pt x="5760072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260" y="873287"/>
            <a:ext cx="71513" cy="7151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73100" y="613122"/>
            <a:ext cx="4775835" cy="122142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algn="l">
              <a:lnSpc>
                <a:spcPct val="103800"/>
              </a:lnSpc>
              <a:spcBef>
                <a:spcPts val="40"/>
              </a:spcBef>
            </a:pPr>
            <a:r>
              <a:rPr lang="en-US" altLang="zh-CN" sz="1200" spc="-10" dirty="0">
                <a:latin typeface="Arial"/>
                <a:cs typeface="Arial"/>
              </a:rPr>
              <a:t>For intraday </a:t>
            </a:r>
            <a:r>
              <a:rPr lang="en-US" altLang="zh-CN" sz="1200" i="1" spc="-10" dirty="0" err="1">
                <a:latin typeface="Arial"/>
                <a:cs typeface="Arial"/>
              </a:rPr>
              <a:t>PV_corr_avg</a:t>
            </a:r>
            <a:r>
              <a:rPr lang="en-US" altLang="zh-CN" sz="1200" i="1" spc="-10" dirty="0">
                <a:latin typeface="Arial"/>
                <a:cs typeface="Arial"/>
              </a:rPr>
              <a:t> </a:t>
            </a:r>
            <a:r>
              <a:rPr lang="en-US" altLang="zh-CN" sz="1200" spc="-10" dirty="0">
                <a:latin typeface="Arial"/>
                <a:cs typeface="Arial"/>
              </a:rPr>
              <a:t>alpha</a:t>
            </a:r>
          </a:p>
          <a:p>
            <a:pPr marL="12700" marR="5080" algn="l">
              <a:lnSpc>
                <a:spcPct val="103800"/>
              </a:lnSpc>
              <a:spcBef>
                <a:spcPts val="40"/>
              </a:spcBef>
            </a:pPr>
            <a:r>
              <a:rPr lang="en-US" altLang="zh-CN" sz="1200" spc="-10" dirty="0">
                <a:latin typeface="Arial"/>
                <a:cs typeface="Arial"/>
              </a:rPr>
              <a:t>We proved that using 1min delay volume is better than no delay.</a:t>
            </a:r>
            <a:endParaRPr lang="zh-CN" altLang="en-US" sz="1200" dirty="0">
              <a:latin typeface="Arial"/>
              <a:cs typeface="Arial"/>
            </a:endParaRPr>
          </a:p>
          <a:p>
            <a:pPr marL="12700" marR="12065" algn="l">
              <a:lnSpc>
                <a:spcPct val="103800"/>
              </a:lnSpc>
              <a:spcBef>
                <a:spcPts val="300"/>
              </a:spcBef>
            </a:pPr>
            <a:r>
              <a:rPr lang="en-US" sz="1200" dirty="0">
                <a:latin typeface="Arial"/>
                <a:cs typeface="Arial"/>
              </a:rPr>
              <a:t>We use rank correlation, and it proved to be better both on is/</a:t>
            </a:r>
            <a:r>
              <a:rPr lang="en-US" sz="1200" dirty="0" err="1">
                <a:latin typeface="Arial"/>
                <a:cs typeface="Arial"/>
              </a:rPr>
              <a:t>os</a:t>
            </a:r>
            <a:r>
              <a:rPr lang="en-US" sz="1200" dirty="0">
                <a:latin typeface="Arial"/>
                <a:cs typeface="Arial"/>
              </a:rPr>
              <a:t>.</a:t>
            </a:r>
          </a:p>
          <a:p>
            <a:pPr marL="12700" marR="12065" algn="l">
              <a:lnSpc>
                <a:spcPct val="103800"/>
              </a:lnSpc>
              <a:spcBef>
                <a:spcPts val="300"/>
              </a:spcBef>
            </a:pPr>
            <a:r>
              <a:rPr lang="en-US" sz="1200" dirty="0">
                <a:latin typeface="Arial"/>
                <a:cs typeface="Arial"/>
              </a:rPr>
              <a:t>We think that it is better to use </a:t>
            </a:r>
            <a:r>
              <a:rPr lang="en-US" altLang="zh-CN" sz="1200" b="0" i="0" dirty="0" err="1">
                <a:solidFill>
                  <a:srgbClr val="212529"/>
                </a:solidFill>
                <a:effectLst/>
                <a:latin typeface="-apple-system"/>
              </a:rPr>
              <a:t>dpv_corr_allday</a:t>
            </a:r>
            <a:r>
              <a:rPr lang="en-US" altLang="zh-CN" sz="1200" b="0" i="0" dirty="0"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lang="en-US" altLang="zh-CN" sz="1200" dirty="0">
                <a:latin typeface="Arial"/>
                <a:cs typeface="Arial"/>
              </a:rPr>
              <a:t>for the correlation around opening/closing hours will contain noise. And it is do better both on is/</a:t>
            </a:r>
            <a:r>
              <a:rPr lang="en-US" altLang="zh-CN" sz="1200" dirty="0" err="1">
                <a:latin typeface="Arial"/>
                <a:cs typeface="Arial"/>
              </a:rPr>
              <a:t>os</a:t>
            </a:r>
            <a:r>
              <a:rPr lang="en-US" altLang="zh-CN" sz="1200" dirty="0">
                <a:latin typeface="Arial"/>
                <a:cs typeface="Arial"/>
              </a:rPr>
              <a:t>.</a:t>
            </a:r>
            <a:endParaRPr lang="en-US" sz="1200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9259" y="1100088"/>
            <a:ext cx="71513" cy="71513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117608"/>
            <a:ext cx="5760085" cy="122555"/>
            <a:chOff x="0" y="3117608"/>
            <a:chExt cx="5760085" cy="122555"/>
          </a:xfrm>
        </p:grpSpPr>
        <p:sp>
          <p:nvSpPr>
            <p:cNvPr id="9" name="object 9"/>
            <p:cNvSpPr/>
            <p:nvPr/>
          </p:nvSpPr>
          <p:spPr>
            <a:xfrm>
              <a:off x="0" y="3117608"/>
              <a:ext cx="2880360" cy="122555"/>
            </a:xfrm>
            <a:custGeom>
              <a:avLst/>
              <a:gdLst/>
              <a:ahLst/>
              <a:cxnLst/>
              <a:rect l="l" t="t" r="r" b="b"/>
              <a:pathLst>
                <a:path w="2880360" h="122555">
                  <a:moveTo>
                    <a:pt x="2880004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880004" y="12238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80004" y="3117608"/>
              <a:ext cx="2880360" cy="122555"/>
            </a:xfrm>
            <a:custGeom>
              <a:avLst/>
              <a:gdLst/>
              <a:ahLst/>
              <a:cxnLst/>
              <a:rect l="l" t="t" r="r" b="b"/>
              <a:pathLst>
                <a:path w="2880360" h="122555">
                  <a:moveTo>
                    <a:pt x="2880004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880004" y="12238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Group</a:t>
            </a:r>
            <a:r>
              <a:rPr spc="-35" dirty="0"/>
              <a:t> </a:t>
            </a:r>
            <a:r>
              <a:rPr spc="-25" dirty="0"/>
              <a:t>Two</a:t>
            </a:r>
          </a:p>
        </p:txBody>
      </p:sp>
      <p:pic>
        <p:nvPicPr>
          <p:cNvPr id="25" name="object 6">
            <a:extLst>
              <a:ext uri="{FF2B5EF4-FFF2-40B4-BE49-F238E27FC236}">
                <a16:creationId xmlns:a16="http://schemas.microsoft.com/office/drawing/2014/main" id="{C2A062EC-CB36-179B-7D80-B9A62A7A726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9259" y="1326889"/>
            <a:ext cx="71513" cy="71513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F1057BBC-7E71-EB46-CA36-4BBB4D7FB005}"/>
              </a:ext>
            </a:extLst>
          </p:cNvPr>
          <p:cNvGrpSpPr/>
          <p:nvPr/>
        </p:nvGrpSpPr>
        <p:grpSpPr>
          <a:xfrm>
            <a:off x="1345242" y="1954105"/>
            <a:ext cx="2992654" cy="381000"/>
            <a:chOff x="2346426" y="2655561"/>
            <a:chExt cx="2992654" cy="381000"/>
          </a:xfrm>
        </p:grpSpPr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AD714B5C-9E45-8D1B-B698-CC49ABD04A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82951" y="2751475"/>
              <a:ext cx="2956129" cy="172828"/>
            </a:xfrm>
            <a:prstGeom prst="rect">
              <a:avLst/>
            </a:prstGeom>
          </p:spPr>
        </p:pic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4A059B55-5720-9046-2A0A-116D2B8BA4C5}"/>
                </a:ext>
              </a:extLst>
            </p:cNvPr>
            <p:cNvSpPr/>
            <p:nvPr/>
          </p:nvSpPr>
          <p:spPr>
            <a:xfrm>
              <a:off x="2346426" y="2655561"/>
              <a:ext cx="2973908" cy="381000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object 5">
            <a:extLst>
              <a:ext uri="{FF2B5EF4-FFF2-40B4-BE49-F238E27FC236}">
                <a16:creationId xmlns:a16="http://schemas.microsoft.com/office/drawing/2014/main" id="{05F9EACC-5A0E-5724-6DBA-001EFD58A8EC}"/>
              </a:ext>
            </a:extLst>
          </p:cNvPr>
          <p:cNvSpPr txBox="1"/>
          <p:nvPr/>
        </p:nvSpPr>
        <p:spPr>
          <a:xfrm>
            <a:off x="673100" y="2384425"/>
            <a:ext cx="4729087" cy="568361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algn="l">
              <a:lnSpc>
                <a:spcPct val="103800"/>
              </a:lnSpc>
              <a:spcBef>
                <a:spcPts val="40"/>
              </a:spcBef>
            </a:pPr>
            <a:r>
              <a:rPr lang="en-US" altLang="zh-CN" sz="1200" spc="-10" dirty="0">
                <a:latin typeface="Arial"/>
                <a:cs typeface="Arial"/>
              </a:rPr>
              <a:t>We use </a:t>
            </a:r>
            <a:r>
              <a:rPr lang="en-US" altLang="zh-CN" sz="1200" spc="-10" dirty="0" err="1">
                <a:latin typeface="Arial"/>
                <a:cs typeface="Arial"/>
              </a:rPr>
              <a:t>upret</a:t>
            </a:r>
            <a:r>
              <a:rPr lang="en-US" altLang="zh-CN" sz="1050" spc="-10" dirty="0">
                <a:latin typeface="Arial"/>
                <a:cs typeface="Arial"/>
              </a:rPr>
              <a:t>(Team2, 0923), </a:t>
            </a:r>
            <a:r>
              <a:rPr lang="en-US" altLang="zh-CN" sz="1200" spc="-10" dirty="0" err="1">
                <a:latin typeface="Arial"/>
                <a:cs typeface="Arial"/>
              </a:rPr>
              <a:t>cvx</a:t>
            </a:r>
            <a:r>
              <a:rPr lang="en-US" altLang="zh-CN" sz="1200" spc="-10" dirty="0">
                <a:latin typeface="Arial"/>
                <a:cs typeface="Arial"/>
              </a:rPr>
              <a:t>-of-vol</a:t>
            </a:r>
            <a:r>
              <a:rPr lang="en-US" altLang="zh-CN" sz="1050" spc="-10" dirty="0">
                <a:latin typeface="Arial"/>
                <a:cs typeface="Arial"/>
              </a:rPr>
              <a:t>(Team2, 0629), </a:t>
            </a:r>
            <a:r>
              <a:rPr lang="en-US" altLang="zh-CN" sz="1200" spc="-10" dirty="0" err="1">
                <a:latin typeface="Arial"/>
                <a:cs typeface="Arial"/>
              </a:rPr>
              <a:t>dpvcorr</a:t>
            </a:r>
            <a:r>
              <a:rPr lang="en-US" altLang="zh-CN" sz="1050" spc="-10" dirty="0">
                <a:latin typeface="Arial"/>
                <a:cs typeface="Arial"/>
              </a:rPr>
              <a:t>(Team2, 1004)   </a:t>
            </a:r>
            <a:r>
              <a:rPr lang="en-US" altLang="zh-CN" sz="1200" spc="-10" dirty="0">
                <a:latin typeface="Arial"/>
                <a:cs typeface="Arial"/>
              </a:rPr>
              <a:t>three new features with bm features</a:t>
            </a:r>
          </a:p>
          <a:p>
            <a:pPr marL="12700" marR="5080" algn="l">
              <a:lnSpc>
                <a:spcPct val="103800"/>
              </a:lnSpc>
              <a:spcBef>
                <a:spcPts val="40"/>
              </a:spcBef>
            </a:pPr>
            <a:r>
              <a:rPr lang="en-US" altLang="zh-CN" sz="1200" spc="-10" dirty="0">
                <a:latin typeface="Arial"/>
                <a:cs typeface="Arial"/>
              </a:rPr>
              <a:t>to prove something we once held a belief about the model. </a:t>
            </a:r>
          </a:p>
        </p:txBody>
      </p:sp>
      <p:pic>
        <p:nvPicPr>
          <p:cNvPr id="14" name="object 6">
            <a:extLst>
              <a:ext uri="{FF2B5EF4-FFF2-40B4-BE49-F238E27FC236}">
                <a16:creationId xmlns:a16="http://schemas.microsoft.com/office/drawing/2014/main" id="{FED3E57A-3D49-74B7-3002-31CBC08F431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9259" y="2459646"/>
            <a:ext cx="71513" cy="71513"/>
          </a:xfrm>
          <a:prstGeom prst="rect">
            <a:avLst/>
          </a:prstGeom>
        </p:spPr>
      </p:pic>
      <p:pic>
        <p:nvPicPr>
          <p:cNvPr id="15" name="object 6">
            <a:extLst>
              <a:ext uri="{FF2B5EF4-FFF2-40B4-BE49-F238E27FC236}">
                <a16:creationId xmlns:a16="http://schemas.microsoft.com/office/drawing/2014/main" id="{DEA4A696-2013-C492-CCBE-DFD9FC745AA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4667" y="2819294"/>
            <a:ext cx="71513" cy="71513"/>
          </a:xfrm>
          <a:prstGeom prst="rect">
            <a:avLst/>
          </a:prstGeom>
        </p:spPr>
      </p:pic>
      <p:sp>
        <p:nvSpPr>
          <p:cNvPr id="16" name="object 12">
            <a:extLst>
              <a:ext uri="{FF2B5EF4-FFF2-40B4-BE49-F238E27FC236}">
                <a16:creationId xmlns:a16="http://schemas.microsoft.com/office/drawing/2014/main" id="{0B91DB79-7DBA-5CE4-E789-0366DA1D40E2}"/>
              </a:ext>
            </a:extLst>
          </p:cNvPr>
          <p:cNvSpPr txBox="1"/>
          <p:nvPr/>
        </p:nvSpPr>
        <p:spPr>
          <a:xfrm>
            <a:off x="2975305" y="3117724"/>
            <a:ext cx="1239520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en-US" sz="600" b="1" dirty="0">
                <a:solidFill>
                  <a:srgbClr val="FFFFFF"/>
                </a:solidFill>
                <a:latin typeface="Arial"/>
                <a:cs typeface="Arial"/>
                <a:hlinkClick r:id="rId5" action="ppaction://hlinksldjump"/>
              </a:rPr>
              <a:t>Intraday feature with a Two-stage</a:t>
            </a:r>
            <a:r>
              <a:rPr lang="en-US" sz="600" b="1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endParaRPr lang="en-US" sz="6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128518"/>
            <a:ext cx="2968625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pc="-130" dirty="0"/>
              <a:t>Model</a:t>
            </a:r>
            <a:r>
              <a:rPr spc="60" dirty="0"/>
              <a:t> </a:t>
            </a:r>
            <a:r>
              <a:rPr lang="en-US" dirty="0"/>
              <a:t>enhance</a:t>
            </a:r>
            <a:endParaRPr spc="-95" dirty="0"/>
          </a:p>
        </p:txBody>
      </p:sp>
      <p:sp>
        <p:nvSpPr>
          <p:cNvPr id="3" name="object 3"/>
          <p:cNvSpPr/>
          <p:nvPr/>
        </p:nvSpPr>
        <p:spPr>
          <a:xfrm>
            <a:off x="-38" y="445259"/>
            <a:ext cx="5760085" cy="34290"/>
          </a:xfrm>
          <a:custGeom>
            <a:avLst/>
            <a:gdLst/>
            <a:ahLst/>
            <a:cxnLst/>
            <a:rect l="l" t="t" r="r" b="b"/>
            <a:pathLst>
              <a:path w="5760085" h="34290">
                <a:moveTo>
                  <a:pt x="5760072" y="0"/>
                </a:moveTo>
                <a:lnTo>
                  <a:pt x="0" y="0"/>
                </a:lnTo>
                <a:lnTo>
                  <a:pt x="0" y="33761"/>
                </a:lnTo>
                <a:lnTo>
                  <a:pt x="5760072" y="33761"/>
                </a:lnTo>
                <a:lnTo>
                  <a:pt x="5760072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0" y="3117608"/>
            <a:ext cx="5760364" cy="122555"/>
            <a:chOff x="0" y="3117608"/>
            <a:chExt cx="5760364" cy="122555"/>
          </a:xfrm>
        </p:grpSpPr>
        <p:sp>
          <p:nvSpPr>
            <p:cNvPr id="8" name="object 8"/>
            <p:cNvSpPr/>
            <p:nvPr/>
          </p:nvSpPr>
          <p:spPr>
            <a:xfrm>
              <a:off x="0" y="3117608"/>
              <a:ext cx="2880360" cy="122555"/>
            </a:xfrm>
            <a:custGeom>
              <a:avLst/>
              <a:gdLst/>
              <a:ahLst/>
              <a:cxnLst/>
              <a:rect l="l" t="t" r="r" b="b"/>
              <a:pathLst>
                <a:path w="2880360" h="122555">
                  <a:moveTo>
                    <a:pt x="2880004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880004" y="12238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80004" y="3117608"/>
              <a:ext cx="2880360" cy="122555"/>
            </a:xfrm>
            <a:custGeom>
              <a:avLst/>
              <a:gdLst/>
              <a:ahLst/>
              <a:cxnLst/>
              <a:rect l="l" t="t" r="r" b="b"/>
              <a:pathLst>
                <a:path w="2880360" h="122555">
                  <a:moveTo>
                    <a:pt x="2880004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880004" y="12238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Group</a:t>
            </a:r>
            <a:r>
              <a:rPr spc="-35" dirty="0"/>
              <a:t> </a:t>
            </a:r>
            <a:r>
              <a:rPr spc="-25" dirty="0"/>
              <a:t>Two</a:t>
            </a:r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8F8BB0C5-2AF5-22A8-5006-7A2A52F76D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8424" y="688471"/>
            <a:ext cx="4845685" cy="2153154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US" spc="-85" dirty="0"/>
              <a:t>Three features </a:t>
            </a:r>
            <a:r>
              <a:rPr lang="en-US" i="1" spc="-85" dirty="0"/>
              <a:t>each / </a:t>
            </a:r>
            <a:r>
              <a:rPr lang="en-US" altLang="zh-CN" i="1" spc="-85" dirty="0"/>
              <a:t>together </a:t>
            </a:r>
            <a:r>
              <a:rPr lang="en-US" altLang="zh-CN" spc="-85" dirty="0"/>
              <a:t>proved to be useful on </a:t>
            </a:r>
            <a:r>
              <a:rPr lang="en-US" altLang="zh-CN" i="1" spc="-85" dirty="0"/>
              <a:t>bmv8 and bmv3 both is/</a:t>
            </a:r>
            <a:r>
              <a:rPr lang="en-US" altLang="zh-CN" i="1" spc="-85" dirty="0" err="1"/>
              <a:t>os</a:t>
            </a:r>
            <a:endParaRPr lang="en-US" altLang="zh-CN" i="1" spc="-85" dirty="0"/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US" altLang="zh-CN" spc="-10" dirty="0"/>
              <a:t>With bmv8 + 3new features, history ideas we’ve presented before become useful. A new main idea also proved to be useful. </a:t>
            </a:r>
          </a:p>
          <a:p>
            <a:pPr marL="50800" algn="ctr">
              <a:lnSpc>
                <a:spcPct val="100000"/>
              </a:lnSpc>
              <a:spcBef>
                <a:spcPts val="390"/>
              </a:spcBef>
            </a:pPr>
            <a:r>
              <a:rPr lang="en-US" altLang="zh-CN" i="1" spc="-10" dirty="0"/>
              <a:t>Diversity is important with ensemble model.</a:t>
            </a: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US" altLang="zh-CN" spc="-10" dirty="0"/>
              <a:t>We set the </a:t>
            </a:r>
            <a:r>
              <a:rPr lang="en-US" altLang="zh-CN" spc="-10" dirty="0" err="1"/>
              <a:t>colsample_bytree</a:t>
            </a:r>
            <a:r>
              <a:rPr lang="en-US" altLang="zh-CN" spc="-10" dirty="0"/>
              <a:t>=0.75 subsample=0.95 and just use 2 model to train rather the 10 model we used by </a:t>
            </a:r>
            <a:r>
              <a:rPr lang="en-US" altLang="zh-CN" spc="-10" dirty="0" err="1"/>
              <a:t>Adaboost</a:t>
            </a:r>
            <a:r>
              <a:rPr lang="en-US" altLang="zh-CN" spc="-10" dirty="0"/>
              <a:t>. </a:t>
            </a: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US" altLang="zh-CN" spc="-10" dirty="0"/>
              <a:t>We use the residual of the first model as the label of second model, and boosting them together.</a:t>
            </a: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US" altLang="zh-CN" spc="-10" dirty="0"/>
              <a:t>By setting </a:t>
            </a:r>
            <a:r>
              <a:rPr lang="en-US" altLang="zh-CN" spc="-10" dirty="0" err="1"/>
              <a:t>colsample_bytree</a:t>
            </a:r>
            <a:r>
              <a:rPr lang="en-US" altLang="zh-CN" spc="-10" dirty="0"/>
              <a:t>=0.75 subsample=0.95 alone is useful, using 2 residual subsample model proved to be even better both is/</a:t>
            </a:r>
            <a:r>
              <a:rPr lang="en-US" altLang="zh-CN" spc="-10" dirty="0" err="1"/>
              <a:t>os</a:t>
            </a:r>
            <a:r>
              <a:rPr lang="en-US" altLang="zh-CN" spc="-10" dirty="0"/>
              <a:t> </a:t>
            </a:r>
          </a:p>
        </p:txBody>
      </p:sp>
      <p:pic>
        <p:nvPicPr>
          <p:cNvPr id="15" name="object 4">
            <a:extLst>
              <a:ext uri="{FF2B5EF4-FFF2-40B4-BE49-F238E27FC236}">
                <a16:creationId xmlns:a16="http://schemas.microsoft.com/office/drawing/2014/main" id="{C3D54BD6-C912-3B13-25A4-5454AD0C34F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615" y="806262"/>
            <a:ext cx="71513" cy="71513"/>
          </a:xfrm>
          <a:prstGeom prst="rect">
            <a:avLst/>
          </a:prstGeom>
        </p:spPr>
      </p:pic>
      <p:pic>
        <p:nvPicPr>
          <p:cNvPr id="16" name="object 4">
            <a:extLst>
              <a:ext uri="{FF2B5EF4-FFF2-40B4-BE49-F238E27FC236}">
                <a16:creationId xmlns:a16="http://schemas.microsoft.com/office/drawing/2014/main" id="{BFC3D69B-2904-691E-DC17-20F8585EB69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911" y="1046775"/>
            <a:ext cx="71513" cy="71513"/>
          </a:xfrm>
          <a:prstGeom prst="rect">
            <a:avLst/>
          </a:prstGeom>
        </p:spPr>
      </p:pic>
      <p:pic>
        <p:nvPicPr>
          <p:cNvPr id="17" name="object 4">
            <a:extLst>
              <a:ext uri="{FF2B5EF4-FFF2-40B4-BE49-F238E27FC236}">
                <a16:creationId xmlns:a16="http://schemas.microsoft.com/office/drawing/2014/main" id="{E6CCC392-4AB1-CBBF-8548-0C86E724BDD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911" y="1694189"/>
            <a:ext cx="71513" cy="71513"/>
          </a:xfrm>
          <a:prstGeom prst="rect">
            <a:avLst/>
          </a:prstGeom>
        </p:spPr>
      </p:pic>
      <p:pic>
        <p:nvPicPr>
          <p:cNvPr id="18" name="object 4">
            <a:extLst>
              <a:ext uri="{FF2B5EF4-FFF2-40B4-BE49-F238E27FC236}">
                <a16:creationId xmlns:a16="http://schemas.microsoft.com/office/drawing/2014/main" id="{5CBD85C2-905F-30CC-B442-D1D6DA8D7B2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145" y="2098124"/>
            <a:ext cx="71513" cy="71513"/>
          </a:xfrm>
          <a:prstGeom prst="rect">
            <a:avLst/>
          </a:prstGeom>
        </p:spPr>
      </p:pic>
      <p:pic>
        <p:nvPicPr>
          <p:cNvPr id="19" name="object 4">
            <a:extLst>
              <a:ext uri="{FF2B5EF4-FFF2-40B4-BE49-F238E27FC236}">
                <a16:creationId xmlns:a16="http://schemas.microsoft.com/office/drawing/2014/main" id="{84B9E1F8-C4B8-4A23-833A-ABA29626CDF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7268" y="2518783"/>
            <a:ext cx="71513" cy="71513"/>
          </a:xfrm>
          <a:prstGeom prst="rect">
            <a:avLst/>
          </a:prstGeom>
        </p:spPr>
      </p:pic>
      <p:sp>
        <p:nvSpPr>
          <p:cNvPr id="4" name="object 12">
            <a:extLst>
              <a:ext uri="{FF2B5EF4-FFF2-40B4-BE49-F238E27FC236}">
                <a16:creationId xmlns:a16="http://schemas.microsoft.com/office/drawing/2014/main" id="{D80C8743-C672-4DC2-0E96-B8B4A59A9725}"/>
              </a:ext>
            </a:extLst>
          </p:cNvPr>
          <p:cNvSpPr txBox="1"/>
          <p:nvPr/>
        </p:nvSpPr>
        <p:spPr>
          <a:xfrm>
            <a:off x="2975305" y="3117724"/>
            <a:ext cx="1239520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en-US" sz="600" b="1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Intraday feature with a Two-stage</a:t>
            </a:r>
            <a:r>
              <a:rPr lang="en-US" sz="600" b="1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endParaRPr lang="en-US" sz="6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2"/>
            <a:ext cx="5760085" cy="447040"/>
            <a:chOff x="0" y="-12"/>
            <a:chExt cx="5760085" cy="447040"/>
          </a:xfrm>
        </p:grpSpPr>
        <p:sp>
          <p:nvSpPr>
            <p:cNvPr id="3" name="object 3"/>
            <p:cNvSpPr/>
            <p:nvPr/>
          </p:nvSpPr>
          <p:spPr>
            <a:xfrm>
              <a:off x="0" y="-12"/>
              <a:ext cx="2880360" cy="79375"/>
            </a:xfrm>
            <a:custGeom>
              <a:avLst/>
              <a:gdLst/>
              <a:ahLst/>
              <a:cxnLst/>
              <a:rect l="l" t="t" r="r" b="b"/>
              <a:pathLst>
                <a:path w="2880360" h="79375">
                  <a:moveTo>
                    <a:pt x="0" y="79222"/>
                  </a:moveTo>
                  <a:lnTo>
                    <a:pt x="2880004" y="79222"/>
                  </a:lnTo>
                  <a:lnTo>
                    <a:pt x="2880004" y="0"/>
                  </a:lnTo>
                  <a:lnTo>
                    <a:pt x="0" y="0"/>
                  </a:lnTo>
                  <a:lnTo>
                    <a:pt x="0" y="792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80004" y="-12"/>
              <a:ext cx="2880360" cy="79375"/>
            </a:xfrm>
            <a:custGeom>
              <a:avLst/>
              <a:gdLst/>
              <a:ahLst/>
              <a:cxnLst/>
              <a:rect l="l" t="t" r="r" b="b"/>
              <a:pathLst>
                <a:path w="2880360" h="79375">
                  <a:moveTo>
                    <a:pt x="0" y="79222"/>
                  </a:moveTo>
                  <a:lnTo>
                    <a:pt x="2880004" y="79222"/>
                  </a:lnTo>
                  <a:lnTo>
                    <a:pt x="2880004" y="0"/>
                  </a:lnTo>
                  <a:lnTo>
                    <a:pt x="0" y="0"/>
                  </a:lnTo>
                  <a:lnTo>
                    <a:pt x="0" y="79222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9209"/>
              <a:ext cx="5759996" cy="675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143700"/>
              <a:ext cx="5760085" cy="303530"/>
            </a:xfrm>
            <a:custGeom>
              <a:avLst/>
              <a:gdLst/>
              <a:ahLst/>
              <a:cxnLst/>
              <a:rect l="l" t="t" r="r" b="b"/>
              <a:pathLst>
                <a:path w="5760085" h="303530">
                  <a:moveTo>
                    <a:pt x="5759996" y="0"/>
                  </a:moveTo>
                  <a:lnTo>
                    <a:pt x="0" y="0"/>
                  </a:lnTo>
                  <a:lnTo>
                    <a:pt x="0" y="303250"/>
                  </a:lnTo>
                  <a:lnTo>
                    <a:pt x="5759996" y="303250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5300" y="128518"/>
            <a:ext cx="2947670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130" dirty="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-38" y="445259"/>
            <a:ext cx="5760085" cy="34290"/>
          </a:xfrm>
          <a:custGeom>
            <a:avLst/>
            <a:gdLst/>
            <a:ahLst/>
            <a:cxnLst/>
            <a:rect l="l" t="t" r="r" b="b"/>
            <a:pathLst>
              <a:path w="5760085" h="34290">
                <a:moveTo>
                  <a:pt x="5760072" y="0"/>
                </a:moveTo>
                <a:lnTo>
                  <a:pt x="0" y="0"/>
                </a:lnTo>
                <a:lnTo>
                  <a:pt x="0" y="33761"/>
                </a:lnTo>
                <a:lnTo>
                  <a:pt x="5760072" y="33761"/>
                </a:lnTo>
                <a:lnTo>
                  <a:pt x="5760072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0" y="3117608"/>
            <a:ext cx="5760085" cy="122555"/>
            <a:chOff x="0" y="3117608"/>
            <a:chExt cx="5760085" cy="122555"/>
          </a:xfrm>
        </p:grpSpPr>
        <p:sp>
          <p:nvSpPr>
            <p:cNvPr id="13" name="object 13"/>
            <p:cNvSpPr/>
            <p:nvPr/>
          </p:nvSpPr>
          <p:spPr>
            <a:xfrm>
              <a:off x="0" y="3117608"/>
              <a:ext cx="2880360" cy="122555"/>
            </a:xfrm>
            <a:custGeom>
              <a:avLst/>
              <a:gdLst/>
              <a:ahLst/>
              <a:cxnLst/>
              <a:rect l="l" t="t" r="r" b="b"/>
              <a:pathLst>
                <a:path w="2880360" h="122555">
                  <a:moveTo>
                    <a:pt x="2880004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880004" y="12238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80004" y="3117608"/>
              <a:ext cx="2880360" cy="122555"/>
            </a:xfrm>
            <a:custGeom>
              <a:avLst/>
              <a:gdLst/>
              <a:ahLst/>
              <a:cxnLst/>
              <a:rect l="l" t="t" r="r" b="b"/>
              <a:pathLst>
                <a:path w="2880360" h="122555">
                  <a:moveTo>
                    <a:pt x="2880004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880004" y="12238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Group</a:t>
            </a:r>
            <a:r>
              <a:rPr spc="-35" dirty="0"/>
              <a:t> </a:t>
            </a:r>
            <a:r>
              <a:rPr spc="-25" dirty="0"/>
              <a:t>Two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DC606CC-F093-EC01-A7B2-EA4F587174D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21990" y="544845"/>
            <a:ext cx="2980589" cy="49776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4602E65-F4AD-BA3B-661F-9FAA52232A01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21990" y="1057236"/>
            <a:ext cx="2980589" cy="49776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3F8C8850-6F67-D56E-B15C-52585FB0840F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21990" y="1569627"/>
            <a:ext cx="2980589" cy="49776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D5C5BC97-E005-3405-68D4-0ADF26E45B40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21990" y="2082019"/>
            <a:ext cx="2980589" cy="497764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0F11E8D3-AA0B-AA0C-A213-DF28CB591FF7}"/>
              </a:ext>
            </a:extLst>
          </p:cNvPr>
          <p:cNvPicPr>
            <a:picLocks/>
          </p:cNvPicPr>
          <p:nvPr/>
        </p:nvPicPr>
        <p:blipFill>
          <a:blip r:embed="rId7"/>
          <a:srcRect b="20032"/>
          <a:stretch/>
        </p:blipFill>
        <p:spPr>
          <a:xfrm>
            <a:off x="121990" y="2554548"/>
            <a:ext cx="2980589" cy="497764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339F9206-D053-B3F5-D2C9-75AD7198D34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1007"/>
          <a:stretch/>
        </p:blipFill>
        <p:spPr>
          <a:xfrm>
            <a:off x="3492500" y="655658"/>
            <a:ext cx="1831838" cy="2001169"/>
          </a:xfrm>
          <a:prstGeom prst="rect">
            <a:avLst/>
          </a:prstGeom>
        </p:spPr>
      </p:pic>
      <p:sp>
        <p:nvSpPr>
          <p:cNvPr id="26" name="object 12">
            <a:extLst>
              <a:ext uri="{FF2B5EF4-FFF2-40B4-BE49-F238E27FC236}">
                <a16:creationId xmlns:a16="http://schemas.microsoft.com/office/drawing/2014/main" id="{B7ADB85C-F75C-F365-FF1E-8C7034CFAF4D}"/>
              </a:ext>
            </a:extLst>
          </p:cNvPr>
          <p:cNvSpPr txBox="1"/>
          <p:nvPr/>
        </p:nvSpPr>
        <p:spPr>
          <a:xfrm>
            <a:off x="2975305" y="3117724"/>
            <a:ext cx="1239520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en-US" sz="600" b="1" dirty="0">
                <a:solidFill>
                  <a:srgbClr val="FFFFFF"/>
                </a:solidFill>
                <a:latin typeface="Arial"/>
                <a:cs typeface="Arial"/>
                <a:hlinkClick r:id="rId9" action="ppaction://hlinksldjump"/>
              </a:rPr>
              <a:t>Intraday feature with a Two-stage</a:t>
            </a:r>
            <a:r>
              <a:rPr lang="en-US" sz="600" b="1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endParaRPr lang="en-US" sz="6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2"/>
            <a:ext cx="5760085" cy="447040"/>
            <a:chOff x="0" y="-12"/>
            <a:chExt cx="5760085" cy="447040"/>
          </a:xfrm>
        </p:grpSpPr>
        <p:sp>
          <p:nvSpPr>
            <p:cNvPr id="3" name="object 3"/>
            <p:cNvSpPr/>
            <p:nvPr/>
          </p:nvSpPr>
          <p:spPr>
            <a:xfrm>
              <a:off x="0" y="-12"/>
              <a:ext cx="2880360" cy="79375"/>
            </a:xfrm>
            <a:custGeom>
              <a:avLst/>
              <a:gdLst/>
              <a:ahLst/>
              <a:cxnLst/>
              <a:rect l="l" t="t" r="r" b="b"/>
              <a:pathLst>
                <a:path w="2880360" h="79375">
                  <a:moveTo>
                    <a:pt x="0" y="79222"/>
                  </a:moveTo>
                  <a:lnTo>
                    <a:pt x="2880004" y="79222"/>
                  </a:lnTo>
                  <a:lnTo>
                    <a:pt x="2880004" y="0"/>
                  </a:lnTo>
                  <a:lnTo>
                    <a:pt x="0" y="0"/>
                  </a:lnTo>
                  <a:lnTo>
                    <a:pt x="0" y="792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80004" y="-12"/>
              <a:ext cx="2880360" cy="79375"/>
            </a:xfrm>
            <a:custGeom>
              <a:avLst/>
              <a:gdLst/>
              <a:ahLst/>
              <a:cxnLst/>
              <a:rect l="l" t="t" r="r" b="b"/>
              <a:pathLst>
                <a:path w="2880360" h="79375">
                  <a:moveTo>
                    <a:pt x="0" y="79222"/>
                  </a:moveTo>
                  <a:lnTo>
                    <a:pt x="2880004" y="79222"/>
                  </a:lnTo>
                  <a:lnTo>
                    <a:pt x="2880004" y="0"/>
                  </a:lnTo>
                  <a:lnTo>
                    <a:pt x="0" y="0"/>
                  </a:lnTo>
                  <a:lnTo>
                    <a:pt x="0" y="79222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9209"/>
              <a:ext cx="5759996" cy="675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143700"/>
              <a:ext cx="5760085" cy="303530"/>
            </a:xfrm>
            <a:custGeom>
              <a:avLst/>
              <a:gdLst/>
              <a:ahLst/>
              <a:cxnLst/>
              <a:rect l="l" t="t" r="r" b="b"/>
              <a:pathLst>
                <a:path w="5760085" h="303530">
                  <a:moveTo>
                    <a:pt x="5759996" y="0"/>
                  </a:moveTo>
                  <a:lnTo>
                    <a:pt x="0" y="0"/>
                  </a:lnTo>
                  <a:lnTo>
                    <a:pt x="0" y="303250"/>
                  </a:lnTo>
                  <a:lnTo>
                    <a:pt x="5759996" y="303250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5300" y="128518"/>
            <a:ext cx="2947670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130" dirty="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r>
              <a:rPr sz="170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-38" y="445259"/>
            <a:ext cx="5760085" cy="34290"/>
          </a:xfrm>
          <a:custGeom>
            <a:avLst/>
            <a:gdLst/>
            <a:ahLst/>
            <a:cxnLst/>
            <a:rect l="l" t="t" r="r" b="b"/>
            <a:pathLst>
              <a:path w="5760085" h="34290">
                <a:moveTo>
                  <a:pt x="5760072" y="0"/>
                </a:moveTo>
                <a:lnTo>
                  <a:pt x="0" y="0"/>
                </a:lnTo>
                <a:lnTo>
                  <a:pt x="0" y="33761"/>
                </a:lnTo>
                <a:lnTo>
                  <a:pt x="5760072" y="33761"/>
                </a:lnTo>
                <a:lnTo>
                  <a:pt x="5760072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0" y="3117608"/>
            <a:ext cx="5760085" cy="122555"/>
            <a:chOff x="0" y="3117608"/>
            <a:chExt cx="5760085" cy="122555"/>
          </a:xfrm>
        </p:grpSpPr>
        <p:sp>
          <p:nvSpPr>
            <p:cNvPr id="13" name="object 13"/>
            <p:cNvSpPr/>
            <p:nvPr/>
          </p:nvSpPr>
          <p:spPr>
            <a:xfrm>
              <a:off x="0" y="3117608"/>
              <a:ext cx="2880360" cy="122555"/>
            </a:xfrm>
            <a:custGeom>
              <a:avLst/>
              <a:gdLst/>
              <a:ahLst/>
              <a:cxnLst/>
              <a:rect l="l" t="t" r="r" b="b"/>
              <a:pathLst>
                <a:path w="2880360" h="122555">
                  <a:moveTo>
                    <a:pt x="2880004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880004" y="12238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80004" y="3117608"/>
              <a:ext cx="2880360" cy="122555"/>
            </a:xfrm>
            <a:custGeom>
              <a:avLst/>
              <a:gdLst/>
              <a:ahLst/>
              <a:cxnLst/>
              <a:rect l="l" t="t" r="r" b="b"/>
              <a:pathLst>
                <a:path w="2880360" h="122555">
                  <a:moveTo>
                    <a:pt x="2880004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880004" y="12238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Group</a:t>
            </a:r>
            <a:r>
              <a:rPr spc="-35" dirty="0"/>
              <a:t> </a:t>
            </a:r>
            <a:r>
              <a:rPr spc="-25" dirty="0"/>
              <a:t>Two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72C79F6-5FE8-46D2-4178-B3F6F1D7982D}"/>
              </a:ext>
            </a:extLst>
          </p:cNvPr>
          <p:cNvGrpSpPr/>
          <p:nvPr/>
        </p:nvGrpSpPr>
        <p:grpSpPr>
          <a:xfrm>
            <a:off x="84536" y="536506"/>
            <a:ext cx="2664104" cy="1371600"/>
            <a:chOff x="0" y="39513"/>
            <a:chExt cx="5765800" cy="2701352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FDB3610F-2FA1-FF64-5F7C-5AFEE6EAA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90825" r="697"/>
            <a:stretch/>
          </p:blipFill>
          <p:spPr>
            <a:xfrm>
              <a:off x="0" y="2450415"/>
              <a:ext cx="5725653" cy="290450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EB2AFB4C-84BE-3725-3D8D-44DCBC25E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23524"/>
            <a:stretch/>
          </p:blipFill>
          <p:spPr>
            <a:xfrm>
              <a:off x="0" y="39513"/>
              <a:ext cx="5765800" cy="2421112"/>
            </a:xfrm>
            <a:prstGeom prst="rect">
              <a:avLst/>
            </a:prstGeom>
          </p:spPr>
        </p:pic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7EA9B8B-92EE-0747-953B-347DA4E4CF1F}"/>
              </a:ext>
            </a:extLst>
          </p:cNvPr>
          <p:cNvGrpSpPr/>
          <p:nvPr/>
        </p:nvGrpSpPr>
        <p:grpSpPr>
          <a:xfrm>
            <a:off x="2949905" y="511567"/>
            <a:ext cx="2607822" cy="1388642"/>
            <a:chOff x="122678" y="-283048"/>
            <a:chExt cx="5765800" cy="2760715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8D415DF3-61D8-2337-E78B-67A704448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23705"/>
            <a:stretch/>
          </p:blipFill>
          <p:spPr>
            <a:xfrm>
              <a:off x="122678" y="-283048"/>
              <a:ext cx="5765800" cy="2438874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8E890B6A-A078-09F4-C6C3-889ACA8F8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1464" b="8585"/>
            <a:stretch/>
          </p:blipFill>
          <p:spPr>
            <a:xfrm>
              <a:off x="122678" y="2159568"/>
              <a:ext cx="5765800" cy="318099"/>
            </a:xfrm>
            <a:prstGeom prst="rect">
              <a:avLst/>
            </a:prstGeom>
          </p:spPr>
        </p:pic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26FA9B65-11A5-82B2-21CB-F1EE8FEF115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013" b="9637"/>
          <a:stretch/>
        </p:blipFill>
        <p:spPr>
          <a:xfrm>
            <a:off x="225655" y="1972267"/>
            <a:ext cx="3405534" cy="1128322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4102B1E3-462A-C0D3-E826-B24B6B83F2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6900" y="2132373"/>
            <a:ext cx="900758" cy="631836"/>
          </a:xfrm>
          <a:prstGeom prst="rect">
            <a:avLst/>
          </a:prstGeom>
        </p:spPr>
      </p:pic>
      <p:sp>
        <p:nvSpPr>
          <p:cNvPr id="26" name="object 12">
            <a:extLst>
              <a:ext uri="{FF2B5EF4-FFF2-40B4-BE49-F238E27FC236}">
                <a16:creationId xmlns:a16="http://schemas.microsoft.com/office/drawing/2014/main" id="{96EA6C05-B4C3-67A9-5411-AABBA536135E}"/>
              </a:ext>
            </a:extLst>
          </p:cNvPr>
          <p:cNvSpPr txBox="1"/>
          <p:nvPr/>
        </p:nvSpPr>
        <p:spPr>
          <a:xfrm>
            <a:off x="2975305" y="3117724"/>
            <a:ext cx="1239520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en-US" sz="600" b="1" dirty="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Intraday feature with a Two-stage</a:t>
            </a:r>
            <a:r>
              <a:rPr lang="en-US" sz="600" b="1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endParaRPr lang="en-US" sz="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6484987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2987" y="956996"/>
            <a:ext cx="2001838" cy="69634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50" spc="-400" dirty="0">
                <a:solidFill>
                  <a:srgbClr val="000000"/>
                </a:solidFill>
                <a:latin typeface="Kunstler Script" panose="030304020206070D0D06" pitchFamily="66" charset="0"/>
                <a:cs typeface="Liberation Sans Narrow"/>
              </a:rPr>
              <a:t>Than</a:t>
            </a:r>
            <a:r>
              <a:rPr lang="en-US" sz="4450" spc="-400" dirty="0">
                <a:solidFill>
                  <a:srgbClr val="000000"/>
                </a:solidFill>
                <a:latin typeface="Kunstler Script" panose="030304020206070D0D06" pitchFamily="66" charset="0"/>
                <a:cs typeface="Liberation Sans Narrow"/>
              </a:rPr>
              <a:t>k</a:t>
            </a:r>
            <a:r>
              <a:rPr sz="4450" spc="-400" dirty="0">
                <a:solidFill>
                  <a:srgbClr val="000000"/>
                </a:solidFill>
                <a:latin typeface="Kunstler Script" panose="030304020206070D0D06" pitchFamily="66" charset="0"/>
                <a:cs typeface="Liberation Sans Narrow"/>
              </a:rPr>
              <a:t>s</a:t>
            </a:r>
            <a:r>
              <a:rPr lang="en-US" sz="4450" spc="-400" dirty="0">
                <a:solidFill>
                  <a:srgbClr val="000000"/>
                </a:solidFill>
                <a:latin typeface="Kunstler Script" panose="030304020206070D0D06" pitchFamily="66" charset="0"/>
                <a:cs typeface="Liberation Sans Narrow"/>
              </a:rPr>
              <a:t> !</a:t>
            </a:r>
            <a:endParaRPr sz="4450" dirty="0">
              <a:latin typeface="Kunstler Script" panose="030304020206070D0D06" pitchFamily="66" charset="0"/>
              <a:cs typeface="Liberation Sans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117608"/>
            <a:ext cx="5760085" cy="122555"/>
            <a:chOff x="0" y="3117608"/>
            <a:chExt cx="5760085" cy="122555"/>
          </a:xfrm>
        </p:grpSpPr>
        <p:sp>
          <p:nvSpPr>
            <p:cNvPr id="4" name="object 4"/>
            <p:cNvSpPr/>
            <p:nvPr/>
          </p:nvSpPr>
          <p:spPr>
            <a:xfrm>
              <a:off x="0" y="3117608"/>
              <a:ext cx="2880360" cy="122555"/>
            </a:xfrm>
            <a:custGeom>
              <a:avLst/>
              <a:gdLst/>
              <a:ahLst/>
              <a:cxnLst/>
              <a:rect l="l" t="t" r="r" b="b"/>
              <a:pathLst>
                <a:path w="2880360" h="122555">
                  <a:moveTo>
                    <a:pt x="2880004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880004" y="12238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80004" y="3117608"/>
              <a:ext cx="2880360" cy="122555"/>
            </a:xfrm>
            <a:custGeom>
              <a:avLst/>
              <a:gdLst/>
              <a:ahLst/>
              <a:cxnLst/>
              <a:rect l="l" t="t" r="r" b="b"/>
              <a:pathLst>
                <a:path w="2880360" h="122555">
                  <a:moveTo>
                    <a:pt x="2880004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880004" y="12238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Group</a:t>
            </a:r>
            <a:r>
              <a:rPr spc="-35" dirty="0"/>
              <a:t> </a:t>
            </a:r>
            <a:r>
              <a:rPr spc="-25" dirty="0"/>
              <a:t>Two</a:t>
            </a:r>
          </a:p>
        </p:txBody>
      </p:sp>
      <p:sp>
        <p:nvSpPr>
          <p:cNvPr id="8" name="object 12">
            <a:extLst>
              <a:ext uri="{FF2B5EF4-FFF2-40B4-BE49-F238E27FC236}">
                <a16:creationId xmlns:a16="http://schemas.microsoft.com/office/drawing/2014/main" id="{12354B45-CF4B-B7F7-84C4-29745CC14170}"/>
              </a:ext>
            </a:extLst>
          </p:cNvPr>
          <p:cNvSpPr txBox="1"/>
          <p:nvPr/>
        </p:nvSpPr>
        <p:spPr>
          <a:xfrm>
            <a:off x="2975305" y="3117724"/>
            <a:ext cx="1239520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en-US" sz="600" b="1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Intraday feature with a Two-stage</a:t>
            </a:r>
            <a:r>
              <a:rPr lang="en-US" sz="600" b="1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endParaRPr lang="en-US" sz="6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</TotalTime>
  <Words>403</Words>
  <Application>Microsoft Office PowerPoint</Application>
  <PresentationFormat>自定义</PresentationFormat>
  <Paragraphs>50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-apple-system</vt:lpstr>
      <vt:lpstr>等线</vt:lpstr>
      <vt:lpstr>Arial</vt:lpstr>
      <vt:lpstr>Kunstler Script</vt:lpstr>
      <vt:lpstr>Verdana</vt:lpstr>
      <vt:lpstr>Office Theme</vt:lpstr>
      <vt:lpstr>PowerPoint 演示文稿</vt:lpstr>
      <vt:lpstr>Theoretical Background</vt:lpstr>
      <vt:lpstr>Feature Construction</vt:lpstr>
      <vt:lpstr>Model enhance</vt:lpstr>
      <vt:lpstr>PowerPoint 演示文稿</vt:lpstr>
      <vt:lpstr>PowerPoint 演示文稿</vt:lpstr>
      <vt:lpstr>Thanks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HOMON</dc:creator>
  <cp:lastModifiedBy>HOMON</cp:lastModifiedBy>
  <cp:revision>65</cp:revision>
  <dcterms:created xsi:type="dcterms:W3CDTF">2024-10-03T01:54:12Z</dcterms:created>
  <dcterms:modified xsi:type="dcterms:W3CDTF">2024-10-04T13:25:42Z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2024-09-19T00:00:00Z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2024-10-03T00:00:00Z</vt:filetime>
  </property>
  <property fmtid="{D5CDD505-2E9C-101B-9397-08002B2CF9AE}" pid="5" name="PTEX.Fullbanner">
    <vt:lpwstr>This is pdfTeX, Version 3.141592653-2.6-1.40.25 (TeX Live 2023) kpathsea version 6.3.5</vt:lpwstr>
  </property>
  <property fmtid="{D5CDD505-2E9C-101B-9397-08002B2CF9AE}" pid="6" name="Producer">
    <vt:lpwstr>3-Heights(TM) PDF Security Shell 4.8.25.2 (http://www.pdf-tools.com)</vt:lpwstr>
  </property>
</Properties>
</file>