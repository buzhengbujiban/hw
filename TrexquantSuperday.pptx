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85" r:id="rId3"/>
    <p:sldId id="287" r:id="rId4"/>
    <p:sldId id="288" r:id="rId5"/>
    <p:sldId id="262" r:id="rId6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1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0" autoAdjust="0"/>
    <p:restoredTop sz="94660"/>
  </p:normalViewPr>
  <p:slideViewPr>
    <p:cSldViewPr>
      <p:cViewPr varScale="1">
        <p:scale>
          <a:sx n="202" d="100"/>
          <a:sy n="202" d="100"/>
        </p:scale>
        <p:origin x="120" y="228"/>
      </p:cViewPr>
      <p:guideLst>
        <p:guide orient="horz" pos="2880"/>
        <p:guide pos="18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2B498-91AC-42B8-8536-DA660F886583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4A14A-83C2-42CC-A65E-76C3C2E836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30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5E47F-7FD0-06EF-1871-E9AF07010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C49EB7-BE63-3CF0-C483-060147C4A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B85734-4F91-D5F5-8D3E-729707C74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CE8708-EE44-71FF-7739-9CDAC4D7D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4A14A-83C2-42CC-A65E-76C3C2E8360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134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20F5A-521F-A9A3-C265-011CD991D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468831-1235-4FAE-DB5E-F0CDA5D40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CF4690-5660-D813-0CCF-5685C0C6F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E06973-FA82-C394-CD00-BF2F8813B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4A14A-83C2-42CC-A65E-76C3C2E8360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333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456DD-F203-619A-4947-C46ADDDE8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4C2C61-B884-5DCD-01FC-B8F94176E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E229F4-50F2-7BEF-A074-38126E2CF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8B5560-11A2-B992-2732-C18B650AF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4A14A-83C2-42CC-A65E-76C3C2E8360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054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Group</a:t>
            </a:r>
            <a:r>
              <a:rPr spc="-35" dirty="0"/>
              <a:t> </a:t>
            </a:r>
            <a:r>
              <a:rPr spc="-25" dirty="0"/>
              <a:t>Two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Group</a:t>
            </a:r>
            <a:r>
              <a:rPr spc="-35" dirty="0"/>
              <a:t> </a:t>
            </a:r>
            <a:r>
              <a:rPr spc="-25" dirty="0"/>
              <a:t>Two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2" userDrawn="1">
          <p15:clr>
            <a:srgbClr val="FBAE40"/>
          </p15:clr>
        </p15:guide>
        <p15:guide id="2" pos="181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Group</a:t>
            </a:r>
            <a:r>
              <a:rPr spc="-35" dirty="0"/>
              <a:t> </a:t>
            </a:r>
            <a:r>
              <a:rPr spc="-25" dirty="0"/>
              <a:t>Two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2880360" cy="122555"/>
          </a:xfrm>
          <a:custGeom>
            <a:avLst/>
            <a:gdLst/>
            <a:ahLst/>
            <a:cxnLst/>
            <a:rect l="l" t="t" r="r" b="b"/>
            <a:pathLst>
              <a:path w="2880360" h="122555">
                <a:moveTo>
                  <a:pt x="2880004" y="0"/>
                </a:moveTo>
                <a:lnTo>
                  <a:pt x="0" y="0"/>
                </a:lnTo>
                <a:lnTo>
                  <a:pt x="0" y="122389"/>
                </a:lnTo>
                <a:lnTo>
                  <a:pt x="2880004" y="122389"/>
                </a:lnTo>
                <a:lnTo>
                  <a:pt x="28800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880004" y="-12"/>
            <a:ext cx="2880360" cy="122555"/>
          </a:xfrm>
          <a:custGeom>
            <a:avLst/>
            <a:gdLst/>
            <a:ahLst/>
            <a:cxnLst/>
            <a:rect l="l" t="t" r="r" b="b"/>
            <a:pathLst>
              <a:path w="2880360" h="122555">
                <a:moveTo>
                  <a:pt x="2880004" y="0"/>
                </a:moveTo>
                <a:lnTo>
                  <a:pt x="0" y="0"/>
                </a:lnTo>
                <a:lnTo>
                  <a:pt x="0" y="122389"/>
                </a:lnTo>
                <a:lnTo>
                  <a:pt x="2880004" y="122389"/>
                </a:lnTo>
                <a:lnTo>
                  <a:pt x="2880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Group</a:t>
            </a:r>
            <a:r>
              <a:rPr spc="-35" dirty="0"/>
              <a:t> </a:t>
            </a:r>
            <a:r>
              <a:rPr spc="-25" dirty="0"/>
              <a:t>Two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Group</a:t>
            </a:r>
            <a:r>
              <a:rPr spc="-35" dirty="0"/>
              <a:t> </a:t>
            </a:r>
            <a:r>
              <a:rPr spc="-25" dirty="0"/>
              <a:t>Two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2880360" cy="79375"/>
          </a:xfrm>
          <a:custGeom>
            <a:avLst/>
            <a:gdLst/>
            <a:ahLst/>
            <a:cxnLst/>
            <a:rect l="l" t="t" r="r" b="b"/>
            <a:pathLst>
              <a:path w="2880360" h="79375">
                <a:moveTo>
                  <a:pt x="0" y="79222"/>
                </a:moveTo>
                <a:lnTo>
                  <a:pt x="2880004" y="79222"/>
                </a:lnTo>
                <a:lnTo>
                  <a:pt x="2880004" y="0"/>
                </a:lnTo>
                <a:lnTo>
                  <a:pt x="0" y="0"/>
                </a:lnTo>
                <a:lnTo>
                  <a:pt x="0" y="792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880004" y="-12"/>
            <a:ext cx="2880360" cy="79375"/>
          </a:xfrm>
          <a:custGeom>
            <a:avLst/>
            <a:gdLst/>
            <a:ahLst/>
            <a:cxnLst/>
            <a:rect l="l" t="t" r="r" b="b"/>
            <a:pathLst>
              <a:path w="2880360" h="79375">
                <a:moveTo>
                  <a:pt x="0" y="79222"/>
                </a:moveTo>
                <a:lnTo>
                  <a:pt x="2880004" y="79222"/>
                </a:lnTo>
                <a:lnTo>
                  <a:pt x="2880004" y="0"/>
                </a:lnTo>
                <a:lnTo>
                  <a:pt x="0" y="0"/>
                </a:lnTo>
                <a:lnTo>
                  <a:pt x="0" y="79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9209"/>
            <a:ext cx="5759996" cy="6752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143700"/>
            <a:ext cx="5760085" cy="303530"/>
          </a:xfrm>
          <a:custGeom>
            <a:avLst/>
            <a:gdLst/>
            <a:ahLst/>
            <a:cxnLst/>
            <a:rect l="l" t="t" r="r" b="b"/>
            <a:pathLst>
              <a:path w="5760085" h="303530">
                <a:moveTo>
                  <a:pt x="5759996" y="0"/>
                </a:moveTo>
                <a:lnTo>
                  <a:pt x="0" y="0"/>
                </a:lnTo>
                <a:lnTo>
                  <a:pt x="0" y="303250"/>
                </a:lnTo>
                <a:lnTo>
                  <a:pt x="5759996" y="303250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28518"/>
            <a:ext cx="2968625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6463" y="702263"/>
            <a:ext cx="4845685" cy="2091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46426" y="3118180"/>
            <a:ext cx="438785" cy="122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Group</a:t>
            </a:r>
            <a:r>
              <a:rPr spc="-35" dirty="0"/>
              <a:t> </a:t>
            </a:r>
            <a:r>
              <a:rPr spc="-25" dirty="0"/>
              <a:t>Two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2" userDrawn="1">
          <p15:clr>
            <a:srgbClr val="F26B43"/>
          </p15:clr>
        </p15:guide>
        <p15:guide id="2" pos="18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9193" y="712113"/>
            <a:ext cx="5193030" cy="564515"/>
            <a:chOff x="309193" y="712113"/>
            <a:chExt cx="5193030" cy="564515"/>
          </a:xfrm>
        </p:grpSpPr>
        <p:sp>
          <p:nvSpPr>
            <p:cNvPr id="3" name="object 3"/>
            <p:cNvSpPr/>
            <p:nvPr/>
          </p:nvSpPr>
          <p:spPr>
            <a:xfrm>
              <a:off x="309193" y="712113"/>
              <a:ext cx="5142230" cy="82550"/>
            </a:xfrm>
            <a:custGeom>
              <a:avLst/>
              <a:gdLst/>
              <a:ahLst/>
              <a:cxnLst/>
              <a:rect l="l" t="t" r="r" b="b"/>
              <a:pathLst>
                <a:path w="5142230" h="82550">
                  <a:moveTo>
                    <a:pt x="509087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141671" y="82384"/>
                  </a:lnTo>
                  <a:lnTo>
                    <a:pt x="5141671" y="50800"/>
                  </a:lnTo>
                  <a:lnTo>
                    <a:pt x="5137663" y="31075"/>
                  </a:lnTo>
                  <a:lnTo>
                    <a:pt x="5126749" y="14922"/>
                  </a:lnTo>
                  <a:lnTo>
                    <a:pt x="5110596" y="4008"/>
                  </a:lnTo>
                  <a:lnTo>
                    <a:pt x="5090871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9994" y="775376"/>
              <a:ext cx="5142230" cy="501015"/>
            </a:xfrm>
            <a:custGeom>
              <a:avLst/>
              <a:gdLst/>
              <a:ahLst/>
              <a:cxnLst/>
              <a:rect l="l" t="t" r="r" b="b"/>
              <a:pathLst>
                <a:path w="5142230" h="501015">
                  <a:moveTo>
                    <a:pt x="5141671" y="0"/>
                  </a:moveTo>
                  <a:lnTo>
                    <a:pt x="0" y="0"/>
                  </a:lnTo>
                  <a:lnTo>
                    <a:pt x="0" y="500910"/>
                  </a:lnTo>
                  <a:lnTo>
                    <a:pt x="5141671" y="500910"/>
                  </a:lnTo>
                  <a:lnTo>
                    <a:pt x="51416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193" y="756538"/>
              <a:ext cx="5142230" cy="469265"/>
            </a:xfrm>
            <a:custGeom>
              <a:avLst/>
              <a:gdLst/>
              <a:ahLst/>
              <a:cxnLst/>
              <a:rect l="l" t="t" r="r" b="b"/>
              <a:pathLst>
                <a:path w="5142230" h="469265">
                  <a:moveTo>
                    <a:pt x="5141671" y="0"/>
                  </a:moveTo>
                  <a:lnTo>
                    <a:pt x="0" y="0"/>
                  </a:lnTo>
                  <a:lnTo>
                    <a:pt x="0" y="418147"/>
                  </a:lnTo>
                  <a:lnTo>
                    <a:pt x="4008" y="437872"/>
                  </a:lnTo>
                  <a:lnTo>
                    <a:pt x="14922" y="454025"/>
                  </a:lnTo>
                  <a:lnTo>
                    <a:pt x="31075" y="464939"/>
                  </a:lnTo>
                  <a:lnTo>
                    <a:pt x="50800" y="468947"/>
                  </a:lnTo>
                  <a:lnTo>
                    <a:pt x="5090871" y="468947"/>
                  </a:lnTo>
                  <a:lnTo>
                    <a:pt x="5110596" y="464939"/>
                  </a:lnTo>
                  <a:lnTo>
                    <a:pt x="5126749" y="454025"/>
                  </a:lnTo>
                  <a:lnTo>
                    <a:pt x="5137663" y="437872"/>
                  </a:lnTo>
                  <a:lnTo>
                    <a:pt x="5141671" y="418147"/>
                  </a:lnTo>
                  <a:lnTo>
                    <a:pt x="5141671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9994" y="775376"/>
            <a:ext cx="5142230" cy="308418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R="94615" algn="ctr">
              <a:lnSpc>
                <a:spcPct val="100000"/>
              </a:lnSpc>
              <a:spcBef>
                <a:spcPts val="365"/>
              </a:spcBef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  <a:cs typeface="Arial"/>
              </a:rPr>
              <a:t>My journey in </a:t>
            </a:r>
            <a:r>
              <a:rPr lang="en-US" altLang="zh-CN" sz="1700" b="1" dirty="0" err="1">
                <a:solidFill>
                  <a:srgbClr val="FFFFFF"/>
                </a:solidFill>
                <a:latin typeface="Arial"/>
                <a:cs typeface="Arial"/>
              </a:rPr>
              <a:t>trexquant</a:t>
            </a:r>
            <a:endParaRPr lang="en-US" sz="17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47265" y="1470025"/>
            <a:ext cx="1271270" cy="7893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lang="en-GB" sz="1200" spc="-65" dirty="0" err="1">
                <a:latin typeface="Arial"/>
                <a:cs typeface="Arial"/>
              </a:rPr>
              <a:t>Wensheng</a:t>
            </a:r>
            <a:r>
              <a:rPr lang="en-GB" sz="1200" spc="-65" dirty="0">
                <a:latin typeface="Arial"/>
                <a:cs typeface="Arial"/>
              </a:rPr>
              <a:t> Li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lang="en-US" altLang="zh-CN" sz="1200" spc="-70" dirty="0">
                <a:latin typeface="Arial"/>
                <a:cs typeface="Arial"/>
              </a:rPr>
              <a:t>Dec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lang="en-US" sz="1200" spc="-35" dirty="0">
                <a:latin typeface="Arial"/>
                <a:cs typeface="Arial"/>
              </a:rPr>
              <a:t>2</a:t>
            </a:r>
            <a:r>
              <a:rPr lang="en-US" altLang="zh-CN" sz="1200" spc="-35" dirty="0">
                <a:latin typeface="Arial"/>
                <a:cs typeface="Arial"/>
              </a:rPr>
              <a:t>4th</a:t>
            </a:r>
            <a:r>
              <a:rPr sz="1200" spc="-35" dirty="0">
                <a:latin typeface="Arial"/>
                <a:cs typeface="Arial"/>
              </a:rPr>
              <a:t>, </a:t>
            </a:r>
            <a:r>
              <a:rPr sz="1200" spc="-30" dirty="0">
                <a:latin typeface="Arial"/>
                <a:cs typeface="Arial"/>
              </a:rPr>
              <a:t>2024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A6CF4-AC27-88C5-7D22-DF0F7CD95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D3475F15-E923-8C07-C07C-FAA666F0F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72" y="8642"/>
            <a:ext cx="5761219" cy="445047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0E975E90-6759-D4AB-CE5E-53F81BE246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128518"/>
            <a:ext cx="2968625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spc="-80" dirty="0"/>
              <a:t>Content</a:t>
            </a:r>
            <a:endParaRPr lang="en-US" spc="-10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CE8AF63-0987-E810-1CE8-0844669AB4AA}"/>
              </a:ext>
            </a:extLst>
          </p:cNvPr>
          <p:cNvSpPr/>
          <p:nvPr/>
        </p:nvSpPr>
        <p:spPr>
          <a:xfrm>
            <a:off x="-38" y="445259"/>
            <a:ext cx="5760085" cy="34290"/>
          </a:xfrm>
          <a:custGeom>
            <a:avLst/>
            <a:gdLst/>
            <a:ahLst/>
            <a:cxnLst/>
            <a:rect l="l" t="t" r="r" b="b"/>
            <a:pathLst>
              <a:path w="5760085" h="34290">
                <a:moveTo>
                  <a:pt x="5760072" y="0"/>
                </a:moveTo>
                <a:lnTo>
                  <a:pt x="0" y="0"/>
                </a:lnTo>
                <a:lnTo>
                  <a:pt x="0" y="33761"/>
                </a:lnTo>
                <a:lnTo>
                  <a:pt x="5760072" y="33761"/>
                </a:lnTo>
                <a:lnTo>
                  <a:pt x="576007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BEE0788-502B-BB9D-7653-1CAFF03F2A5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864" y="619714"/>
            <a:ext cx="71513" cy="71513"/>
          </a:xfrm>
          <a:prstGeom prst="rect">
            <a:avLst/>
          </a:prstGeom>
        </p:spPr>
      </p:pic>
      <p:grpSp>
        <p:nvGrpSpPr>
          <p:cNvPr id="8" name="object 8">
            <a:extLst>
              <a:ext uri="{FF2B5EF4-FFF2-40B4-BE49-F238E27FC236}">
                <a16:creationId xmlns:a16="http://schemas.microsoft.com/office/drawing/2014/main" id="{CA68C16D-6800-48D0-6744-13C56DB12CA4}"/>
              </a:ext>
            </a:extLst>
          </p:cNvPr>
          <p:cNvGrpSpPr/>
          <p:nvPr/>
        </p:nvGrpSpPr>
        <p:grpSpPr>
          <a:xfrm>
            <a:off x="0" y="3117608"/>
            <a:ext cx="5760085" cy="122555"/>
            <a:chOff x="0" y="3117608"/>
            <a:chExt cx="5760085" cy="122555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91A2BED8-A92D-DB15-2029-3E78E143A80E}"/>
                </a:ext>
              </a:extLst>
            </p:cNvPr>
            <p:cNvSpPr/>
            <p:nvPr/>
          </p:nvSpPr>
          <p:spPr>
            <a:xfrm>
              <a:off x="0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5E808E3B-A452-8150-33AA-1DCA6AC25EAA}"/>
                </a:ext>
              </a:extLst>
            </p:cNvPr>
            <p:cNvSpPr/>
            <p:nvPr/>
          </p:nvSpPr>
          <p:spPr>
            <a:xfrm>
              <a:off x="2880004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>
            <a:extLst>
              <a:ext uri="{FF2B5EF4-FFF2-40B4-BE49-F238E27FC236}">
                <a16:creationId xmlns:a16="http://schemas.microsoft.com/office/drawing/2014/main" id="{45A67A86-9544-DB6F-3F55-65F25EA817E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346426" y="3118180"/>
            <a:ext cx="536474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en-GB" dirty="0" err="1"/>
              <a:t>Wensheng</a:t>
            </a:r>
            <a:r>
              <a:rPr lang="en-GB" dirty="0"/>
              <a:t> Li</a:t>
            </a:r>
            <a:endParaRPr spc="-25"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CBDFDEC5-3D21-567F-6310-BB11F6433D72}"/>
              </a:ext>
            </a:extLst>
          </p:cNvPr>
          <p:cNvSpPr txBox="1"/>
          <p:nvPr/>
        </p:nvSpPr>
        <p:spPr>
          <a:xfrm>
            <a:off x="2975305" y="3117724"/>
            <a:ext cx="1239520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R="94615" algn="ctr">
              <a:lnSpc>
                <a:spcPct val="100000"/>
              </a:lnSpc>
              <a:spcBef>
                <a:spcPts val="365"/>
              </a:spcBef>
            </a:pPr>
            <a:r>
              <a:rPr lang="en-US" altLang="zh-CN" sz="600" b="1" dirty="0">
                <a:solidFill>
                  <a:srgbClr val="FFFFFF"/>
                </a:solidFill>
                <a:latin typeface="Arial"/>
                <a:cs typeface="Arial"/>
              </a:rPr>
              <a:t>Classify stocks into N groups</a:t>
            </a:r>
            <a:endParaRPr lang="en-US" altLang="zh-CN" sz="600" dirty="0">
              <a:latin typeface="Arial"/>
              <a:cs typeface="Arial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86CB3BB-9B9F-98C8-DB76-90EA0A3A88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8541" y="898946"/>
            <a:ext cx="615120" cy="16638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080F8DD9-F047-3C8F-C2A7-B7B827501C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9378" y="528794"/>
            <a:ext cx="5482922" cy="3138039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GB" altLang="zh-CN" sz="800" i="1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1.Training month</a:t>
            </a:r>
            <a:r>
              <a:rPr lang="en-GB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Submitted 2 Chinese alphas and 2 US alphas to paper trading Human alpha sheet.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GB" altLang="zh-CN" sz="800" i="1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2.Training month</a:t>
            </a:r>
            <a:r>
              <a:rPr lang="en-GB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Created the </a:t>
            </a:r>
            <a:r>
              <a:rPr lang="en-GB" altLang="zh-CN" sz="800" b="1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Third moment Feature to </a:t>
            </a:r>
            <a:r>
              <a:rPr lang="en-GB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 project feature engineering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GB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3.GAR project 24/06/01 </a:t>
            </a:r>
            <a:r>
              <a:rPr lang="en-GB" altLang="zh-CN" sz="800" b="1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Earnings announcement return Extrapolation  </a:t>
            </a:r>
            <a:r>
              <a:rPr lang="en-GB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Detailed feature engineering</a:t>
            </a:r>
            <a:r>
              <a:rPr lang="en-GB" altLang="zh-CN" sz="800" b="1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Earned bonus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z="800" i="1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3.1.Superday test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Created </a:t>
            </a:r>
            <a:r>
              <a:rPr lang="en-US" altLang="zh-CN" sz="800" b="1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Spillover-effect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cross industry extrapolations. Two of them submitted to </a:t>
            </a:r>
            <a:r>
              <a:rPr lang="en-GB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paper trading.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4.GAR project 24/06/15 Different of opinions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5.GAR project 24/06/28 Shape features </a:t>
            </a:r>
            <a:r>
              <a:rPr lang="en-GB" altLang="zh-CN" sz="800" b="1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Earned bonus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6.GAR project 24/07/12 Spillover-effect features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7.GAR project 24/07/26 intraday-Shape features </a:t>
            </a:r>
            <a:r>
              <a:rPr lang="en-GB" altLang="zh-CN" sz="800" b="1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Earned bonus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New 2D data created in </a:t>
            </a:r>
            <a:r>
              <a:rPr lang="en-US" altLang="zh-CN" sz="800" dirty="0" err="1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pysim</a:t>
            </a:r>
            <a:endParaRPr lang="en-US" altLang="zh-CN" sz="800" dirty="0">
              <a:solidFill>
                <a:srgbClr val="06060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8.GAR project 24/08/16 </a:t>
            </a:r>
            <a:r>
              <a:rPr lang="en-US" altLang="zh-CN" sz="800" dirty="0" err="1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Adaboost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9.GAR project 24/08/30 </a:t>
            </a:r>
            <a:r>
              <a:rPr lang="en-US" altLang="zh-CN" sz="800" dirty="0" err="1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Adaboost_improvement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en-US" altLang="zh-CN" sz="800" dirty="0" err="1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random_forest</a:t>
            </a:r>
            <a:endParaRPr lang="en-US" altLang="zh-CN" sz="800" dirty="0">
              <a:solidFill>
                <a:srgbClr val="06060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10.GAR project 24/09/20 Intraday Volatility Decomposition. </a:t>
            </a:r>
            <a:r>
              <a:rPr lang="en-GB" altLang="zh-CN" sz="800" b="1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Earned bonus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GB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 project 24/10/04 Intraday feature with Two-stage model. </a:t>
            </a:r>
            <a:r>
              <a:rPr lang="en-GB" altLang="zh-CN" sz="800" b="1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Earned bonus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GB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12.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 project 24/10/18 Classify stocks into N groups. </a:t>
            </a:r>
            <a:r>
              <a:rPr lang="en-GB" altLang="zh-CN" sz="800" b="1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Earned bonus Submitted to paper trading strategies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GB" altLang="zh-CN" sz="800" b="1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   		 Useful in many areas.</a:t>
            </a:r>
            <a:endParaRPr lang="en-US" altLang="zh-CN" sz="800" dirty="0">
              <a:solidFill>
                <a:srgbClr val="06060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13. GAR project 24/10/26 New features: </a:t>
            </a:r>
            <a:r>
              <a:rPr lang="en-US" altLang="zh-CN" sz="800" dirty="0" err="1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markit_LiqCoeff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800" dirty="0" err="1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splitover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effect.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endParaRPr lang="en-US" altLang="zh-CN" sz="800" dirty="0">
              <a:solidFill>
                <a:srgbClr val="06060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endParaRPr lang="en-GB" altLang="zh-CN" sz="800" dirty="0">
              <a:solidFill>
                <a:srgbClr val="06060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endParaRPr lang="en-GB" altLang="zh-CN" sz="800" dirty="0">
              <a:solidFill>
                <a:srgbClr val="06060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421596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C01AC-B079-3857-14C4-072EA31A5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B5D0B61F-3F74-1B0D-90DF-8791F82D6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72" y="8642"/>
            <a:ext cx="5761219" cy="445047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56C08570-5526-EB97-B8AA-292DB2264F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128518"/>
            <a:ext cx="2968625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spc="-80" dirty="0"/>
              <a:t>Content</a:t>
            </a:r>
            <a:endParaRPr lang="en-US" spc="-10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D019C71-DCEC-1D03-8C0B-7332B17D5323}"/>
              </a:ext>
            </a:extLst>
          </p:cNvPr>
          <p:cNvSpPr/>
          <p:nvPr/>
        </p:nvSpPr>
        <p:spPr>
          <a:xfrm>
            <a:off x="-38" y="445259"/>
            <a:ext cx="5760085" cy="34290"/>
          </a:xfrm>
          <a:custGeom>
            <a:avLst/>
            <a:gdLst/>
            <a:ahLst/>
            <a:cxnLst/>
            <a:rect l="l" t="t" r="r" b="b"/>
            <a:pathLst>
              <a:path w="5760085" h="34290">
                <a:moveTo>
                  <a:pt x="5760072" y="0"/>
                </a:moveTo>
                <a:lnTo>
                  <a:pt x="0" y="0"/>
                </a:lnTo>
                <a:lnTo>
                  <a:pt x="0" y="33761"/>
                </a:lnTo>
                <a:lnTo>
                  <a:pt x="5760072" y="33761"/>
                </a:lnTo>
                <a:lnTo>
                  <a:pt x="576007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CC1EC39-F211-979B-88C2-6566AA52F80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864" y="619714"/>
            <a:ext cx="71513" cy="71513"/>
          </a:xfrm>
          <a:prstGeom prst="rect">
            <a:avLst/>
          </a:prstGeom>
        </p:spPr>
      </p:pic>
      <p:grpSp>
        <p:nvGrpSpPr>
          <p:cNvPr id="8" name="object 8">
            <a:extLst>
              <a:ext uri="{FF2B5EF4-FFF2-40B4-BE49-F238E27FC236}">
                <a16:creationId xmlns:a16="http://schemas.microsoft.com/office/drawing/2014/main" id="{D19D70BF-8B2C-C1D7-52D7-E73B4E2F8E3D}"/>
              </a:ext>
            </a:extLst>
          </p:cNvPr>
          <p:cNvGrpSpPr/>
          <p:nvPr/>
        </p:nvGrpSpPr>
        <p:grpSpPr>
          <a:xfrm>
            <a:off x="0" y="3117608"/>
            <a:ext cx="5760085" cy="122555"/>
            <a:chOff x="0" y="3117608"/>
            <a:chExt cx="5760085" cy="122555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5A01CA02-9828-2975-9D2E-537C4247EE41}"/>
                </a:ext>
              </a:extLst>
            </p:cNvPr>
            <p:cNvSpPr/>
            <p:nvPr/>
          </p:nvSpPr>
          <p:spPr>
            <a:xfrm>
              <a:off x="0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B9250F9-7EC5-C792-8D1F-7D6493F782B0}"/>
                </a:ext>
              </a:extLst>
            </p:cNvPr>
            <p:cNvSpPr/>
            <p:nvPr/>
          </p:nvSpPr>
          <p:spPr>
            <a:xfrm>
              <a:off x="2880004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>
            <a:extLst>
              <a:ext uri="{FF2B5EF4-FFF2-40B4-BE49-F238E27FC236}">
                <a16:creationId xmlns:a16="http://schemas.microsoft.com/office/drawing/2014/main" id="{5D36B8EF-BBEC-1478-C48F-77A87644202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346426" y="3118180"/>
            <a:ext cx="536474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en-GB" dirty="0" err="1"/>
              <a:t>Wensheng</a:t>
            </a:r>
            <a:r>
              <a:rPr lang="en-GB" dirty="0"/>
              <a:t> Li</a:t>
            </a:r>
            <a:endParaRPr spc="-25"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1BE10AE9-4925-4033-6559-F202D780B265}"/>
              </a:ext>
            </a:extLst>
          </p:cNvPr>
          <p:cNvSpPr txBox="1"/>
          <p:nvPr/>
        </p:nvSpPr>
        <p:spPr>
          <a:xfrm>
            <a:off x="2975305" y="3117724"/>
            <a:ext cx="1239520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R="94615" algn="ctr">
              <a:lnSpc>
                <a:spcPct val="100000"/>
              </a:lnSpc>
              <a:spcBef>
                <a:spcPts val="365"/>
              </a:spcBef>
            </a:pPr>
            <a:r>
              <a:rPr lang="en-US" altLang="zh-CN" sz="600" b="1" dirty="0">
                <a:solidFill>
                  <a:srgbClr val="FFFFFF"/>
                </a:solidFill>
                <a:latin typeface="Arial"/>
                <a:cs typeface="Arial"/>
              </a:rPr>
              <a:t>Classify stocks into N groups</a:t>
            </a:r>
            <a:endParaRPr lang="en-US" altLang="zh-CN" sz="600" dirty="0">
              <a:latin typeface="Arial"/>
              <a:cs typeface="Arial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6CD0E64-911D-CB7D-E8A9-BAC5CADD8E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8541" y="898946"/>
            <a:ext cx="615120" cy="16638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3269BFD-501D-C6FE-BC34-5005491D62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9378" y="528794"/>
            <a:ext cx="5482922" cy="1568378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13. GAR project 24/10/26 New features: </a:t>
            </a:r>
            <a:r>
              <a:rPr lang="en-US" altLang="zh-CN" sz="800" dirty="0" err="1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markit_LiqCoeff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800" dirty="0" err="1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splitover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effect.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 GAR project alone 24/11/06 New feature Shape-intravol5nd; Shape-</a:t>
            </a:r>
            <a:r>
              <a:rPr lang="en-US" altLang="zh-CN" sz="800" dirty="0" err="1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intravolasy</a:t>
            </a:r>
            <a:endParaRPr lang="en-US" altLang="zh-CN" sz="800" dirty="0">
              <a:solidFill>
                <a:srgbClr val="06060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15. Large project alone 24/11/21-24/12/22:  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GB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16. GAR 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alone 24/11/25 New feature </a:t>
            </a:r>
            <a:r>
              <a:rPr lang="en-US" altLang="zh-CN" sz="800" dirty="0" err="1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Downvol_skewallday</a:t>
            </a:r>
            <a:endParaRPr lang="en-GB" altLang="zh-CN" sz="800" dirty="0">
              <a:solidFill>
                <a:srgbClr val="06060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GB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17. Useful points in 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project alone: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a. eliminates high-missing value features in bot30-mktcap group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b. adding two Quantile regressing Super-features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c. </a:t>
            </a:r>
            <a:r>
              <a:rPr lang="en-US" altLang="zh-CN" sz="800" dirty="0" err="1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sample_weight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parameter in the </a:t>
            </a:r>
            <a:r>
              <a:rPr lang="en-US" altLang="zh-CN" sz="800" dirty="0" err="1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XGBR.fit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(X, y, </a:t>
            </a:r>
            <a:r>
              <a:rPr lang="en-US" altLang="zh-CN" sz="800" dirty="0" err="1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sample_weight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=weight)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GB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18. Creating my own </a:t>
            </a:r>
            <a:r>
              <a:rPr lang="en-GB" altLang="zh-CN" sz="800" b="1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gw1</a:t>
            </a:r>
            <a:r>
              <a:rPr lang="en-GB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sz="800" b="1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 function </a:t>
            </a:r>
            <a:r>
              <a:rPr lang="en-GB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based on </a:t>
            </a:r>
            <a:r>
              <a:rPr lang="en-GB" altLang="zh-CN" sz="800" dirty="0" err="1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MoE</a:t>
            </a:r>
            <a:r>
              <a:rPr lang="en-GB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sz="800" dirty="0" err="1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lgbm</a:t>
            </a:r>
            <a:r>
              <a:rPr lang="en-GB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Model. </a:t>
            </a:r>
            <a:endParaRPr lang="en-US" altLang="zh-CN" sz="800" dirty="0">
              <a:solidFill>
                <a:srgbClr val="06060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E54675E-32F8-1E69-F3A4-83035B0DBD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300" y="626462"/>
            <a:ext cx="1474303" cy="78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842796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CD06B-51D6-590C-61FC-118A235A3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5D043CD7-00BD-36E9-B7B7-6A443AB8D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72" y="8642"/>
            <a:ext cx="5761219" cy="445047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97A66A6C-D3AF-3E4F-D6A3-7B0E04BCC6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128518"/>
            <a:ext cx="2968625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pc="-80" dirty="0"/>
              <a:t>Key points</a:t>
            </a:r>
            <a:endParaRPr lang="en-US" spc="-10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075C8DF-28C4-3928-035B-6ED0FAC0EC3D}"/>
              </a:ext>
            </a:extLst>
          </p:cNvPr>
          <p:cNvSpPr/>
          <p:nvPr/>
        </p:nvSpPr>
        <p:spPr>
          <a:xfrm>
            <a:off x="-38" y="445259"/>
            <a:ext cx="5760085" cy="34290"/>
          </a:xfrm>
          <a:custGeom>
            <a:avLst/>
            <a:gdLst/>
            <a:ahLst/>
            <a:cxnLst/>
            <a:rect l="l" t="t" r="r" b="b"/>
            <a:pathLst>
              <a:path w="5760085" h="34290">
                <a:moveTo>
                  <a:pt x="5760072" y="0"/>
                </a:moveTo>
                <a:lnTo>
                  <a:pt x="0" y="0"/>
                </a:lnTo>
                <a:lnTo>
                  <a:pt x="0" y="33761"/>
                </a:lnTo>
                <a:lnTo>
                  <a:pt x="5760072" y="33761"/>
                </a:lnTo>
                <a:lnTo>
                  <a:pt x="576007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825F580-0CBB-8F73-3048-21AED68ECA7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864" y="619714"/>
            <a:ext cx="71513" cy="71513"/>
          </a:xfrm>
          <a:prstGeom prst="rect">
            <a:avLst/>
          </a:prstGeom>
        </p:spPr>
      </p:pic>
      <p:grpSp>
        <p:nvGrpSpPr>
          <p:cNvPr id="8" name="object 8">
            <a:extLst>
              <a:ext uri="{FF2B5EF4-FFF2-40B4-BE49-F238E27FC236}">
                <a16:creationId xmlns:a16="http://schemas.microsoft.com/office/drawing/2014/main" id="{74886975-1C09-5340-B2DA-2F660559E74B}"/>
              </a:ext>
            </a:extLst>
          </p:cNvPr>
          <p:cNvGrpSpPr/>
          <p:nvPr/>
        </p:nvGrpSpPr>
        <p:grpSpPr>
          <a:xfrm>
            <a:off x="0" y="3117608"/>
            <a:ext cx="5760085" cy="122555"/>
            <a:chOff x="0" y="3117608"/>
            <a:chExt cx="5760085" cy="122555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B41B3D2-EE7B-EA88-1D36-7EDFB37CF1E3}"/>
                </a:ext>
              </a:extLst>
            </p:cNvPr>
            <p:cNvSpPr/>
            <p:nvPr/>
          </p:nvSpPr>
          <p:spPr>
            <a:xfrm>
              <a:off x="0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76A46A6-5CBA-3856-DFFE-ED41B7C6EFB1}"/>
                </a:ext>
              </a:extLst>
            </p:cNvPr>
            <p:cNvSpPr/>
            <p:nvPr/>
          </p:nvSpPr>
          <p:spPr>
            <a:xfrm>
              <a:off x="2880004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>
            <a:extLst>
              <a:ext uri="{FF2B5EF4-FFF2-40B4-BE49-F238E27FC236}">
                <a16:creationId xmlns:a16="http://schemas.microsoft.com/office/drawing/2014/main" id="{7483A6E0-49FA-8FC2-98E7-639EB9D540B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346426" y="3118180"/>
            <a:ext cx="536474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en-GB" dirty="0" err="1"/>
              <a:t>Wensheng</a:t>
            </a:r>
            <a:r>
              <a:rPr lang="en-GB" dirty="0"/>
              <a:t> Li</a:t>
            </a:r>
            <a:endParaRPr spc="-25"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A43B6A0-68CD-A272-4039-AA52A0D0C9D1}"/>
              </a:ext>
            </a:extLst>
          </p:cNvPr>
          <p:cNvSpPr txBox="1"/>
          <p:nvPr/>
        </p:nvSpPr>
        <p:spPr>
          <a:xfrm>
            <a:off x="2975305" y="3117724"/>
            <a:ext cx="1239520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R="94615" algn="ctr">
              <a:lnSpc>
                <a:spcPct val="100000"/>
              </a:lnSpc>
              <a:spcBef>
                <a:spcPts val="365"/>
              </a:spcBef>
            </a:pPr>
            <a:r>
              <a:rPr lang="en-US" altLang="zh-CN" sz="600" b="1" dirty="0">
                <a:solidFill>
                  <a:srgbClr val="FFFFFF"/>
                </a:solidFill>
                <a:latin typeface="Arial"/>
                <a:cs typeface="Arial"/>
              </a:rPr>
              <a:t>Classify stocks into N groups</a:t>
            </a:r>
            <a:endParaRPr lang="en-US" altLang="zh-CN" sz="600" dirty="0">
              <a:latin typeface="Arial"/>
              <a:cs typeface="Arial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FD619F2-F04F-7E38-17AA-E70145ECC1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8541" y="898946"/>
            <a:ext cx="615120" cy="16638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41FBCAEC-0C28-CE54-60AE-06F0FA9F96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9378" y="528794"/>
            <a:ext cx="5482922" cy="12195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</a:p>
          <a:p>
            <a:pPr marL="279400" indent="-228600" algn="l">
              <a:lnSpc>
                <a:spcPct val="100000"/>
              </a:lnSpc>
              <a:spcBef>
                <a:spcPts val="390"/>
              </a:spcBef>
              <a:buAutoNum type="arabicPeriod"/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 my own alpha research methodology.</a:t>
            </a:r>
          </a:p>
          <a:p>
            <a:pPr marL="279400" indent="-228600" algn="l">
              <a:lnSpc>
                <a:spcPct val="100000"/>
              </a:lnSpc>
              <a:spcBef>
                <a:spcPts val="390"/>
              </a:spcBef>
              <a:buAutoNum type="arabicPeriod"/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 new </a:t>
            </a:r>
            <a:r>
              <a:rPr lang="en-US" altLang="zh-CN" sz="800" b="1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800" b="1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useful features 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exploration way.</a:t>
            </a:r>
          </a:p>
          <a:p>
            <a:pPr marL="279400" indent="-228600" algn="l">
              <a:lnSpc>
                <a:spcPct val="100000"/>
              </a:lnSpc>
              <a:spcBef>
                <a:spcPts val="390"/>
              </a:spcBef>
              <a:buAutoNum type="arabicPeriod"/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Gain detailed understanding of intraday Shape features and lead-lag effect.</a:t>
            </a:r>
          </a:p>
          <a:p>
            <a:pPr marL="50800" algn="l">
              <a:lnSpc>
                <a:spcPct val="100000"/>
              </a:lnSpc>
              <a:spcBef>
                <a:spcPts val="390"/>
              </a:spcBef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Construction.</a:t>
            </a:r>
          </a:p>
          <a:p>
            <a:pPr marL="279400" indent="-228600" algn="l">
              <a:lnSpc>
                <a:spcPct val="100000"/>
              </a:lnSpc>
              <a:spcBef>
                <a:spcPts val="390"/>
              </a:spcBef>
              <a:buAutoNum type="arabicPeriod"/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 own label about </a:t>
            </a:r>
            <a:r>
              <a:rPr lang="en-US" altLang="zh-CN" sz="800" dirty="0" err="1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MoE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strategies using Machine learning.</a:t>
            </a:r>
          </a:p>
          <a:p>
            <a:pPr marL="279400" indent="-228600" algn="l">
              <a:lnSpc>
                <a:spcPct val="100000"/>
              </a:lnSpc>
              <a:spcBef>
                <a:spcPts val="390"/>
              </a:spcBef>
              <a:buAutoNum type="arabicPeriod"/>
            </a:pP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Detailed understanding the </a:t>
            </a:r>
            <a:r>
              <a:rPr lang="en-US" altLang="zh-CN" sz="800" dirty="0" err="1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US" altLang="zh-CN" sz="800" dirty="0">
                <a:solidFill>
                  <a:srgbClr val="060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/NN methods in real situations.</a:t>
            </a:r>
          </a:p>
        </p:txBody>
      </p:sp>
    </p:spTree>
    <p:extLst>
      <p:ext uri="{BB962C8B-B14F-4D97-AF65-F5344CB8AC3E}">
        <p14:creationId xmlns:p14="http://schemas.microsoft.com/office/powerpoint/2010/main" val="3887368362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2987" y="956996"/>
            <a:ext cx="2001838" cy="6963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50" spc="-400" dirty="0">
                <a:solidFill>
                  <a:srgbClr val="000000"/>
                </a:solidFill>
                <a:latin typeface="Kunstler Script" panose="030304020206070D0D06" pitchFamily="66" charset="0"/>
                <a:cs typeface="Liberation Sans Narrow"/>
              </a:rPr>
              <a:t>Than</a:t>
            </a:r>
            <a:r>
              <a:rPr lang="en-US" sz="4450" spc="-400" dirty="0">
                <a:solidFill>
                  <a:srgbClr val="000000"/>
                </a:solidFill>
                <a:latin typeface="Kunstler Script" panose="030304020206070D0D06" pitchFamily="66" charset="0"/>
                <a:cs typeface="Liberation Sans Narrow"/>
              </a:rPr>
              <a:t>k</a:t>
            </a:r>
            <a:r>
              <a:rPr sz="4450" spc="-400" dirty="0">
                <a:solidFill>
                  <a:srgbClr val="000000"/>
                </a:solidFill>
                <a:latin typeface="Kunstler Script" panose="030304020206070D0D06" pitchFamily="66" charset="0"/>
                <a:cs typeface="Liberation Sans Narrow"/>
              </a:rPr>
              <a:t>s</a:t>
            </a:r>
            <a:r>
              <a:rPr lang="en-US" sz="4450" spc="-400" dirty="0">
                <a:solidFill>
                  <a:srgbClr val="000000"/>
                </a:solidFill>
                <a:latin typeface="Kunstler Script" panose="030304020206070D0D06" pitchFamily="66" charset="0"/>
                <a:cs typeface="Liberation Sans Narrow"/>
              </a:rPr>
              <a:t> !</a:t>
            </a:r>
            <a:endParaRPr sz="4450" dirty="0">
              <a:latin typeface="Kunstler Script" panose="030304020206070D0D06" pitchFamily="66" charset="0"/>
              <a:cs typeface="Liberation Sans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117608"/>
            <a:ext cx="5760085" cy="122555"/>
            <a:chOff x="0" y="3117608"/>
            <a:chExt cx="5760085" cy="122555"/>
          </a:xfrm>
        </p:grpSpPr>
        <p:sp>
          <p:nvSpPr>
            <p:cNvPr id="4" name="object 4"/>
            <p:cNvSpPr/>
            <p:nvPr/>
          </p:nvSpPr>
          <p:spPr>
            <a:xfrm>
              <a:off x="0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80004" y="3117608"/>
              <a:ext cx="2880360" cy="122555"/>
            </a:xfrm>
            <a:custGeom>
              <a:avLst/>
              <a:gdLst/>
              <a:ahLst/>
              <a:cxnLst/>
              <a:rect l="l" t="t" r="r" b="b"/>
              <a:pathLst>
                <a:path w="2880360" h="122555">
                  <a:moveTo>
                    <a:pt x="2880004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880004" y="12238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11">
            <a:extLst>
              <a:ext uri="{FF2B5EF4-FFF2-40B4-BE49-F238E27FC236}">
                <a16:creationId xmlns:a16="http://schemas.microsoft.com/office/drawing/2014/main" id="{73A6A90E-40E3-8C6D-2200-0A6C2E5636B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346426" y="3118180"/>
            <a:ext cx="536474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en-GB" dirty="0" err="1"/>
              <a:t>Wensheng</a:t>
            </a:r>
            <a:r>
              <a:rPr lang="en-GB" dirty="0"/>
              <a:t> Li</a:t>
            </a:r>
            <a:endParaRPr spc="-25" dirty="0"/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2DAB9110-59BA-2167-E154-B179D8A9CEB4}"/>
              </a:ext>
            </a:extLst>
          </p:cNvPr>
          <p:cNvSpPr txBox="1"/>
          <p:nvPr/>
        </p:nvSpPr>
        <p:spPr>
          <a:xfrm>
            <a:off x="2975305" y="3117724"/>
            <a:ext cx="1239520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R="94615" algn="ctr">
              <a:lnSpc>
                <a:spcPct val="100000"/>
              </a:lnSpc>
              <a:spcBef>
                <a:spcPts val="365"/>
              </a:spcBef>
            </a:pPr>
            <a:r>
              <a:rPr lang="en-US" altLang="zh-CN" sz="600" b="1" dirty="0">
                <a:solidFill>
                  <a:srgbClr val="FFFFFF"/>
                </a:solidFill>
                <a:latin typeface="Arial"/>
                <a:cs typeface="Arial"/>
              </a:rPr>
              <a:t>Classify stocks into N groups</a:t>
            </a:r>
            <a:endParaRPr lang="en-US" altLang="zh-CN" sz="6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2080</TotalTime>
  <Words>401</Words>
  <Application>Microsoft Office PowerPoint</Application>
  <PresentationFormat>自定义</PresentationFormat>
  <Paragraphs>52</Paragraphs>
  <Slides>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Arial</vt:lpstr>
      <vt:lpstr>Kunstler Script</vt:lpstr>
      <vt:lpstr>Verdana</vt:lpstr>
      <vt:lpstr>Office Theme</vt:lpstr>
      <vt:lpstr>PowerPoint 演示文稿</vt:lpstr>
      <vt:lpstr>Content</vt:lpstr>
      <vt:lpstr>Content</vt:lpstr>
      <vt:lpstr>Key points</vt:lpstr>
      <vt:lpstr>Thanks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HOMON</dc:creator>
  <cp:lastModifiedBy>HOMON</cp:lastModifiedBy>
  <cp:revision>269</cp:revision>
  <cp:lastPrinted>2024-12-03T09:30:59Z</cp:lastPrinted>
  <dcterms:created xsi:type="dcterms:W3CDTF">2024-10-03T01:54:12Z</dcterms:created>
  <dcterms:modified xsi:type="dcterms:W3CDTF">2024-12-23T09:52:32Z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2024-10-03T00:00:00Z</vt:filetime>
  </property>
  <property fmtid="{D5CDD505-2E9C-101B-9397-08002B2CF9AE}" pid="5" name="PTEX.Fullbanner">
    <vt:lpwstr>This is pdfTeX, Version 3.141592653-2.6-1.40.25 (TeX Live 2023) kpathsea version 6.3.5</vt:lpwstr>
  </property>
  <property fmtid="{D5CDD505-2E9C-101B-9397-08002B2CF9AE}" pid="6" name="Producer">
    <vt:lpwstr>3-Heights(TM) PDF Security Shell 4.8.25.2 (http://www.pdf-tools.com)</vt:lpwstr>
  </property>
</Properties>
</file>