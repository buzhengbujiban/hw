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drawings/drawing1.xml" ContentType="application/vnd.openxmlformats-officedocument.drawingml.chartshapes+xml"/>
  <Override PartName="/ppt/charts/chart2.xml" ContentType="application/vnd.openxmlformats-officedocument.drawingml.chart+xml"/>
  <Override PartName="/ppt/theme/themeOverride2.xml" ContentType="application/vnd.openxmlformats-officedocument.themeOverride+xml"/>
  <Override PartName="/ppt/drawings/drawing2.xml" ContentType="application/vnd.openxmlformats-officedocument.drawingml.chartshape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9" r:id="rId4"/>
    <p:sldId id="262" r:id="rId5"/>
    <p:sldId id="263" r:id="rId6"/>
    <p:sldId id="265" r:id="rId7"/>
    <p:sldId id="261" r:id="rId8"/>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Avenir Next Regular"/>
        <a:ea typeface="Avenir Next Regular"/>
        <a:cs typeface="Avenir Next Regular"/>
        <a:sym typeface="Avenir Next Regular"/>
      </a:defRPr>
    </a:lvl1pPr>
    <a:lvl2pPr marL="0" marR="0" indent="4572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Avenir Next Regular"/>
        <a:ea typeface="Avenir Next Regular"/>
        <a:cs typeface="Avenir Next Regular"/>
        <a:sym typeface="Avenir Next Regular"/>
      </a:defRPr>
    </a:lvl2pPr>
    <a:lvl3pPr marL="0" marR="0" indent="9144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Avenir Next Regular"/>
        <a:ea typeface="Avenir Next Regular"/>
        <a:cs typeface="Avenir Next Regular"/>
        <a:sym typeface="Avenir Next Regular"/>
      </a:defRPr>
    </a:lvl3pPr>
    <a:lvl4pPr marL="0" marR="0" indent="13716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Avenir Next Regular"/>
        <a:ea typeface="Avenir Next Regular"/>
        <a:cs typeface="Avenir Next Regular"/>
        <a:sym typeface="Avenir Next Regular"/>
      </a:defRPr>
    </a:lvl4pPr>
    <a:lvl5pPr marL="0" marR="0" indent="18288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Avenir Next Regular"/>
        <a:ea typeface="Avenir Next Regular"/>
        <a:cs typeface="Avenir Next Regular"/>
        <a:sym typeface="Avenir Next Regular"/>
      </a:defRPr>
    </a:lvl5pPr>
    <a:lvl6pPr marL="0" marR="0" indent="22860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Avenir Next Regular"/>
        <a:ea typeface="Avenir Next Regular"/>
        <a:cs typeface="Avenir Next Regular"/>
        <a:sym typeface="Avenir Next Regular"/>
      </a:defRPr>
    </a:lvl6pPr>
    <a:lvl7pPr marL="0" marR="0" indent="27432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Avenir Next Regular"/>
        <a:ea typeface="Avenir Next Regular"/>
        <a:cs typeface="Avenir Next Regular"/>
        <a:sym typeface="Avenir Next Regular"/>
      </a:defRPr>
    </a:lvl7pPr>
    <a:lvl8pPr marL="0" marR="0" indent="32004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Avenir Next Regular"/>
        <a:ea typeface="Avenir Next Regular"/>
        <a:cs typeface="Avenir Next Regular"/>
        <a:sym typeface="Avenir Next Regular"/>
      </a:defRPr>
    </a:lvl8pPr>
    <a:lvl9pPr marL="0" marR="0" indent="36576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Avenir Next Regular"/>
        <a:ea typeface="Avenir Next Regular"/>
        <a:cs typeface="Avenir Next Regular"/>
        <a:sym typeface="Avenir Next Regular"/>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FBF7"/>
    <a:srgbClr val="05A89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venir Next Regular"/>
          <a:ea typeface="Avenir Next Regular"/>
          <a:cs typeface="Avenir Next Regular"/>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A9A9A9"/>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
          <a:latin typeface="Avenir Next Regular"/>
          <a:ea typeface="Avenir Next Regular"/>
          <a:cs typeface="Avenir Next Regular"/>
        </a:font>
        <a:srgbClr val="000000"/>
      </a:tcTxStyle>
      <a:tcStyle>
        <a:tcBdr>
          <a:left>
            <a:ln w="12700" cap="flat">
              <a:solidFill>
                <a:srgbClr val="C8C8C8"/>
              </a:solidFill>
              <a:prstDash val="solid"/>
              <a:miter lim="400000"/>
            </a:ln>
          </a:left>
          <a:right>
            <a:ln w="12700" cap="flat">
              <a:solidFill>
                <a:srgbClr val="C8C8C8"/>
              </a:solidFill>
              <a:prstDash val="solid"/>
              <a:miter lim="400000"/>
            </a:ln>
          </a:right>
          <a:top>
            <a:ln w="12700" cap="flat">
              <a:solidFill>
                <a:srgbClr val="C8C8C8"/>
              </a:solidFill>
              <a:prstDash val="solid"/>
              <a:miter lim="400000"/>
            </a:ln>
          </a:top>
          <a:bottom>
            <a:ln w="12700" cap="flat">
              <a:solidFill>
                <a:srgbClr val="C8C8C8"/>
              </a:solidFill>
              <a:prstDash val="solid"/>
              <a:miter lim="400000"/>
            </a:ln>
          </a:bottom>
          <a:insideH>
            <a:ln w="12700" cap="flat">
              <a:solidFill>
                <a:srgbClr val="C8C8C8"/>
              </a:solidFill>
              <a:prstDash val="solid"/>
              <a:miter lim="400000"/>
            </a:ln>
          </a:insideH>
          <a:insideV>
            <a:ln w="12700" cap="flat">
              <a:solidFill>
                <a:srgbClr val="C8C8C8"/>
              </a:solidFill>
              <a:prstDash val="solid"/>
              <a:miter lim="400000"/>
            </a:ln>
          </a:insideV>
        </a:tcBdr>
        <a:fill>
          <a:noFill/>
        </a:fill>
      </a:tcStyle>
    </a:wholeTbl>
    <a:band2H>
      <a:tcTxStyle/>
      <a:tcStyle>
        <a:tcBdr/>
        <a:fill>
          <a:solidFill>
            <a:srgbClr val="A9A9A9"/>
          </a:solidFill>
        </a:fill>
      </a:tcStyle>
    </a:band2H>
    <a:firstCol>
      <a:tcTxStyle b="on" i="off">
        <a:fontRef idx="minor">
          <a:srgbClr val="000000"/>
        </a:fontRef>
        <a:srgbClr val="000000"/>
      </a:tcTxStyle>
      <a:tcStyle>
        <a:tcBdr>
          <a:left>
            <a:ln w="12700" cap="flat">
              <a:solidFill>
                <a:srgbClr val="A9A9A9"/>
              </a:solidFill>
              <a:prstDash val="solid"/>
              <a:miter lim="400000"/>
            </a:ln>
          </a:left>
          <a:right>
            <a:ln w="254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firstCol>
    <a:lastRow>
      <a:tcTxStyle b="off" i="off">
        <a:font>
          <a:latin typeface="Avenir Next Regular"/>
          <a:ea typeface="Avenir Next Regular"/>
          <a:cs typeface="Avenir Next Regular"/>
        </a:font>
        <a:srgbClr val="000000"/>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rgbClr val="00A1FF"/>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381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solidFill>
            <a:srgbClr val="014D80"/>
          </a:solidFill>
        </a:fill>
      </a:tcStyle>
    </a:firstRow>
  </a:tblStyle>
  <a:tblStyle styleId="{EEE7283C-3CF3-47DC-8721-378D4A62B228}" styleName="">
    <a:tblBg/>
    <a:wholeTbl>
      <a:tcTxStyle b="off" i="off">
        <a:font>
          <a:latin typeface="Avenir Next Regular"/>
          <a:ea typeface="Avenir Next Regular"/>
          <a:cs typeface="Avenir Next Regular"/>
        </a:font>
        <a:srgbClr val="000000"/>
      </a:tcTxStyle>
      <a:tcStyle>
        <a:tcBdr>
          <a:left>
            <a:ln w="12700" cap="flat">
              <a:solidFill>
                <a:srgbClr val="C8C8C8"/>
              </a:solidFill>
              <a:prstDash val="solid"/>
              <a:miter lim="400000"/>
            </a:ln>
          </a:left>
          <a:right>
            <a:ln w="12700" cap="flat">
              <a:solidFill>
                <a:srgbClr val="C8C8C8"/>
              </a:solidFill>
              <a:prstDash val="solid"/>
              <a:miter lim="400000"/>
            </a:ln>
          </a:right>
          <a:top>
            <a:ln w="12700" cap="flat">
              <a:solidFill>
                <a:srgbClr val="C8C8C8"/>
              </a:solidFill>
              <a:prstDash val="solid"/>
              <a:miter lim="400000"/>
            </a:ln>
          </a:top>
          <a:bottom>
            <a:ln w="12700" cap="flat">
              <a:solidFill>
                <a:srgbClr val="C8C8C8"/>
              </a:solidFill>
              <a:prstDash val="solid"/>
              <a:miter lim="400000"/>
            </a:ln>
          </a:bottom>
          <a:insideH>
            <a:ln w="12700" cap="flat">
              <a:solidFill>
                <a:srgbClr val="C8C8C8"/>
              </a:solidFill>
              <a:prstDash val="solid"/>
              <a:miter lim="400000"/>
            </a:ln>
          </a:insideH>
          <a:insideV>
            <a:ln w="12700" cap="flat">
              <a:solidFill>
                <a:srgbClr val="C8C8C8"/>
              </a:solidFill>
              <a:prstDash val="solid"/>
              <a:miter lim="400000"/>
            </a:ln>
          </a:insideV>
        </a:tcBdr>
        <a:fill>
          <a:noFill/>
        </a:fill>
      </a:tcStyle>
    </a:wholeTbl>
    <a:band2H>
      <a:tcTxStyle/>
      <a:tcStyle>
        <a:tcBdr/>
        <a:fill>
          <a:solidFill>
            <a:srgbClr val="A9A9A9"/>
          </a:solidFill>
        </a:fill>
      </a:tcStyle>
    </a:band2H>
    <a:firstCol>
      <a:tcTxStyle b="off" i="off">
        <a:font>
          <a:latin typeface="Avenir Next Medium"/>
          <a:ea typeface="Avenir Next Medium"/>
          <a:cs typeface="Avenir Next Medium"/>
        </a:font>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13B100"/>
          </a:solidFill>
        </a:fill>
      </a:tcStyle>
    </a:firstCol>
    <a:lastRow>
      <a:tcTxStyle b="off" i="off">
        <a:font>
          <a:latin typeface="Avenir Next Regular"/>
          <a:ea typeface="Avenir Next Regular"/>
          <a:cs typeface="Avenir Next Regular"/>
        </a:font>
        <a:srgbClr val="000000"/>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rgbClr val="61D836"/>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ff" i="off">
        <a:font>
          <a:latin typeface="Avenir Next Medium"/>
          <a:ea typeface="Avenir Next Medium"/>
          <a:cs typeface="Avenir Next Medium"/>
        </a:font>
        <a:srgbClr val="FFFFFF"/>
      </a:tcTxStyle>
      <a:tcStyle>
        <a:tcBdr>
          <a:left>
            <a:ln w="12700" cap="flat">
              <a:solidFill>
                <a:srgbClr val="C8C8C8"/>
              </a:solidFill>
              <a:prstDash val="solid"/>
              <a:miter lim="400000"/>
            </a:ln>
          </a:left>
          <a:right>
            <a:ln w="12700" cap="flat">
              <a:solidFill>
                <a:srgbClr val="C8C8C8"/>
              </a:solidFill>
              <a:prstDash val="solid"/>
              <a:miter lim="400000"/>
            </a:ln>
          </a:right>
          <a:top>
            <a:ln w="12700" cap="flat">
              <a:solidFill>
                <a:srgbClr val="A9A9A9"/>
              </a:solidFill>
              <a:prstDash val="solid"/>
              <a:miter lim="400000"/>
            </a:ln>
          </a:top>
          <a:bottom>
            <a:ln w="38100" cap="flat">
              <a:solidFill>
                <a:srgbClr val="A9A9A9"/>
              </a:solidFill>
              <a:prstDash val="solid"/>
              <a:miter lim="400000"/>
            </a:ln>
          </a:bottom>
          <a:insideH>
            <a:ln w="12700" cap="flat">
              <a:solidFill>
                <a:srgbClr val="C8C8C8"/>
              </a:solidFill>
              <a:prstDash val="solid"/>
              <a:miter lim="400000"/>
            </a:ln>
          </a:insideH>
          <a:insideV>
            <a:ln w="12700" cap="flat">
              <a:solidFill>
                <a:srgbClr val="C8C8C8"/>
              </a:solidFill>
              <a:prstDash val="solid"/>
              <a:miter lim="400000"/>
            </a:ln>
          </a:insideV>
        </a:tcBdr>
        <a:fill>
          <a:solidFill>
            <a:schemeClr val="accent3">
              <a:hueOff val="552055"/>
              <a:lumOff val="-12548"/>
            </a:schemeClr>
          </a:solidFill>
        </a:fill>
      </a:tcStyle>
    </a:firstRow>
  </a:tblStyle>
  <a:tblStyle styleId="{CF821DB8-F4EB-4A41-A1BA-3FCAFE7338EE}" styleName="">
    <a:tblBg/>
    <a:wholeTbl>
      <a:tcTxStyle b="off" i="off">
        <a:font>
          <a:latin typeface="Avenir Next Regular"/>
          <a:ea typeface="Avenir Next Regular"/>
          <a:cs typeface="Avenir Next Regular"/>
        </a:font>
        <a:srgbClr val="000000"/>
      </a:tcTxStyle>
      <a:tcStyle>
        <a:tcBdr>
          <a:left>
            <a:ln w="12700" cap="flat">
              <a:solidFill>
                <a:srgbClr val="C8C8C8"/>
              </a:solidFill>
              <a:prstDash val="solid"/>
              <a:miter lim="400000"/>
            </a:ln>
          </a:left>
          <a:right>
            <a:ln w="12700" cap="flat">
              <a:solidFill>
                <a:srgbClr val="C8C8C8"/>
              </a:solidFill>
              <a:prstDash val="solid"/>
              <a:miter lim="400000"/>
            </a:ln>
          </a:right>
          <a:top>
            <a:ln w="12700" cap="flat">
              <a:solidFill>
                <a:srgbClr val="C8C8C8"/>
              </a:solidFill>
              <a:prstDash val="solid"/>
              <a:miter lim="400000"/>
            </a:ln>
          </a:top>
          <a:bottom>
            <a:ln w="12700" cap="flat">
              <a:solidFill>
                <a:srgbClr val="C8C8C8"/>
              </a:solidFill>
              <a:prstDash val="solid"/>
              <a:miter lim="400000"/>
            </a:ln>
          </a:bottom>
          <a:insideH>
            <a:ln w="12700" cap="flat">
              <a:solidFill>
                <a:srgbClr val="C8C8C8"/>
              </a:solidFill>
              <a:prstDash val="solid"/>
              <a:miter lim="400000"/>
            </a:ln>
          </a:insideH>
          <a:insideV>
            <a:ln w="12700" cap="flat">
              <a:solidFill>
                <a:srgbClr val="C8C8C8"/>
              </a:solidFill>
              <a:prstDash val="solid"/>
              <a:miter lim="400000"/>
            </a:ln>
          </a:insideV>
        </a:tcBdr>
        <a:fill>
          <a:noFill/>
        </a:fill>
      </a:tcStyle>
    </a:wholeTbl>
    <a:band2H>
      <a:tcTxStyle/>
      <a:tcStyle>
        <a:tcBdr/>
        <a:fill>
          <a:solidFill>
            <a:srgbClr val="A9A9A9"/>
          </a:solidFill>
        </a:fill>
      </a:tcStyle>
    </a:band2H>
    <a:firstCol>
      <a:tcTxStyle b="off" i="off">
        <a:font>
          <a:latin typeface="Avenir Next Medium"/>
          <a:ea typeface="Avenir Next Medium"/>
          <a:cs typeface="Avenir Next Medium"/>
        </a:font>
        <a:srgbClr val="000000"/>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chemeClr val="accent4">
              <a:hueOff val="-613784"/>
              <a:lumOff val="1275"/>
            </a:schemeClr>
          </a:solidFill>
        </a:fill>
      </a:tcStyle>
    </a:firstCol>
    <a:lastRow>
      <a:tcTxStyle b="on" i="off">
        <a:fontRef idx="minor">
          <a:srgbClr val="000000"/>
        </a:fontRef>
        <a:srgbClr val="000000"/>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4">
                  <a:hueOff val="-613784"/>
                  <a:lumOff val="1275"/>
                </a:schemeClr>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ff" i="off">
        <a:font>
          <a:latin typeface="Avenir Next Medium"/>
          <a:ea typeface="Avenir Next Medium"/>
          <a:cs typeface="Avenir Next Medium"/>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A9A9A9"/>
              </a:solidFill>
              <a:prstDash val="solid"/>
              <a:miter lim="400000"/>
            </a:ln>
          </a:top>
          <a:bottom>
            <a:ln w="38100" cap="flat">
              <a:solidFill>
                <a:srgbClr val="A9A9A9"/>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FF5300"/>
          </a:solidFill>
        </a:fill>
      </a:tcStyle>
    </a:firstRow>
  </a:tblStyle>
  <a:tblStyle styleId="{33BA23B1-9221-436E-865A-0063620EA4FD}" styleName="">
    <a:tblBg/>
    <a:wholeTbl>
      <a:tcTxStyle b="off" i="off">
        <a:font>
          <a:latin typeface="Avenir Next Regular"/>
          <a:ea typeface="Avenir Next Regular"/>
          <a:cs typeface="Avenir Next Regular"/>
        </a:font>
        <a:srgbClr val="000000"/>
      </a:tcTxStyle>
      <a:tcStyle>
        <a:tcBdr>
          <a:left>
            <a:ln w="12700" cap="flat">
              <a:solidFill>
                <a:srgbClr val="C8C8C8"/>
              </a:solidFill>
              <a:prstDash val="solid"/>
              <a:miter lim="400000"/>
            </a:ln>
          </a:left>
          <a:right>
            <a:ln w="12700" cap="flat">
              <a:solidFill>
                <a:srgbClr val="C8C8C8"/>
              </a:solidFill>
              <a:prstDash val="solid"/>
              <a:miter lim="400000"/>
            </a:ln>
          </a:right>
          <a:top>
            <a:ln w="12700" cap="flat">
              <a:solidFill>
                <a:srgbClr val="C8C8C8"/>
              </a:solidFill>
              <a:prstDash val="solid"/>
              <a:miter lim="400000"/>
            </a:ln>
          </a:top>
          <a:bottom>
            <a:ln w="12700" cap="flat">
              <a:solidFill>
                <a:srgbClr val="C8C8C8"/>
              </a:solidFill>
              <a:prstDash val="solid"/>
              <a:miter lim="400000"/>
            </a:ln>
          </a:bottom>
          <a:insideH>
            <a:ln w="12700" cap="flat">
              <a:solidFill>
                <a:srgbClr val="C8C8C8"/>
              </a:solidFill>
              <a:prstDash val="solid"/>
              <a:miter lim="400000"/>
            </a:ln>
          </a:insideH>
          <a:insideV>
            <a:ln w="12700" cap="flat">
              <a:solidFill>
                <a:srgbClr val="C8C8C8"/>
              </a:solidFill>
              <a:prstDash val="solid"/>
              <a:miter lim="400000"/>
            </a:ln>
          </a:insideV>
        </a:tcBdr>
        <a:fill>
          <a:noFill/>
        </a:fill>
      </a:tcStyle>
    </a:wholeTbl>
    <a:band2H>
      <a:tcTxStyle/>
      <a:tcStyle>
        <a:tcBdr/>
        <a:fill>
          <a:solidFill>
            <a:srgbClr val="A9A9A9"/>
          </a:solidFill>
        </a:fill>
      </a:tcStyle>
    </a:band2H>
    <a:firstCol>
      <a:tcTxStyle b="on" i="off">
        <a:fontRef idx="minor">
          <a:srgbClr val="FFFFFF"/>
        </a:fontRef>
        <a:srgbClr val="FFFFFF"/>
      </a:tcTxStyle>
      <a:tcStyle>
        <a:tcBdr>
          <a:left>
            <a:ln w="12700" cap="flat">
              <a:solidFill>
                <a:srgbClr val="A9A9A9"/>
              </a:solidFill>
              <a:prstDash val="solid"/>
              <a:miter lim="400000"/>
            </a:ln>
          </a:left>
          <a:right>
            <a:ln w="12700" cap="flat">
              <a:solidFill>
                <a:srgbClr val="C0C0C0"/>
              </a:solidFill>
              <a:prstDash val="solid"/>
              <a:miter lim="400000"/>
            </a:ln>
          </a:right>
          <a:top>
            <a:ln w="12700" cap="flat">
              <a:solidFill>
                <a:srgbClr val="C0C0C0"/>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solidFill>
            <a:srgbClr val="98195F"/>
          </a:solidFill>
        </a:fill>
      </a:tcStyle>
    </a:firstCol>
    <a:lastRow>
      <a:tcTxStyle b="on" i="off">
        <a:fontRef idx="minor">
          <a:srgbClr val="000000"/>
        </a:fontRef>
        <a:srgbClr val="000000"/>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6"/>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n" i="off">
        <a:fontRef idx="minor">
          <a:srgbClr val="FFFFFF"/>
        </a:fontRef>
        <a:srgbClr val="FFFFFF"/>
      </a:tcTxStyle>
      <a:tcStyle>
        <a:tcBdr>
          <a:left>
            <a:ln w="12700" cap="flat">
              <a:solidFill>
                <a:srgbClr val="C0C0C0"/>
              </a:solidFill>
              <a:prstDash val="solid"/>
              <a:miter lim="400000"/>
            </a:ln>
          </a:left>
          <a:right>
            <a:ln w="12700" cap="flat">
              <a:solidFill>
                <a:srgbClr val="C0C0C0"/>
              </a:solidFill>
              <a:prstDash val="solid"/>
              <a:miter lim="400000"/>
            </a:ln>
          </a:right>
          <a:top>
            <a:ln w="12700" cap="flat">
              <a:solidFill>
                <a:srgbClr val="A9A9A9"/>
              </a:solidFill>
              <a:prstDash val="solid"/>
              <a:miter lim="400000"/>
            </a:ln>
          </a:top>
          <a:bottom>
            <a:ln w="381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solidFill>
            <a:srgbClr val="650E48"/>
          </a:solidFill>
        </a:fill>
      </a:tcStyle>
    </a:firstRow>
  </a:tblStyle>
  <a:tblStyle styleId="{2708684C-4D16-4618-839F-0558EEFCDFE6}" styleName="">
    <a:tblBg/>
    <a:wholeTbl>
      <a:tcTxStyle b="off" i="off">
        <a:font>
          <a:latin typeface="Avenir Next Regular"/>
          <a:ea typeface="Avenir Next Regular"/>
          <a:cs typeface="Avenir Next Regular"/>
        </a:font>
        <a:srgbClr val="000000"/>
      </a:tcTxStyle>
      <a:tcStyle>
        <a:tcBdr>
          <a:left>
            <a:ln w="12700" cap="flat">
              <a:solidFill>
                <a:srgbClr val="C8C8C8"/>
              </a:solidFill>
              <a:prstDash val="solid"/>
              <a:miter lim="400000"/>
            </a:ln>
          </a:left>
          <a:right>
            <a:ln w="12700" cap="flat">
              <a:solidFill>
                <a:srgbClr val="C8C8C8"/>
              </a:solidFill>
              <a:prstDash val="solid"/>
              <a:miter lim="400000"/>
            </a:ln>
          </a:right>
          <a:top>
            <a:ln w="12700" cap="flat">
              <a:solidFill>
                <a:srgbClr val="C8C8C8"/>
              </a:solidFill>
              <a:prstDash val="solid"/>
              <a:miter lim="400000"/>
            </a:ln>
          </a:top>
          <a:bottom>
            <a:ln w="12700" cap="flat">
              <a:solidFill>
                <a:srgbClr val="C8C8C8"/>
              </a:solidFill>
              <a:prstDash val="solid"/>
              <a:miter lim="400000"/>
            </a:ln>
          </a:bottom>
          <a:insideH>
            <a:ln w="12700" cap="flat">
              <a:solidFill>
                <a:srgbClr val="C8C8C8"/>
              </a:solidFill>
              <a:prstDash val="solid"/>
              <a:miter lim="400000"/>
            </a:ln>
          </a:insideH>
          <a:insideV>
            <a:ln w="12700" cap="flat">
              <a:solidFill>
                <a:srgbClr val="C8C8C8"/>
              </a:solidFill>
              <a:prstDash val="solid"/>
              <a:miter lim="400000"/>
            </a:ln>
          </a:insideV>
        </a:tcBdr>
        <a:fill>
          <a:noFill/>
        </a:fill>
      </a:tcStyle>
    </a:wholeTbl>
    <a:band2H>
      <a:tcTxStyle/>
      <a:tcStyle>
        <a:tcBdr/>
        <a:fill>
          <a:solidFill>
            <a:srgbClr val="A9A9A9"/>
          </a:solidFill>
        </a:fill>
      </a:tcStyle>
    </a:band2H>
    <a:firstCol>
      <a:tcTxStyle b="on" i="off">
        <a:fontRef idx="minor">
          <a:srgbClr val="000000"/>
        </a:fontRef>
        <a:srgbClr val="000000"/>
      </a:tcTxStyle>
      <a:tcStyle>
        <a:tcBdr>
          <a:left>
            <a:ln w="12700" cap="flat">
              <a:solidFill>
                <a:srgbClr val="A9A9A9"/>
              </a:solidFill>
              <a:prstDash val="solid"/>
              <a:miter lim="400000"/>
            </a:ln>
          </a:left>
          <a:right>
            <a:ln w="381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firstCol>
    <a:lastRow>
      <a:tcTxStyle b="on" i="off">
        <a:fontRef idx="minor">
          <a:srgbClr val="000000"/>
        </a:fontRef>
        <a:srgbClr val="000000"/>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A9A9A9"/>
              </a:solidFill>
              <a:prstDash val="solid"/>
              <a:miter lim="400000"/>
            </a:ln>
          </a:top>
          <a:bottom>
            <a:ln w="38100" cap="flat">
              <a:solidFill>
                <a:srgbClr val="A9A9A9"/>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64646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56540" autoAdjust="0"/>
  </p:normalViewPr>
  <p:slideViewPr>
    <p:cSldViewPr snapToGrid="0">
      <p:cViewPr>
        <p:scale>
          <a:sx n="50" d="100"/>
          <a:sy n="50" d="100"/>
        </p:scale>
        <p:origin x="-40" y="-17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chartUserShapes" Target="../drawings/drawing1.xml"/><Relationship Id="rId2" Type="http://schemas.openxmlformats.org/officeDocument/2006/relationships/package" Target="../embeddings/Microsoft_Excel_Worksheet.xlsx"/><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3" Type="http://schemas.openxmlformats.org/officeDocument/2006/relationships/chartUserShapes" Target="../drawings/drawing2.xml"/><Relationship Id="rId2" Type="http://schemas.openxmlformats.org/officeDocument/2006/relationships/package" Target="../embeddings/Microsoft_Excel_Worksheet1.xlsx"/><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lineChart>
        <c:grouping val="standard"/>
        <c:varyColors val="0"/>
        <c:ser>
          <c:idx val="0"/>
          <c:order val="0"/>
          <c:tx>
            <c:strRef>
              <c:f>Sheet1!$C$16</c:f>
              <c:strCache>
                <c:ptCount val="1"/>
                <c:pt idx="0">
                  <c:v>A</c:v>
                </c:pt>
              </c:strCache>
            </c:strRef>
          </c:tx>
          <c:spPr>
            <a:ln w="28575">
              <a:solidFill>
                <a:srgbClr val="640000"/>
              </a:solidFill>
            </a:ln>
          </c:spPr>
          <c:marker>
            <c:symbol val="none"/>
          </c:marker>
          <c:cat>
            <c:numRef>
              <c:f>Sheet1!$B$17:$B$30</c:f>
              <c:numCache>
                <c:formatCode>General</c:formatCod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numCache>
            </c:numRef>
          </c:cat>
          <c:val>
            <c:numRef>
              <c:f>Sheet1!$C$17:$C$30</c:f>
              <c:numCache>
                <c:formatCode>General</c:formatCode>
                <c:ptCount val="14"/>
                <c:pt idx="0">
                  <c:v>1</c:v>
                </c:pt>
                <c:pt idx="1">
                  <c:v>3</c:v>
                </c:pt>
                <c:pt idx="2">
                  <c:v>5</c:v>
                </c:pt>
                <c:pt idx="3">
                  <c:v>6</c:v>
                </c:pt>
                <c:pt idx="4">
                  <c:v>8</c:v>
                </c:pt>
                <c:pt idx="5">
                  <c:v>9</c:v>
                </c:pt>
                <c:pt idx="6">
                  <c:v>10</c:v>
                </c:pt>
                <c:pt idx="7">
                  <c:v>11</c:v>
                </c:pt>
                <c:pt idx="8">
                  <c:v>11</c:v>
                </c:pt>
                <c:pt idx="9">
                  <c:v>12</c:v>
                </c:pt>
                <c:pt idx="10">
                  <c:v>11</c:v>
                </c:pt>
                <c:pt idx="11">
                  <c:v>12</c:v>
                </c:pt>
                <c:pt idx="12">
                  <c:v>12</c:v>
                </c:pt>
                <c:pt idx="13">
                  <c:v>22</c:v>
                </c:pt>
              </c:numCache>
            </c:numRef>
          </c:val>
          <c:smooth val="0"/>
          <c:extLst>
            <c:ext xmlns:c16="http://schemas.microsoft.com/office/drawing/2014/chart" uri="{C3380CC4-5D6E-409C-BE32-E72D297353CC}">
              <c16:uniqueId val="{00000000-94DF-452A-857C-AD54C26D6159}"/>
            </c:ext>
          </c:extLst>
        </c:ser>
        <c:ser>
          <c:idx val="1"/>
          <c:order val="1"/>
          <c:tx>
            <c:strRef>
              <c:f>Sheet1!$D$16</c:f>
              <c:strCache>
                <c:ptCount val="1"/>
                <c:pt idx="0">
                  <c:v>B</c:v>
                </c:pt>
              </c:strCache>
            </c:strRef>
          </c:tx>
          <c:spPr>
            <a:ln w="28575">
              <a:solidFill>
                <a:srgbClr val="B9B8A6"/>
              </a:solidFill>
            </a:ln>
          </c:spPr>
          <c:marker>
            <c:symbol val="none"/>
          </c:marker>
          <c:cat>
            <c:numRef>
              <c:f>Sheet1!$B$17:$B$30</c:f>
              <c:numCache>
                <c:formatCode>General</c:formatCod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numCache>
            </c:numRef>
          </c:cat>
          <c:val>
            <c:numRef>
              <c:f>Sheet1!$D$17:$D$30</c:f>
              <c:numCache>
                <c:formatCode>General</c:formatCode>
                <c:ptCount val="14"/>
                <c:pt idx="0">
                  <c:v>12</c:v>
                </c:pt>
                <c:pt idx="1">
                  <c:v>5</c:v>
                </c:pt>
                <c:pt idx="2">
                  <c:v>12</c:v>
                </c:pt>
                <c:pt idx="3">
                  <c:v>12</c:v>
                </c:pt>
                <c:pt idx="4">
                  <c:v>15</c:v>
                </c:pt>
                <c:pt idx="5">
                  <c:v>11</c:v>
                </c:pt>
                <c:pt idx="6">
                  <c:v>12</c:v>
                </c:pt>
                <c:pt idx="7">
                  <c:v>12</c:v>
                </c:pt>
                <c:pt idx="8">
                  <c:v>13</c:v>
                </c:pt>
                <c:pt idx="9">
                  <c:v>18</c:v>
                </c:pt>
                <c:pt idx="10">
                  <c:v>12</c:v>
                </c:pt>
                <c:pt idx="11">
                  <c:v>8</c:v>
                </c:pt>
                <c:pt idx="12">
                  <c:v>13</c:v>
                </c:pt>
                <c:pt idx="13">
                  <c:v>13.3333333333333</c:v>
                </c:pt>
              </c:numCache>
            </c:numRef>
          </c:val>
          <c:smooth val="0"/>
          <c:extLst>
            <c:ext xmlns:c16="http://schemas.microsoft.com/office/drawing/2014/chart" uri="{C3380CC4-5D6E-409C-BE32-E72D297353CC}">
              <c16:uniqueId val="{00000001-94DF-452A-857C-AD54C26D6159}"/>
            </c:ext>
          </c:extLst>
        </c:ser>
        <c:ser>
          <c:idx val="2"/>
          <c:order val="2"/>
          <c:tx>
            <c:strRef>
              <c:f>Sheet1!$E$16</c:f>
              <c:strCache>
                <c:ptCount val="1"/>
                <c:pt idx="0">
                  <c:v>C</c:v>
                </c:pt>
              </c:strCache>
            </c:strRef>
          </c:tx>
          <c:spPr>
            <a:ln w="28575">
              <a:solidFill>
                <a:srgbClr val="3D889A"/>
              </a:solidFill>
            </a:ln>
          </c:spPr>
          <c:marker>
            <c:symbol val="none"/>
          </c:marker>
          <c:cat>
            <c:numRef>
              <c:f>Sheet1!$B$17:$B$30</c:f>
              <c:numCache>
                <c:formatCode>General</c:formatCod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numCache>
            </c:numRef>
          </c:cat>
          <c:val>
            <c:numRef>
              <c:f>Sheet1!$E$17:$E$30</c:f>
              <c:numCache>
                <c:formatCode>General</c:formatCode>
                <c:ptCount val="14"/>
                <c:pt idx="0">
                  <c:v>5</c:v>
                </c:pt>
                <c:pt idx="1">
                  <c:v>22</c:v>
                </c:pt>
                <c:pt idx="2">
                  <c:v>12</c:v>
                </c:pt>
                <c:pt idx="3">
                  <c:v>10</c:v>
                </c:pt>
                <c:pt idx="4">
                  <c:v>8</c:v>
                </c:pt>
                <c:pt idx="5">
                  <c:v>5</c:v>
                </c:pt>
                <c:pt idx="6">
                  <c:v>2</c:v>
                </c:pt>
                <c:pt idx="7">
                  <c:v>5</c:v>
                </c:pt>
                <c:pt idx="8">
                  <c:v>4</c:v>
                </c:pt>
                <c:pt idx="9">
                  <c:v>4</c:v>
                </c:pt>
                <c:pt idx="10">
                  <c:v>4</c:v>
                </c:pt>
                <c:pt idx="11">
                  <c:v>2</c:v>
                </c:pt>
                <c:pt idx="12">
                  <c:v>2</c:v>
                </c:pt>
                <c:pt idx="13">
                  <c:v>3</c:v>
                </c:pt>
              </c:numCache>
            </c:numRef>
          </c:val>
          <c:smooth val="0"/>
          <c:extLst>
            <c:ext xmlns:c16="http://schemas.microsoft.com/office/drawing/2014/chart" uri="{C3380CC4-5D6E-409C-BE32-E72D297353CC}">
              <c16:uniqueId val="{00000002-94DF-452A-857C-AD54C26D6159}"/>
            </c:ext>
          </c:extLst>
        </c:ser>
        <c:dLbls>
          <c:showLegendKey val="0"/>
          <c:showVal val="0"/>
          <c:showCatName val="0"/>
          <c:showSerName val="0"/>
          <c:showPercent val="0"/>
          <c:showBubbleSize val="0"/>
        </c:dLbls>
        <c:smooth val="0"/>
        <c:axId val="2124426112"/>
        <c:axId val="2124437152"/>
      </c:lineChart>
      <c:catAx>
        <c:axId val="2124426112"/>
        <c:scaling>
          <c:orientation val="minMax"/>
        </c:scaling>
        <c:delete val="0"/>
        <c:axPos val="b"/>
        <c:numFmt formatCode="General" sourceLinked="1"/>
        <c:majorTickMark val="out"/>
        <c:minorTickMark val="none"/>
        <c:tickLblPos val="nextTo"/>
        <c:crossAx val="2124437152"/>
        <c:crosses val="autoZero"/>
        <c:auto val="1"/>
        <c:lblAlgn val="ctr"/>
        <c:lblOffset val="100"/>
        <c:noMultiLvlLbl val="0"/>
      </c:catAx>
      <c:valAx>
        <c:axId val="2124437152"/>
        <c:scaling>
          <c:orientation val="minMax"/>
        </c:scaling>
        <c:delete val="0"/>
        <c:axPos val="l"/>
        <c:majorGridlines>
          <c:spPr>
            <a:ln w="6350" cap="flat" cmpd="sng" algn="ctr">
              <a:noFill/>
              <a:prstDash val="solid"/>
              <a:round/>
            </a:ln>
            <a:effectLst/>
            <a:extLst>
              <a:ext uri="{91240B29-F687-4F45-9708-019B960494DF}">
                <a14:hiddenLine xmlns:a14="http://schemas.microsoft.com/office/drawing/2010/main" w="6350" cap="flat" cmpd="sng" algn="ctr">
                  <a:solidFill>
                    <a:sysClr val="windowText" lastClr="000000">
                      <a:tint val="75000"/>
                    </a:sysClr>
                  </a:solidFill>
                  <a:prstDash val="solid"/>
                  <a:round/>
                </a14:hiddenLine>
              </a:ext>
            </a:extLst>
          </c:spPr>
        </c:majorGridlines>
        <c:numFmt formatCode="General" sourceLinked="1"/>
        <c:majorTickMark val="none"/>
        <c:minorTickMark val="none"/>
        <c:tickLblPos val="nextTo"/>
        <c:crossAx val="2124426112"/>
        <c:crosses val="autoZero"/>
        <c:crossBetween val="between"/>
      </c:valAx>
      <c:spPr>
        <a:noFill/>
        <a:extLst>
          <a:ext uri="{909E8E84-426E-40DD-AFC4-6F175D3DCCD1}">
            <a14:hiddenFill xmlns:a14="http://schemas.microsoft.com/office/drawing/2010/main">
              <a:solidFill>
                <a:sysClr val="window" lastClr="FFFFFF"/>
              </a:solidFill>
            </a14:hiddenFill>
          </a:ext>
        </a:extLst>
      </c:spPr>
    </c:plotArea>
    <c:legend>
      <c:legendPos val="b"/>
      <c:overlay val="0"/>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6350" cap="flat" cmpd="sng" algn="ctr">
      <a:noFill/>
      <a:prstDash val="solid"/>
      <a:round/>
    </a:ln>
    <a:effectLst/>
    <a:extLst>
      <a:ext uri="{909E8E84-426E-40DD-AFC4-6F175D3DCCD1}">
        <a14:hiddenFill xmlns:a14="http://schemas.microsoft.com/office/drawing/2010/main">
          <a:solidFill>
            <a:sysClr val="window" lastClr="FFFFFF"/>
          </a:solidFill>
        </a14:hiddenFill>
      </a:ext>
      <a:ext uri="{91240B29-F687-4F45-9708-019B960494DF}">
        <a14:hiddenLine xmlns:a14="http://schemas.microsoft.com/office/drawing/2010/main" w="6350" cap="flat" cmpd="sng" algn="ctr">
          <a:solidFill>
            <a:sysClr val="windowText" lastClr="000000">
              <a:tint val="75000"/>
            </a:sysClr>
          </a:solidFill>
          <a:prstDash val="solid"/>
          <a:round/>
        </a14:hiddenLine>
      </a:ext>
    </a:extLst>
  </c:spPr>
  <c:txPr>
    <a:bodyPr/>
    <a:lstStyle/>
    <a:p>
      <a:pPr>
        <a:defRPr sz="2200" b="0">
          <a:latin typeface="Times New Roman" panose="02020603050405020304" pitchFamily="18" charset="0"/>
          <a:cs typeface="Times New Roman" panose="02020603050405020304" pitchFamily="18" charset="0"/>
        </a:defRPr>
      </a:pPr>
      <a:endParaRPr lang="zh-CN"/>
    </a:p>
  </c:txPr>
  <c:externalData r:id="rId2">
    <c:autoUpdate val="0"/>
  </c:externalData>
  <c:userShapes r:id="rId3"/>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lineChart>
        <c:grouping val="standard"/>
        <c:varyColors val="0"/>
        <c:ser>
          <c:idx val="0"/>
          <c:order val="0"/>
          <c:tx>
            <c:strRef>
              <c:f>Sheet1!$D$41</c:f>
              <c:strCache>
                <c:ptCount val="1"/>
                <c:pt idx="0">
                  <c:v>A</c:v>
                </c:pt>
              </c:strCache>
            </c:strRef>
          </c:tx>
          <c:spPr>
            <a:ln w="34925">
              <a:solidFill>
                <a:srgbClr val="640000"/>
              </a:solidFill>
            </a:ln>
          </c:spPr>
          <c:marker>
            <c:symbol val="none"/>
          </c:marker>
          <c:cat>
            <c:numRef>
              <c:f>Sheet1!$C$42:$C$50</c:f>
              <c:numCache>
                <c:formatCode>General</c:formatCode>
                <c:ptCount val="9"/>
                <c:pt idx="0">
                  <c:v>1</c:v>
                </c:pt>
                <c:pt idx="1">
                  <c:v>2</c:v>
                </c:pt>
                <c:pt idx="2">
                  <c:v>3</c:v>
                </c:pt>
                <c:pt idx="3">
                  <c:v>4</c:v>
                </c:pt>
                <c:pt idx="4">
                  <c:v>5</c:v>
                </c:pt>
                <c:pt idx="5">
                  <c:v>6</c:v>
                </c:pt>
                <c:pt idx="6">
                  <c:v>7</c:v>
                </c:pt>
                <c:pt idx="7">
                  <c:v>8</c:v>
                </c:pt>
                <c:pt idx="8">
                  <c:v>9</c:v>
                </c:pt>
              </c:numCache>
            </c:numRef>
          </c:cat>
          <c:val>
            <c:numRef>
              <c:f>Sheet1!$D$42:$D$50</c:f>
              <c:numCache>
                <c:formatCode>General</c:formatCode>
                <c:ptCount val="9"/>
                <c:pt idx="0">
                  <c:v>1</c:v>
                </c:pt>
                <c:pt idx="1">
                  <c:v>4</c:v>
                </c:pt>
                <c:pt idx="2">
                  <c:v>9</c:v>
                </c:pt>
                <c:pt idx="3">
                  <c:v>16</c:v>
                </c:pt>
                <c:pt idx="4">
                  <c:v>25</c:v>
                </c:pt>
                <c:pt idx="5">
                  <c:v>36</c:v>
                </c:pt>
                <c:pt idx="6">
                  <c:v>49</c:v>
                </c:pt>
                <c:pt idx="7">
                  <c:v>64</c:v>
                </c:pt>
                <c:pt idx="8">
                  <c:v>81</c:v>
                </c:pt>
              </c:numCache>
            </c:numRef>
          </c:val>
          <c:smooth val="0"/>
          <c:extLst>
            <c:ext xmlns:c16="http://schemas.microsoft.com/office/drawing/2014/chart" uri="{C3380CC4-5D6E-409C-BE32-E72D297353CC}">
              <c16:uniqueId val="{00000000-09D7-42C9-A7B3-CF501C19FDEB}"/>
            </c:ext>
          </c:extLst>
        </c:ser>
        <c:ser>
          <c:idx val="1"/>
          <c:order val="1"/>
          <c:tx>
            <c:strRef>
              <c:f>Sheet1!$E$41</c:f>
              <c:strCache>
                <c:ptCount val="1"/>
                <c:pt idx="0">
                  <c:v>B</c:v>
                </c:pt>
              </c:strCache>
            </c:strRef>
          </c:tx>
          <c:spPr>
            <a:ln w="12700">
              <a:solidFill>
                <a:srgbClr val="B9B8A6"/>
              </a:solidFill>
            </a:ln>
          </c:spPr>
          <c:marker>
            <c:symbol val="none"/>
          </c:marker>
          <c:cat>
            <c:numRef>
              <c:f>Sheet1!$C$42:$C$50</c:f>
              <c:numCache>
                <c:formatCode>General</c:formatCode>
                <c:ptCount val="9"/>
                <c:pt idx="0">
                  <c:v>1</c:v>
                </c:pt>
                <c:pt idx="1">
                  <c:v>2</c:v>
                </c:pt>
                <c:pt idx="2">
                  <c:v>3</c:v>
                </c:pt>
                <c:pt idx="3">
                  <c:v>4</c:v>
                </c:pt>
                <c:pt idx="4">
                  <c:v>5</c:v>
                </c:pt>
                <c:pt idx="5">
                  <c:v>6</c:v>
                </c:pt>
                <c:pt idx="6">
                  <c:v>7</c:v>
                </c:pt>
                <c:pt idx="7">
                  <c:v>8</c:v>
                </c:pt>
                <c:pt idx="8">
                  <c:v>9</c:v>
                </c:pt>
              </c:numCache>
            </c:numRef>
          </c:cat>
          <c:val>
            <c:numRef>
              <c:f>Sheet1!$E$42:$E$50</c:f>
              <c:numCache>
                <c:formatCode>General</c:formatCode>
                <c:ptCount val="9"/>
                <c:pt idx="0">
                  <c:v>10</c:v>
                </c:pt>
                <c:pt idx="1">
                  <c:v>20</c:v>
                </c:pt>
                <c:pt idx="2">
                  <c:v>30</c:v>
                </c:pt>
                <c:pt idx="3">
                  <c:v>40</c:v>
                </c:pt>
                <c:pt idx="4">
                  <c:v>50</c:v>
                </c:pt>
                <c:pt idx="5">
                  <c:v>60</c:v>
                </c:pt>
                <c:pt idx="6">
                  <c:v>70</c:v>
                </c:pt>
                <c:pt idx="7">
                  <c:v>80</c:v>
                </c:pt>
                <c:pt idx="8">
                  <c:v>90</c:v>
                </c:pt>
              </c:numCache>
            </c:numRef>
          </c:val>
          <c:smooth val="0"/>
          <c:extLst>
            <c:ext xmlns:c16="http://schemas.microsoft.com/office/drawing/2014/chart" uri="{C3380CC4-5D6E-409C-BE32-E72D297353CC}">
              <c16:uniqueId val="{00000001-09D7-42C9-A7B3-CF501C19FDEB}"/>
            </c:ext>
          </c:extLst>
        </c:ser>
        <c:ser>
          <c:idx val="2"/>
          <c:order val="2"/>
          <c:tx>
            <c:strRef>
              <c:f>Sheet1!$F$41</c:f>
              <c:strCache>
                <c:ptCount val="1"/>
                <c:pt idx="0">
                  <c:v>C</c:v>
                </c:pt>
              </c:strCache>
            </c:strRef>
          </c:tx>
          <c:spPr>
            <a:ln>
              <a:solidFill>
                <a:srgbClr val="3D889A"/>
              </a:solidFill>
            </a:ln>
          </c:spPr>
          <c:marker>
            <c:symbol val="none"/>
          </c:marker>
          <c:cat>
            <c:numRef>
              <c:f>Sheet1!$C$42:$C$50</c:f>
              <c:numCache>
                <c:formatCode>General</c:formatCode>
                <c:ptCount val="9"/>
                <c:pt idx="0">
                  <c:v>1</c:v>
                </c:pt>
                <c:pt idx="1">
                  <c:v>2</c:v>
                </c:pt>
                <c:pt idx="2">
                  <c:v>3</c:v>
                </c:pt>
                <c:pt idx="3">
                  <c:v>4</c:v>
                </c:pt>
                <c:pt idx="4">
                  <c:v>5</c:v>
                </c:pt>
                <c:pt idx="5">
                  <c:v>6</c:v>
                </c:pt>
                <c:pt idx="6">
                  <c:v>7</c:v>
                </c:pt>
                <c:pt idx="7">
                  <c:v>8</c:v>
                </c:pt>
                <c:pt idx="8">
                  <c:v>9</c:v>
                </c:pt>
              </c:numCache>
            </c:numRef>
          </c:cat>
          <c:val>
            <c:numRef>
              <c:f>Sheet1!$F$42:$F$50</c:f>
              <c:numCache>
                <c:formatCode>General</c:formatCode>
                <c:ptCount val="9"/>
                <c:pt idx="0">
                  <c:v>9</c:v>
                </c:pt>
                <c:pt idx="1">
                  <c:v>26</c:v>
                </c:pt>
                <c:pt idx="2">
                  <c:v>41</c:v>
                </c:pt>
                <c:pt idx="3">
                  <c:v>54</c:v>
                </c:pt>
                <c:pt idx="4">
                  <c:v>65</c:v>
                </c:pt>
                <c:pt idx="5">
                  <c:v>74</c:v>
                </c:pt>
                <c:pt idx="6">
                  <c:v>81</c:v>
                </c:pt>
                <c:pt idx="7">
                  <c:v>86</c:v>
                </c:pt>
                <c:pt idx="8">
                  <c:v>89</c:v>
                </c:pt>
              </c:numCache>
            </c:numRef>
          </c:val>
          <c:smooth val="0"/>
          <c:extLst>
            <c:ext xmlns:c16="http://schemas.microsoft.com/office/drawing/2014/chart" uri="{C3380CC4-5D6E-409C-BE32-E72D297353CC}">
              <c16:uniqueId val="{00000002-09D7-42C9-A7B3-CF501C19FDEB}"/>
            </c:ext>
          </c:extLst>
        </c:ser>
        <c:dLbls>
          <c:showLegendKey val="0"/>
          <c:showVal val="0"/>
          <c:showCatName val="0"/>
          <c:showSerName val="0"/>
          <c:showPercent val="0"/>
          <c:showBubbleSize val="0"/>
        </c:dLbls>
        <c:smooth val="0"/>
        <c:axId val="1204030016"/>
        <c:axId val="1204030496"/>
      </c:lineChart>
      <c:catAx>
        <c:axId val="1204030016"/>
        <c:scaling>
          <c:orientation val="minMax"/>
        </c:scaling>
        <c:delete val="0"/>
        <c:axPos val="b"/>
        <c:numFmt formatCode="General" sourceLinked="1"/>
        <c:majorTickMark val="out"/>
        <c:minorTickMark val="none"/>
        <c:tickLblPos val="nextTo"/>
        <c:crossAx val="1204030496"/>
        <c:crosses val="autoZero"/>
        <c:auto val="1"/>
        <c:lblAlgn val="ctr"/>
        <c:lblOffset val="100"/>
        <c:noMultiLvlLbl val="0"/>
      </c:catAx>
      <c:valAx>
        <c:axId val="1204030496"/>
        <c:scaling>
          <c:orientation val="minMax"/>
        </c:scaling>
        <c:delete val="0"/>
        <c:axPos val="l"/>
        <c:majorGridlines>
          <c:spPr>
            <a:ln w="6350" cap="flat" cmpd="sng" algn="ctr">
              <a:noFill/>
              <a:prstDash val="solid"/>
              <a:round/>
            </a:ln>
            <a:effectLst/>
            <a:extLst>
              <a:ext uri="{91240B29-F687-4F45-9708-019B960494DF}">
                <a14:hiddenLine xmlns:a14="http://schemas.microsoft.com/office/drawing/2010/main" w="6350" cap="flat" cmpd="sng" algn="ctr">
                  <a:solidFill>
                    <a:sysClr val="windowText" lastClr="000000">
                      <a:tint val="75000"/>
                    </a:sysClr>
                  </a:solidFill>
                  <a:prstDash val="solid"/>
                  <a:round/>
                </a14:hiddenLine>
              </a:ext>
            </a:extLst>
          </c:spPr>
        </c:majorGridlines>
        <c:numFmt formatCode="General" sourceLinked="1"/>
        <c:majorTickMark val="none"/>
        <c:minorTickMark val="none"/>
        <c:tickLblPos val="nextTo"/>
        <c:crossAx val="1204030016"/>
        <c:crosses val="autoZero"/>
        <c:crossBetween val="between"/>
      </c:valAx>
      <c:spPr>
        <a:noFill/>
        <a:extLst>
          <a:ext uri="{909E8E84-426E-40DD-AFC4-6F175D3DCCD1}">
            <a14:hiddenFill xmlns:a14="http://schemas.microsoft.com/office/drawing/2010/main">
              <a:solidFill>
                <a:sysClr val="window" lastClr="FFFFFF"/>
              </a:solidFill>
            </a14:hiddenFill>
          </a:ext>
        </a:extLst>
      </c:spPr>
    </c:plotArea>
    <c:legend>
      <c:legendPos val="b"/>
      <c:overlay val="0"/>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6350" cap="flat" cmpd="sng" algn="ctr">
      <a:noFill/>
      <a:prstDash val="solid"/>
      <a:round/>
    </a:ln>
    <a:effectLst/>
    <a:extLst>
      <a:ext uri="{909E8E84-426E-40DD-AFC4-6F175D3DCCD1}">
        <a14:hiddenFill xmlns:a14="http://schemas.microsoft.com/office/drawing/2010/main">
          <a:solidFill>
            <a:sysClr val="window" lastClr="FFFFFF"/>
          </a:solidFill>
        </a14:hiddenFill>
      </a:ext>
      <a:ext uri="{91240B29-F687-4F45-9708-019B960494DF}">
        <a14:hiddenLine xmlns:a14="http://schemas.microsoft.com/office/drawing/2010/main" w="6350" cap="flat" cmpd="sng" algn="ctr">
          <a:solidFill>
            <a:sysClr val="windowText" lastClr="000000">
              <a:tint val="75000"/>
            </a:sysClr>
          </a:solidFill>
          <a:prstDash val="solid"/>
          <a:round/>
        </a14:hiddenLine>
      </a:ext>
    </a:extLst>
  </c:spPr>
  <c:txPr>
    <a:bodyPr/>
    <a:lstStyle/>
    <a:p>
      <a:pPr>
        <a:defRPr sz="2200">
          <a:latin typeface="Times New Roman" panose="02020603050405020304" pitchFamily="18" charset="0"/>
          <a:cs typeface="Times New Roman" panose="02020603050405020304" pitchFamily="18" charset="0"/>
        </a:defRPr>
      </a:pPr>
      <a:endParaRPr lang="zh-CN"/>
    </a:p>
  </c:txPr>
  <c:externalData r:id="rId2">
    <c:autoUpdate val="0"/>
  </c:externalData>
  <c:userShapes r:id="rId3"/>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17222"/>
          <c:y val="7.1482199999999996E-2"/>
          <c:w val="0.63060400000000005"/>
          <c:h val="0.81236900000000001"/>
        </c:manualLayout>
      </c:layout>
      <c:barChart>
        <c:barDir val="bar"/>
        <c:grouping val="stacked"/>
        <c:varyColors val="0"/>
        <c:ser>
          <c:idx val="0"/>
          <c:order val="0"/>
          <c:tx>
            <c:strRef>
              <c:f>Sheet1!$A$2</c:f>
              <c:strCache>
                <c:ptCount val="1"/>
                <c:pt idx="0">
                  <c:v>区域 1</c:v>
                </c:pt>
              </c:strCache>
            </c:strRef>
          </c:tx>
          <c:spPr>
            <a:gradFill flip="none" rotWithShape="1">
              <a:gsLst>
                <a:gs pos="1000">
                  <a:schemeClr val="accent5"/>
                </a:gs>
                <a:gs pos="78000">
                  <a:schemeClr val="accent1">
                    <a:lumMod val="60000"/>
                    <a:lumOff val="40000"/>
                  </a:schemeClr>
                </a:gs>
                <a:gs pos="100000">
                  <a:schemeClr val="accent1">
                    <a:lumMod val="40000"/>
                    <a:lumOff val="60000"/>
                  </a:schemeClr>
                </a:gs>
              </a:gsLst>
              <a:lin ang="10800000" scaled="0"/>
              <a:tileRect/>
            </a:gradFill>
          </c:spPr>
          <c:invertIfNegative val="0"/>
          <c:dLbls>
            <c:numFmt formatCode="#,##0.000" sourceLinked="0"/>
            <c:spPr>
              <a:noFill/>
              <a:ln>
                <a:noFill/>
              </a:ln>
              <a:effectLst/>
            </c:spPr>
            <c:txPr>
              <a:bodyPr/>
              <a:lstStyle/>
              <a:p>
                <a:pPr>
                  <a:defRPr sz="3200" b="0" i="0" u="none" strike="noStrike">
                    <a:solidFill>
                      <a:srgbClr val="FFFFFF"/>
                    </a:solidFill>
                    <a:latin typeface="Avenir Next Regular"/>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Sheet1!$B$1:$F$1</c:f>
              <c:strCache>
                <c:ptCount val="5"/>
                <c:pt idx="0">
                  <c:v>Baseline</c:v>
                </c:pt>
                <c:pt idx="1">
                  <c:v>+CRO</c:v>
                </c:pt>
                <c:pt idx="2">
                  <c:v>+VSS</c:v>
                </c:pt>
                <c:pt idx="3">
                  <c:v>+ASY</c:v>
                </c:pt>
                <c:pt idx="4">
                  <c:v>ALL Shape</c:v>
                </c:pt>
              </c:strCache>
            </c:strRef>
          </c:cat>
          <c:val>
            <c:numRef>
              <c:f>Sheet1!$B$2:$F$2</c:f>
              <c:numCache>
                <c:formatCode>General</c:formatCode>
                <c:ptCount val="5"/>
                <c:pt idx="0">
                  <c:v>9.5000000000000001E-2</c:v>
                </c:pt>
                <c:pt idx="1">
                  <c:v>0.105</c:v>
                </c:pt>
                <c:pt idx="2">
                  <c:v>9.9000000000000005E-2</c:v>
                </c:pt>
                <c:pt idx="3">
                  <c:v>0.105</c:v>
                </c:pt>
                <c:pt idx="4">
                  <c:v>0.10100000000000001</c:v>
                </c:pt>
              </c:numCache>
            </c:numRef>
          </c:val>
          <c:extLst>
            <c:ext xmlns:c16="http://schemas.microsoft.com/office/drawing/2014/chart" uri="{C3380CC4-5D6E-409C-BE32-E72D297353CC}">
              <c16:uniqueId val="{00000000-C9E6-4E90-B3EE-5E68D5395DB4}"/>
            </c:ext>
          </c:extLst>
        </c:ser>
        <c:dLbls>
          <c:showLegendKey val="0"/>
          <c:showVal val="0"/>
          <c:showCatName val="0"/>
          <c:showSerName val="0"/>
          <c:showPercent val="0"/>
          <c:showBubbleSize val="0"/>
        </c:dLbls>
        <c:gapWidth val="72"/>
        <c:overlap val="61"/>
        <c:axId val="2094734552"/>
        <c:axId val="2094734553"/>
      </c:barChart>
      <c:catAx>
        <c:axId val="2094734552"/>
        <c:scaling>
          <c:orientation val="maxMin"/>
        </c:scaling>
        <c:delete val="0"/>
        <c:axPos val="l"/>
        <c:numFmt formatCode="General" sourceLinked="0"/>
        <c:majorTickMark val="none"/>
        <c:minorTickMark val="none"/>
        <c:tickLblPos val="nextTo"/>
        <c:spPr>
          <a:ln w="12700" cap="flat">
            <a:solidFill>
              <a:srgbClr val="000000"/>
            </a:solidFill>
            <a:prstDash val="solid"/>
            <a:miter lim="400000"/>
          </a:ln>
        </c:spPr>
        <c:txPr>
          <a:bodyPr rot="0"/>
          <a:lstStyle/>
          <a:p>
            <a:pPr>
              <a:defRPr sz="3060" b="0" i="0" u="none" strike="noStrike">
                <a:solidFill>
                  <a:srgbClr val="000000"/>
                </a:solidFill>
                <a:latin typeface="Avenir Next Regular"/>
              </a:defRPr>
            </a:pPr>
            <a:endParaRPr lang="zh-CN"/>
          </a:p>
        </c:txPr>
        <c:crossAx val="2094734553"/>
        <c:crosses val="autoZero"/>
        <c:auto val="1"/>
        <c:lblAlgn val="ctr"/>
        <c:lblOffset val="100"/>
        <c:noMultiLvlLbl val="1"/>
      </c:catAx>
      <c:valAx>
        <c:axId val="2094734553"/>
        <c:scaling>
          <c:orientation val="minMax"/>
          <c:max val="0.15000000000000002"/>
        </c:scaling>
        <c:delete val="0"/>
        <c:axPos val="t"/>
        <c:majorGridlines>
          <c:spPr>
            <a:ln w="12700" cap="flat">
              <a:solidFill>
                <a:srgbClr val="000000"/>
              </a:solidFill>
              <a:prstDash val="solid"/>
              <a:miter lim="400000"/>
            </a:ln>
          </c:spPr>
        </c:majorGridlines>
        <c:numFmt formatCode="General" sourceLinked="0"/>
        <c:majorTickMark val="none"/>
        <c:minorTickMark val="none"/>
        <c:tickLblPos val="high"/>
        <c:spPr>
          <a:ln w="12700" cap="flat">
            <a:noFill/>
            <a:prstDash val="solid"/>
            <a:miter lim="400000"/>
          </a:ln>
        </c:spPr>
        <c:txPr>
          <a:bodyPr rot="0"/>
          <a:lstStyle/>
          <a:p>
            <a:pPr>
              <a:defRPr sz="3060" b="0" i="0" u="none" strike="noStrike">
                <a:solidFill>
                  <a:srgbClr val="000000"/>
                </a:solidFill>
                <a:latin typeface="Avenir Next Regular"/>
              </a:defRPr>
            </a:pPr>
            <a:endParaRPr lang="zh-CN"/>
          </a:p>
        </c:txPr>
        <c:crossAx val="2094734552"/>
        <c:crosses val="autoZero"/>
        <c:crossBetween val="between"/>
        <c:majorUnit val="0.03"/>
        <c:minorUnit val="1.4999999999999999E-2"/>
      </c:valAx>
      <c:spPr>
        <a:noFill/>
        <a:ln w="12700" cap="flat">
          <a:noFill/>
          <a:miter lim="400000"/>
        </a:ln>
        <a:effectLst/>
      </c:spPr>
    </c:plotArea>
    <c:plotVisOnly val="1"/>
    <c:dispBlanksAs val="gap"/>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17222"/>
          <c:y val="7.1482199999999996E-2"/>
          <c:w val="0.63060400000000005"/>
          <c:h val="0.81236900000000001"/>
        </c:manualLayout>
      </c:layout>
      <c:barChart>
        <c:barDir val="bar"/>
        <c:grouping val="stacked"/>
        <c:varyColors val="0"/>
        <c:ser>
          <c:idx val="0"/>
          <c:order val="0"/>
          <c:tx>
            <c:strRef>
              <c:f>Sheet1!$A$2</c:f>
              <c:strCache>
                <c:ptCount val="1"/>
                <c:pt idx="0">
                  <c:v>区域 1</c:v>
                </c:pt>
              </c:strCache>
            </c:strRef>
          </c:tx>
          <c:spPr>
            <a:gradFill>
              <a:gsLst>
                <a:gs pos="1000">
                  <a:schemeClr val="accent5"/>
                </a:gs>
                <a:gs pos="78000">
                  <a:schemeClr val="accent1">
                    <a:lumMod val="60000"/>
                    <a:lumOff val="40000"/>
                  </a:schemeClr>
                </a:gs>
                <a:gs pos="100000">
                  <a:schemeClr val="accent1">
                    <a:lumMod val="40000"/>
                    <a:lumOff val="60000"/>
                  </a:schemeClr>
                </a:gs>
              </a:gsLst>
              <a:lin ang="10800000" scaled="0"/>
            </a:gradFill>
            <a:ln w="12700" cap="flat">
              <a:noFill/>
              <a:miter lim="400000"/>
            </a:ln>
            <a:effectLst/>
          </c:spPr>
          <c:invertIfNegative val="0"/>
          <c:dLbls>
            <c:numFmt formatCode="#,##0.000" sourceLinked="0"/>
            <c:spPr>
              <a:noFill/>
              <a:ln>
                <a:noFill/>
              </a:ln>
              <a:effectLst/>
            </c:spPr>
            <c:txPr>
              <a:bodyPr/>
              <a:lstStyle/>
              <a:p>
                <a:pPr>
                  <a:defRPr sz="3600" b="0" i="0" u="none" strike="noStrike">
                    <a:solidFill>
                      <a:srgbClr val="FFFFFF"/>
                    </a:solidFill>
                    <a:latin typeface="Avenir Next Regular"/>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Sheet1!$B$1:$F$1</c:f>
              <c:strCache>
                <c:ptCount val="5"/>
                <c:pt idx="0">
                  <c:v>Baseline</c:v>
                </c:pt>
                <c:pt idx="1">
                  <c:v>+CRO</c:v>
                </c:pt>
                <c:pt idx="2">
                  <c:v>+VSS</c:v>
                </c:pt>
                <c:pt idx="3">
                  <c:v>+ASY</c:v>
                </c:pt>
                <c:pt idx="4">
                  <c:v>ALL Shape</c:v>
                </c:pt>
              </c:strCache>
            </c:strRef>
          </c:cat>
          <c:val>
            <c:numRef>
              <c:f>Sheet1!$B$2:$F$2</c:f>
              <c:numCache>
                <c:formatCode>General</c:formatCode>
                <c:ptCount val="5"/>
                <c:pt idx="0">
                  <c:v>8.5999999999999993E-2</c:v>
                </c:pt>
                <c:pt idx="1">
                  <c:v>9.5000000000000001E-2</c:v>
                </c:pt>
                <c:pt idx="2">
                  <c:v>9.2999999999999999E-2</c:v>
                </c:pt>
                <c:pt idx="3">
                  <c:v>9.2999999999999999E-2</c:v>
                </c:pt>
                <c:pt idx="4">
                  <c:v>0.10299999999999999</c:v>
                </c:pt>
              </c:numCache>
            </c:numRef>
          </c:val>
          <c:extLst>
            <c:ext xmlns:c16="http://schemas.microsoft.com/office/drawing/2014/chart" uri="{C3380CC4-5D6E-409C-BE32-E72D297353CC}">
              <c16:uniqueId val="{00000000-D929-4866-94CB-3BDA88474A46}"/>
            </c:ext>
          </c:extLst>
        </c:ser>
        <c:dLbls>
          <c:showLegendKey val="0"/>
          <c:showVal val="0"/>
          <c:showCatName val="0"/>
          <c:showSerName val="0"/>
          <c:showPercent val="0"/>
          <c:showBubbleSize val="0"/>
        </c:dLbls>
        <c:gapWidth val="77"/>
        <c:overlap val="100"/>
        <c:axId val="2094734552"/>
        <c:axId val="2094734553"/>
      </c:barChart>
      <c:catAx>
        <c:axId val="2094734552"/>
        <c:scaling>
          <c:orientation val="maxMin"/>
        </c:scaling>
        <c:delete val="0"/>
        <c:axPos val="l"/>
        <c:numFmt formatCode="General" sourceLinked="0"/>
        <c:majorTickMark val="none"/>
        <c:minorTickMark val="none"/>
        <c:tickLblPos val="nextTo"/>
        <c:spPr>
          <a:ln w="12700" cap="flat">
            <a:solidFill>
              <a:srgbClr val="000000"/>
            </a:solidFill>
            <a:prstDash val="solid"/>
            <a:miter lim="400000"/>
          </a:ln>
        </c:spPr>
        <c:txPr>
          <a:bodyPr rot="0"/>
          <a:lstStyle/>
          <a:p>
            <a:pPr>
              <a:defRPr sz="3060" b="0" i="0" u="none" strike="noStrike">
                <a:solidFill>
                  <a:srgbClr val="000000"/>
                </a:solidFill>
                <a:latin typeface="Avenir Next Regular"/>
              </a:defRPr>
            </a:pPr>
            <a:endParaRPr lang="zh-CN"/>
          </a:p>
        </c:txPr>
        <c:crossAx val="2094734553"/>
        <c:crosses val="autoZero"/>
        <c:auto val="1"/>
        <c:lblAlgn val="ctr"/>
        <c:lblOffset val="100"/>
        <c:noMultiLvlLbl val="1"/>
      </c:catAx>
      <c:valAx>
        <c:axId val="2094734553"/>
        <c:scaling>
          <c:orientation val="minMax"/>
          <c:max val="0.15000000000000002"/>
        </c:scaling>
        <c:delete val="0"/>
        <c:axPos val="t"/>
        <c:majorGridlines>
          <c:spPr>
            <a:ln w="12700" cap="flat">
              <a:solidFill>
                <a:srgbClr val="000000"/>
              </a:solidFill>
              <a:prstDash val="solid"/>
              <a:miter lim="400000"/>
            </a:ln>
          </c:spPr>
        </c:majorGridlines>
        <c:numFmt formatCode="General" sourceLinked="0"/>
        <c:majorTickMark val="none"/>
        <c:minorTickMark val="none"/>
        <c:tickLblPos val="high"/>
        <c:spPr>
          <a:ln w="12700" cap="flat">
            <a:noFill/>
            <a:prstDash val="solid"/>
            <a:miter lim="400000"/>
          </a:ln>
        </c:spPr>
        <c:txPr>
          <a:bodyPr rot="0"/>
          <a:lstStyle/>
          <a:p>
            <a:pPr>
              <a:defRPr sz="3060" b="0" i="0" u="none" strike="noStrike">
                <a:solidFill>
                  <a:srgbClr val="000000"/>
                </a:solidFill>
                <a:latin typeface="Avenir Next Regular"/>
              </a:defRPr>
            </a:pPr>
            <a:endParaRPr lang="zh-CN"/>
          </a:p>
        </c:txPr>
        <c:crossAx val="2094734552"/>
        <c:crosses val="autoZero"/>
        <c:crossBetween val="between"/>
        <c:majorUnit val="0.03"/>
        <c:minorUnit val="1.4999999999999999E-2"/>
      </c:valAx>
      <c:spPr>
        <a:noFill/>
        <a:ln w="12700" cap="flat">
          <a:noFill/>
          <a:miter lim="400000"/>
        </a:ln>
        <a:effectLst/>
      </c:spPr>
    </c:plotArea>
    <c:plotVisOnly val="1"/>
    <c:dispBlanksAs val="gap"/>
    <c:showDLblsOverMax val="1"/>
  </c:chart>
  <c:spPr>
    <a:noFill/>
    <a:ln>
      <a:noFill/>
    </a:ln>
    <a:effectLst/>
  </c:spPr>
  <c:externalData r:id="rId1">
    <c:autoUpdate val="0"/>
  </c:externalData>
</c:chartSpace>
</file>

<file path=ppt/drawings/drawing1.xml><?xml version="1.0" encoding="utf-8"?>
<c:userShapes xmlns:c="http://schemas.openxmlformats.org/drawingml/2006/chart">
  <cdr:relSizeAnchor xmlns:cdr="http://schemas.openxmlformats.org/drawingml/2006/chartDrawing">
    <cdr:from>
      <cdr:x>0.05749</cdr:x>
      <cdr:y>0.01764</cdr:y>
    </cdr:from>
    <cdr:to>
      <cdr:x>0.16202</cdr:x>
      <cdr:y>0.10583</cdr:y>
    </cdr:to>
    <cdr:sp macro="" textlink="">
      <cdr:nvSpPr>
        <cdr:cNvPr id="2" name="Unit">
          <a:extLst xmlns:a="http://schemas.openxmlformats.org/drawingml/2006/main">
            <a:ext uri="{FF2B5EF4-FFF2-40B4-BE49-F238E27FC236}">
              <a16:creationId xmlns:a16="http://schemas.microsoft.com/office/drawing/2014/main" id="{E252F141-1FC1-3CED-F2BA-287BCBFA2C28}"/>
            </a:ext>
          </a:extLst>
        </cdr:cNvPr>
        <cdr:cNvSpPr txBox="1"/>
      </cdr:nvSpPr>
      <cdr:spPr>
        <a:xfrm xmlns:a="http://schemas.openxmlformats.org/drawingml/2006/main">
          <a:off x="279400" y="50800"/>
          <a:ext cx="508000" cy="254000"/>
        </a:xfrm>
        <a:prstGeom xmlns:a="http://schemas.openxmlformats.org/drawingml/2006/main" prst="rect">
          <a:avLst/>
        </a:prstGeom>
      </cdr:spPr>
      <cdr:txBody>
        <a:bodyPr xmlns:a="http://schemas.openxmlformats.org/drawingml/2006/main" vertOverflow="clip" vert="horz" rtlCol="0"/>
        <a:lstStyle xmlns:a="http://schemas.openxmlformats.org/drawingml/2006/main"/>
        <a:p xmlns:a="http://schemas.openxmlformats.org/drawingml/2006/main">
          <a:endParaRPr lang="zh-CN" altLang="en-US" sz="800">
            <a:solidFill>
              <a:srgbClr val="000000"/>
            </a:solidFill>
            <a:latin typeface="Arial" panose="020B0604020202020204" pitchFamily="34" charset="0"/>
            <a:ea typeface="黑体" panose="02010609060101010101" pitchFamily="49" charset="-122"/>
          </a:endParaRPr>
        </a:p>
      </cdr:txBody>
    </cdr:sp>
  </cdr:relSizeAnchor>
</c:userShapes>
</file>

<file path=ppt/drawings/drawing2.xml><?xml version="1.0" encoding="utf-8"?>
<c:userShapes xmlns:c="http://schemas.openxmlformats.org/drawingml/2006/chart">
  <cdr:relSizeAnchor xmlns:cdr="http://schemas.openxmlformats.org/drawingml/2006/chartDrawing">
    <cdr:from>
      <cdr:x>0.07056</cdr:x>
      <cdr:y>0.01764</cdr:y>
    </cdr:from>
    <cdr:to>
      <cdr:x>0.17508</cdr:x>
      <cdr:y>0.10583</cdr:y>
    </cdr:to>
    <cdr:sp macro="" textlink="">
      <cdr:nvSpPr>
        <cdr:cNvPr id="2" name="Unit">
          <a:extLst xmlns:a="http://schemas.openxmlformats.org/drawingml/2006/main">
            <a:ext uri="{FF2B5EF4-FFF2-40B4-BE49-F238E27FC236}">
              <a16:creationId xmlns:a16="http://schemas.microsoft.com/office/drawing/2014/main" id="{A1B0F0EB-E035-8AB0-72ED-46427715FA77}"/>
            </a:ext>
          </a:extLst>
        </cdr:cNvPr>
        <cdr:cNvSpPr txBox="1"/>
      </cdr:nvSpPr>
      <cdr:spPr>
        <a:xfrm xmlns:a="http://schemas.openxmlformats.org/drawingml/2006/main">
          <a:off x="342900" y="50800"/>
          <a:ext cx="508000" cy="254000"/>
        </a:xfrm>
        <a:prstGeom xmlns:a="http://schemas.openxmlformats.org/drawingml/2006/main" prst="rect">
          <a:avLst/>
        </a:prstGeom>
      </cdr:spPr>
      <cdr:txBody>
        <a:bodyPr xmlns:a="http://schemas.openxmlformats.org/drawingml/2006/main" vertOverflow="clip" vert="horz" rtlCol="0"/>
        <a:lstStyle xmlns:a="http://schemas.openxmlformats.org/drawingml/2006/main"/>
        <a:p xmlns:a="http://schemas.openxmlformats.org/drawingml/2006/main">
          <a:endParaRPr lang="zh-CN" altLang="en-US" sz="800">
            <a:solidFill>
              <a:srgbClr val="000000"/>
            </a:solidFill>
            <a:latin typeface="Arial" panose="020B0604020202020204" pitchFamily="34" charset="0"/>
            <a:ea typeface="黑体" panose="02010609060101010101" pitchFamily="49" charset="-122"/>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8" name="Shape 168"/>
          <p:cNvSpPr>
            <a:spLocks noGrp="1" noRot="1" noChangeAspect="1"/>
          </p:cNvSpPr>
          <p:nvPr>
            <p:ph type="sldImg"/>
          </p:nvPr>
        </p:nvSpPr>
        <p:spPr>
          <a:xfrm>
            <a:off x="1143000" y="685800"/>
            <a:ext cx="4572000" cy="3429000"/>
          </a:xfrm>
          <a:prstGeom prst="rect">
            <a:avLst/>
          </a:prstGeom>
        </p:spPr>
        <p:txBody>
          <a:bodyPr/>
          <a:lstStyle/>
          <a:p>
            <a:endParaRPr/>
          </a:p>
        </p:txBody>
      </p:sp>
      <p:sp>
        <p:nvSpPr>
          <p:cNvPr id="169" name="Shape 16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814929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Many studies have pointed out that the sequential information embedded in price and return series often has strong predictive power for future returns. However, this information is not the most commonly used by people. Quantitative investors typically rely on basic statistical features like mean, standard deviation, and skewness to extract information from past price and return charts.</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Research indicates that if we regress the price and volume series over time, we can extract more information, leading to better predictions of future returns, especially around earnings announcement dates. From the first chart, we observe that stocks A, B, and C have similar means and standard deviations but entirely different chart patterns. Stock A shows high recent returns, while Stock C shows high distant returns. Generally, literature suggests that stocks with high short-term returns and low long-term returns are often overvalued and may experience lower future returns.</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Similarly, from the second chart, we see differences due to sequential information. Stocks A, B, and C again have similar return means and standard deviations, but Stock A is accelerating upwards, while Stock C is decelerating. Research indicates that accelerating stocks are often overvalued, leading to lower future returns, especially around earnings expectations.  The accelerating upwards trend or high recent return, they are both salience, and investors are very sensitive to these salience and overvalued these </a:t>
            </a:r>
            <a:r>
              <a:rPr lang="en-US" altLang="zh-CN" sz="1400" b="0" i="0" dirty="0">
                <a:solidFill>
                  <a:srgbClr val="DDDAD6"/>
                </a:solidFill>
                <a:effectLst/>
                <a:highlight>
                  <a:srgbClr val="181A1B"/>
                </a:highlight>
                <a:latin typeface="Microsoft YaHei" panose="020B0503020204020204" pitchFamily="34" charset="-122"/>
                <a:ea typeface="Microsoft YaHei" panose="020B0503020204020204" pitchFamily="34" charset="-122"/>
              </a:rPr>
              <a:t>Small probability event.</a:t>
            </a:r>
          </a:p>
          <a:p>
            <a:pPr algn="just"/>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This suggests that examining the sequence of stock prices and returns is highly valuable. To distinguish between stocks A and C in the first chart, we calculate their correlation coefficients with a decreasing time series. Stock A shows a large negative correlation, Stock C shows a large positive correlation, and Stock B's correlation is nearly zero. This effectively differentiates these stocks with similar return means but different sequential information characteristics.</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And, in the second chart, we calculate the area between the price chart and a increasing time series to characterize the convexity of a stock's price series. This helps to distinguish between accelerating and decelerating stocks.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30547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just" defTabSz="457200" eaLnBrk="1" fontAlgn="auto" latinLnBrk="0" hangingPunct="1">
              <a:lnSpc>
                <a:spcPct val="117999"/>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Based on these insights, we developed several operators to identify and extract more information from price series. Our first operator, CRO, first uses a rolling window to extract specific price series values, then standardizes and normalizes both the price series and a decreasing time series. By dot these 2 values, we obtain the final CRO value. We incorporated basic features like closing price multiplied by the number of shares and achieved good results, with an training IR of 0.105 and valid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ir</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of 0.095. We also included other price series features, like the highest price and weighted average price, which all improved the baseline model.</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1412350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just" defTabSz="457200" eaLnBrk="1" fontAlgn="auto" latinLnBrk="0" hangingPunct="1">
              <a:lnSpc>
                <a:spcPct val="117999"/>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In addition to the first operator, we developed another to capture the convexity in price series, called VSS.  Also first Using a rolling window, we standardize the time and price series, then calculate their difference and the area above and below the time series to get the final VSS value. We also used basic price series information like the closing price multiplied by the number of outstanding shares and achieved good results, with an training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ir</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of 0.099 and valid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ir</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of 0.093. We also tested the robustness of this operator with other price series information, like the highest price multiplied by the number of outstanding shares, and also shows an improvement in the baseline model.</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en-US" altLang="zh-CN" dirty="0"/>
          </a:p>
          <a:p>
            <a:pPr marL="0" marR="0" lvl="0" indent="0" algn="just" defTabSz="457200" eaLnBrk="1" fontAlgn="auto" latinLnBrk="0" hangingPunct="1">
              <a:lnSpc>
                <a:spcPct val="117999"/>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We also developed a factor based on the VSS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operato</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This factor performed well both in-sample and out-of-sample. </a:t>
            </a:r>
          </a:p>
          <a:p>
            <a:pPr marL="0" marR="0" lvl="0" indent="0" algn="just" defTabSz="457200" eaLnBrk="1" fontAlgn="auto" latinLnBrk="0" hangingPunct="1">
              <a:lnSpc>
                <a:spcPct val="117999"/>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What’s more, here we want to give and explanation of using the close*</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shsout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p>
          <a:p>
            <a:pPr marL="0" marR="0" lvl="0" indent="0" algn="just" defTabSz="457200" eaLnBrk="1" fontAlgn="auto" latinLnBrk="0" hangingPunct="1">
              <a:lnSpc>
                <a:spcPct val="117999"/>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We used this to account for significant drops due to stock splits, which could negatively impact our sequence information calculations if we only us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uclose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This adjustment improved our results,  and it’s also consistent across fast and slow modes.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22235967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Besides these two operators, we added one op to extract distribution features. This operator calculates the probability of standardized return series being greater than one minus the probability of being less than one. Also first using a rolling window, we standardize the return series and count the days  which its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zscore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is above 1 and minus the number of days which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zscore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is below one, thus obtaining a proxy for asymmetric information. We used the basic daily return series to put into the operator, and it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givs</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out improvements over the baseline model, with an training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ir</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of 0.105 and valid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ir</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of 0.093. Testing with five-day returns and intraday return series also showed robustness.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This operator captures high-order information about the distribution, reflecting the asymmetry of monthly return series. We also  compared it to skewness, and the results shows that our operator performed significantly better.</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28702129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816855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
    <p:spTree>
      <p:nvGrpSpPr>
        <p:cNvPr id="1" name=""/>
        <p:cNvGrpSpPr/>
        <p:nvPr/>
      </p:nvGrpSpPr>
      <p:grpSpPr>
        <a:xfrm>
          <a:off x="0" y="0"/>
          <a:ext cx="0" cy="0"/>
          <a:chOff x="0" y="0"/>
          <a:chExt cx="0" cy="0"/>
        </a:xfrm>
      </p:grpSpPr>
      <p:sp>
        <p:nvSpPr>
          <p:cNvPr id="11" name="演示文稿标题"/>
          <p:cNvSpPr txBox="1">
            <a:spLocks noGrp="1"/>
          </p:cNvSpPr>
          <p:nvPr>
            <p:ph type="title" hasCustomPrompt="1"/>
          </p:nvPr>
        </p:nvSpPr>
        <p:spPr>
          <a:xfrm>
            <a:off x="1270000" y="3289300"/>
            <a:ext cx="21844000" cy="3879454"/>
          </a:xfrm>
          <a:prstGeom prst="rect">
            <a:avLst/>
          </a:prstGeom>
        </p:spPr>
        <p:txBody>
          <a:bodyPr/>
          <a:lstStyle>
            <a:lvl1pPr defTabSz="2438338">
              <a:lnSpc>
                <a:spcPct val="90000"/>
              </a:lnSpc>
              <a:defRPr sz="11600" spc="-348">
                <a:gradFill flip="none" rotWithShape="1">
                  <a:gsLst>
                    <a:gs pos="0">
                      <a:srgbClr val="1E98FD"/>
                    </a:gs>
                    <a:gs pos="100000">
                      <a:srgbClr val="FF00F7"/>
                    </a:gs>
                  </a:gsLst>
                  <a:lin ang="3960000" scaled="0"/>
                </a:gradFill>
              </a:defRPr>
            </a:lvl1pPr>
          </a:lstStyle>
          <a:p>
            <a:r>
              <a:t>演示文稿标题</a:t>
            </a:r>
          </a:p>
        </p:txBody>
      </p:sp>
      <p:sp>
        <p:nvSpPr>
          <p:cNvPr id="12" name="作者和日期"/>
          <p:cNvSpPr txBox="1">
            <a:spLocks noGrp="1"/>
          </p:cNvSpPr>
          <p:nvPr>
            <p:ph type="body" sz="quarter" idx="21" hasCustomPrompt="1"/>
          </p:nvPr>
        </p:nvSpPr>
        <p:spPr>
          <a:xfrm>
            <a:off x="1270000" y="12160429"/>
            <a:ext cx="21844000" cy="694056"/>
          </a:xfrm>
          <a:prstGeom prst="rect">
            <a:avLst/>
          </a:prstGeom>
        </p:spPr>
        <p:txBody>
          <a:bodyPr/>
          <a:lstStyle>
            <a:lvl1pPr marL="0" indent="0" algn="ctr" defTabSz="792479">
              <a:spcBef>
                <a:spcPts val="0"/>
              </a:spcBef>
              <a:buClrTx/>
              <a:buSzTx/>
              <a:buNone/>
              <a:defRPr sz="3359">
                <a:latin typeface="Avenir Next Medium"/>
                <a:ea typeface="Avenir Next Medium"/>
                <a:cs typeface="Avenir Next Medium"/>
                <a:sym typeface="Avenir Next Medium"/>
              </a:defRPr>
            </a:lvl1pPr>
          </a:lstStyle>
          <a:p>
            <a:r>
              <a:t>作者和日期</a:t>
            </a:r>
          </a:p>
        </p:txBody>
      </p:sp>
      <p:sp>
        <p:nvSpPr>
          <p:cNvPr id="13" name="正文级别 1…"/>
          <p:cNvSpPr txBox="1">
            <a:spLocks noGrp="1"/>
          </p:cNvSpPr>
          <p:nvPr>
            <p:ph type="body" sz="quarter" idx="1" hasCustomPrompt="1"/>
          </p:nvPr>
        </p:nvSpPr>
        <p:spPr>
          <a:xfrm>
            <a:off x="1270000" y="6985000"/>
            <a:ext cx="21844000" cy="2512352"/>
          </a:xfrm>
          <a:prstGeom prst="rect">
            <a:avLst/>
          </a:prstGeom>
        </p:spPr>
        <p:txBody>
          <a:bodyPr/>
          <a:lstStyle>
            <a:lvl1pPr marL="0" indent="0" algn="ctr" defTabSz="825500">
              <a:spcBef>
                <a:spcPts val="0"/>
              </a:spcBef>
              <a:buClrTx/>
              <a:buSzTx/>
              <a:buNone/>
              <a:defRPr sz="6400">
                <a:latin typeface="Avenir Next Medium"/>
                <a:ea typeface="Avenir Next Medium"/>
                <a:cs typeface="Avenir Next Medium"/>
                <a:sym typeface="Avenir Next Medium"/>
              </a:defRPr>
            </a:lvl1pPr>
            <a:lvl2pPr marL="0" indent="0" algn="ctr" defTabSz="825500">
              <a:spcBef>
                <a:spcPts val="0"/>
              </a:spcBef>
              <a:buClrTx/>
              <a:buSzTx/>
              <a:buNone/>
              <a:defRPr sz="6400">
                <a:latin typeface="Avenir Next Medium"/>
                <a:ea typeface="Avenir Next Medium"/>
                <a:cs typeface="Avenir Next Medium"/>
                <a:sym typeface="Avenir Next Medium"/>
              </a:defRPr>
            </a:lvl2pPr>
            <a:lvl3pPr marL="0" indent="0" algn="ctr" defTabSz="825500">
              <a:spcBef>
                <a:spcPts val="0"/>
              </a:spcBef>
              <a:buClrTx/>
              <a:buSzTx/>
              <a:buNone/>
              <a:defRPr sz="6400">
                <a:latin typeface="Avenir Next Medium"/>
                <a:ea typeface="Avenir Next Medium"/>
                <a:cs typeface="Avenir Next Medium"/>
                <a:sym typeface="Avenir Next Medium"/>
              </a:defRPr>
            </a:lvl3pPr>
            <a:lvl4pPr marL="0" indent="0" algn="ctr" defTabSz="825500">
              <a:spcBef>
                <a:spcPts val="0"/>
              </a:spcBef>
              <a:buClrTx/>
              <a:buSzTx/>
              <a:buNone/>
              <a:defRPr sz="6400">
                <a:latin typeface="Avenir Next Medium"/>
                <a:ea typeface="Avenir Next Medium"/>
                <a:cs typeface="Avenir Next Medium"/>
                <a:sym typeface="Avenir Next Medium"/>
              </a:defRPr>
            </a:lvl4pPr>
            <a:lvl5pPr marL="0" indent="0" algn="ctr" defTabSz="825500">
              <a:spcBef>
                <a:spcPts val="0"/>
              </a:spcBef>
              <a:buClrTx/>
              <a:buSzTx/>
              <a:buNone/>
              <a:defRPr sz="6400">
                <a:latin typeface="Avenir Next Medium"/>
                <a:ea typeface="Avenir Next Medium"/>
                <a:cs typeface="Avenir Next Medium"/>
                <a:sym typeface="Avenir Next Medium"/>
              </a:defRPr>
            </a:lvl5pPr>
          </a:lstStyle>
          <a:p>
            <a:r>
              <a:t>演示文稿副标题</a:t>
            </a:r>
          </a:p>
          <a:p>
            <a:pPr lvl="1"/>
            <a:endParaRPr/>
          </a:p>
          <a:p>
            <a:pPr lvl="2"/>
            <a:endParaRPr/>
          </a:p>
          <a:p>
            <a:pPr lvl="3"/>
            <a:endParaRPr/>
          </a:p>
          <a:p>
            <a:pPr lvl="4"/>
            <a:endParaRPr/>
          </a:p>
        </p:txBody>
      </p:sp>
      <p:sp>
        <p:nvSpPr>
          <p:cNvPr id="14"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标题与照片">
    <p:spTree>
      <p:nvGrpSpPr>
        <p:cNvPr id="1" name=""/>
        <p:cNvGrpSpPr/>
        <p:nvPr/>
      </p:nvGrpSpPr>
      <p:grpSpPr>
        <a:xfrm>
          <a:off x="0" y="0"/>
          <a:ext cx="0" cy="0"/>
          <a:chOff x="0" y="0"/>
          <a:chExt cx="0" cy="0"/>
        </a:xfrm>
      </p:grpSpPr>
      <p:sp>
        <p:nvSpPr>
          <p:cNvPr id="21" name="深蓝色背景下两只触碰的水母"/>
          <p:cNvSpPr>
            <a:spLocks noGrp="1"/>
          </p:cNvSpPr>
          <p:nvPr>
            <p:ph type="pic" idx="21"/>
          </p:nvPr>
        </p:nvSpPr>
        <p:spPr>
          <a:xfrm>
            <a:off x="0" y="-1270000"/>
            <a:ext cx="24384000" cy="16256001"/>
          </a:xfrm>
          <a:prstGeom prst="rect">
            <a:avLst/>
          </a:prstGeom>
        </p:spPr>
        <p:txBody>
          <a:bodyPr lIns="91439" tIns="45719" rIns="91439" bIns="45719">
            <a:noAutofit/>
          </a:bodyPr>
          <a:lstStyle/>
          <a:p>
            <a:endParaRPr/>
          </a:p>
        </p:txBody>
      </p:sp>
      <p:sp>
        <p:nvSpPr>
          <p:cNvPr id="22" name="作者和日期"/>
          <p:cNvSpPr txBox="1">
            <a:spLocks noGrp="1"/>
          </p:cNvSpPr>
          <p:nvPr>
            <p:ph type="body" sz="quarter" idx="22" hasCustomPrompt="1"/>
          </p:nvPr>
        </p:nvSpPr>
        <p:spPr>
          <a:xfrm>
            <a:off x="1270000" y="12166600"/>
            <a:ext cx="21844000" cy="694055"/>
          </a:xfrm>
          <a:prstGeom prst="rect">
            <a:avLst/>
          </a:prstGeom>
        </p:spPr>
        <p:txBody>
          <a:bodyPr/>
          <a:lstStyle>
            <a:lvl1pPr marL="0" indent="0" algn="ctr" defTabSz="792479">
              <a:spcBef>
                <a:spcPts val="0"/>
              </a:spcBef>
              <a:buClrTx/>
              <a:buSzTx/>
              <a:buNone/>
              <a:defRPr sz="3359">
                <a:solidFill>
                  <a:srgbClr val="FFFFFF"/>
                </a:solidFill>
                <a:latin typeface="Avenir Next Medium"/>
                <a:ea typeface="Avenir Next Medium"/>
                <a:cs typeface="Avenir Next Medium"/>
                <a:sym typeface="Avenir Next Medium"/>
              </a:defRPr>
            </a:lvl1pPr>
          </a:lstStyle>
          <a:p>
            <a:r>
              <a:t>作者和日期</a:t>
            </a:r>
          </a:p>
        </p:txBody>
      </p:sp>
      <p:sp>
        <p:nvSpPr>
          <p:cNvPr id="23" name="演示文稿标题"/>
          <p:cNvSpPr txBox="1">
            <a:spLocks noGrp="1"/>
          </p:cNvSpPr>
          <p:nvPr>
            <p:ph type="title" hasCustomPrompt="1"/>
          </p:nvPr>
        </p:nvSpPr>
        <p:spPr>
          <a:xfrm>
            <a:off x="1270000" y="3289300"/>
            <a:ext cx="21844000" cy="3873500"/>
          </a:xfrm>
          <a:prstGeom prst="rect">
            <a:avLst/>
          </a:prstGeom>
        </p:spPr>
        <p:txBody>
          <a:bodyPr/>
          <a:lstStyle>
            <a:lvl1pPr defTabSz="2438400">
              <a:lnSpc>
                <a:spcPct val="90000"/>
              </a:lnSpc>
              <a:defRPr sz="11600" spc="-348">
                <a:solidFill>
                  <a:srgbClr val="FFFFFF"/>
                </a:solidFill>
              </a:defRPr>
            </a:lvl1pPr>
          </a:lstStyle>
          <a:p>
            <a:r>
              <a:t>演示文稿标题</a:t>
            </a:r>
          </a:p>
        </p:txBody>
      </p:sp>
      <p:sp>
        <p:nvSpPr>
          <p:cNvPr id="24" name="正文级别 1…"/>
          <p:cNvSpPr txBox="1">
            <a:spLocks noGrp="1"/>
          </p:cNvSpPr>
          <p:nvPr>
            <p:ph type="body" sz="quarter" idx="1" hasCustomPrompt="1"/>
          </p:nvPr>
        </p:nvSpPr>
        <p:spPr>
          <a:xfrm>
            <a:off x="1270000" y="6985000"/>
            <a:ext cx="21844000" cy="2514600"/>
          </a:xfrm>
          <a:prstGeom prst="rect">
            <a:avLst/>
          </a:prstGeom>
        </p:spPr>
        <p:txBody>
          <a:bodyPr/>
          <a:lstStyle>
            <a:lvl1pPr marL="0" indent="0" algn="ctr" defTabSz="825500">
              <a:spcBef>
                <a:spcPts val="0"/>
              </a:spcBef>
              <a:buClrTx/>
              <a:buSzTx/>
              <a:buNone/>
              <a:defRPr sz="6400">
                <a:solidFill>
                  <a:srgbClr val="FFFFFF"/>
                </a:solidFill>
                <a:latin typeface="Avenir Next Medium"/>
                <a:ea typeface="Avenir Next Medium"/>
                <a:cs typeface="Avenir Next Medium"/>
                <a:sym typeface="Avenir Next Medium"/>
              </a:defRPr>
            </a:lvl1pPr>
            <a:lvl2pPr marL="0" indent="0" algn="ctr" defTabSz="825500">
              <a:spcBef>
                <a:spcPts val="0"/>
              </a:spcBef>
              <a:buClrTx/>
              <a:buSzTx/>
              <a:buNone/>
              <a:defRPr sz="6400">
                <a:solidFill>
                  <a:srgbClr val="FFFFFF"/>
                </a:solidFill>
                <a:latin typeface="Avenir Next Medium"/>
                <a:ea typeface="Avenir Next Medium"/>
                <a:cs typeface="Avenir Next Medium"/>
                <a:sym typeface="Avenir Next Medium"/>
              </a:defRPr>
            </a:lvl2pPr>
            <a:lvl3pPr marL="0" indent="0" algn="ctr" defTabSz="825500">
              <a:spcBef>
                <a:spcPts val="0"/>
              </a:spcBef>
              <a:buClrTx/>
              <a:buSzTx/>
              <a:buNone/>
              <a:defRPr sz="6400">
                <a:solidFill>
                  <a:srgbClr val="FFFFFF"/>
                </a:solidFill>
                <a:latin typeface="Avenir Next Medium"/>
                <a:ea typeface="Avenir Next Medium"/>
                <a:cs typeface="Avenir Next Medium"/>
                <a:sym typeface="Avenir Next Medium"/>
              </a:defRPr>
            </a:lvl3pPr>
            <a:lvl4pPr marL="0" indent="0" algn="ctr" defTabSz="825500">
              <a:spcBef>
                <a:spcPts val="0"/>
              </a:spcBef>
              <a:buClrTx/>
              <a:buSzTx/>
              <a:buNone/>
              <a:defRPr sz="6400">
                <a:solidFill>
                  <a:srgbClr val="FFFFFF"/>
                </a:solidFill>
                <a:latin typeface="Avenir Next Medium"/>
                <a:ea typeface="Avenir Next Medium"/>
                <a:cs typeface="Avenir Next Medium"/>
                <a:sym typeface="Avenir Next Medium"/>
              </a:defRPr>
            </a:lvl4pPr>
            <a:lvl5pPr marL="0" indent="0" algn="ctr" defTabSz="825500">
              <a:spcBef>
                <a:spcPts val="0"/>
              </a:spcBef>
              <a:buClrTx/>
              <a:buSzTx/>
              <a:buNone/>
              <a:defRPr sz="6400">
                <a:solidFill>
                  <a:srgbClr val="FFFFFF"/>
                </a:solidFill>
                <a:latin typeface="Avenir Next Medium"/>
                <a:ea typeface="Avenir Next Medium"/>
                <a:cs typeface="Avenir Next Medium"/>
                <a:sym typeface="Avenir Next Medium"/>
              </a:defRPr>
            </a:lvl5pPr>
          </a:lstStyle>
          <a:p>
            <a:r>
              <a:t>演示文稿副标题</a:t>
            </a:r>
          </a:p>
          <a:p>
            <a:pPr lvl="1"/>
            <a:endParaRPr/>
          </a:p>
          <a:p>
            <a:pPr lvl="2"/>
            <a:endParaRPr/>
          </a:p>
          <a:p>
            <a:pPr lvl="3"/>
            <a:endParaRPr/>
          </a:p>
          <a:p>
            <a:pPr lvl="4"/>
            <a:endParaRPr/>
          </a:p>
        </p:txBody>
      </p:sp>
      <p:sp>
        <p:nvSpPr>
          <p:cNvPr id="25" name="幻灯片编号"/>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标题与照片（备选）">
    <p:spTree>
      <p:nvGrpSpPr>
        <p:cNvPr id="1" name=""/>
        <p:cNvGrpSpPr/>
        <p:nvPr/>
      </p:nvGrpSpPr>
      <p:grpSpPr>
        <a:xfrm>
          <a:off x="0" y="0"/>
          <a:ext cx="0" cy="0"/>
          <a:chOff x="0" y="0"/>
          <a:chExt cx="0" cy="0"/>
        </a:xfrm>
      </p:grpSpPr>
      <p:sp>
        <p:nvSpPr>
          <p:cNvPr id="32" name="蓝色背景下的两只水母"/>
          <p:cNvSpPr>
            <a:spLocks noGrp="1"/>
          </p:cNvSpPr>
          <p:nvPr>
            <p:ph type="pic" idx="21"/>
          </p:nvPr>
        </p:nvSpPr>
        <p:spPr>
          <a:xfrm>
            <a:off x="7962900" y="-25400"/>
            <a:ext cx="20650200" cy="13766800"/>
          </a:xfrm>
          <a:prstGeom prst="rect">
            <a:avLst/>
          </a:prstGeom>
        </p:spPr>
        <p:txBody>
          <a:bodyPr lIns="91439" tIns="45719" rIns="91439" bIns="45719">
            <a:noAutofit/>
          </a:bodyPr>
          <a:lstStyle/>
          <a:p>
            <a:endParaRPr/>
          </a:p>
        </p:txBody>
      </p:sp>
      <p:sp>
        <p:nvSpPr>
          <p:cNvPr id="33" name="幻灯片标题"/>
          <p:cNvSpPr txBox="1">
            <a:spLocks noGrp="1"/>
          </p:cNvSpPr>
          <p:nvPr>
            <p:ph type="title" hasCustomPrompt="1"/>
          </p:nvPr>
        </p:nvSpPr>
        <p:spPr>
          <a:xfrm>
            <a:off x="1270000" y="3885108"/>
            <a:ext cx="9652000" cy="3200203"/>
          </a:xfrm>
          <a:prstGeom prst="rect">
            <a:avLst/>
          </a:prstGeom>
        </p:spPr>
        <p:txBody>
          <a:bodyPr/>
          <a:lstStyle>
            <a:lvl1pPr>
              <a:defRPr>
                <a:gradFill flip="none" rotWithShape="1">
                  <a:gsLst>
                    <a:gs pos="0">
                      <a:srgbClr val="FF00D8"/>
                    </a:gs>
                    <a:gs pos="100000">
                      <a:srgbClr val="FF542E"/>
                    </a:gs>
                  </a:gsLst>
                  <a:lin ang="3960000" scaled="0"/>
                </a:gradFill>
              </a:defRPr>
            </a:lvl1pPr>
          </a:lstStyle>
          <a:p>
            <a:r>
              <a:t>幻灯片标题</a:t>
            </a:r>
          </a:p>
        </p:txBody>
      </p:sp>
      <p:sp>
        <p:nvSpPr>
          <p:cNvPr id="34" name="正文级别 1…"/>
          <p:cNvSpPr txBox="1">
            <a:spLocks noGrp="1"/>
          </p:cNvSpPr>
          <p:nvPr>
            <p:ph type="body" sz="quarter" idx="1" hasCustomPrompt="1"/>
          </p:nvPr>
        </p:nvSpPr>
        <p:spPr>
          <a:xfrm>
            <a:off x="1270000" y="6845300"/>
            <a:ext cx="9652000" cy="5664200"/>
          </a:xfrm>
          <a:prstGeom prst="rect">
            <a:avLst/>
          </a:prstGeom>
        </p:spPr>
        <p:txBody>
          <a:bodyPr/>
          <a:lstStyle>
            <a:lvl1pPr marL="0" indent="0" algn="ctr" defTabSz="825500">
              <a:spcBef>
                <a:spcPts val="0"/>
              </a:spcBef>
              <a:buClrTx/>
              <a:buSzTx/>
              <a:buNone/>
              <a:defRPr sz="5400">
                <a:latin typeface="Avenir Next Medium"/>
                <a:ea typeface="Avenir Next Medium"/>
                <a:cs typeface="Avenir Next Medium"/>
                <a:sym typeface="Avenir Next Medium"/>
              </a:defRPr>
            </a:lvl1pPr>
            <a:lvl2pPr marL="0" indent="457200" algn="ctr" defTabSz="825500">
              <a:spcBef>
                <a:spcPts val="0"/>
              </a:spcBef>
              <a:buClrTx/>
              <a:buSzTx/>
              <a:buNone/>
              <a:defRPr sz="5400">
                <a:latin typeface="Avenir Next Medium"/>
                <a:ea typeface="Avenir Next Medium"/>
                <a:cs typeface="Avenir Next Medium"/>
                <a:sym typeface="Avenir Next Medium"/>
              </a:defRPr>
            </a:lvl2pPr>
            <a:lvl3pPr marL="0" indent="914400" algn="ctr" defTabSz="825500">
              <a:spcBef>
                <a:spcPts val="0"/>
              </a:spcBef>
              <a:buClrTx/>
              <a:buSzTx/>
              <a:buNone/>
              <a:defRPr sz="5400">
                <a:latin typeface="Avenir Next Medium"/>
                <a:ea typeface="Avenir Next Medium"/>
                <a:cs typeface="Avenir Next Medium"/>
                <a:sym typeface="Avenir Next Medium"/>
              </a:defRPr>
            </a:lvl3pPr>
            <a:lvl4pPr marL="0" indent="1371600" algn="ctr" defTabSz="825500">
              <a:spcBef>
                <a:spcPts val="0"/>
              </a:spcBef>
              <a:buClrTx/>
              <a:buSzTx/>
              <a:buNone/>
              <a:defRPr sz="5400">
                <a:latin typeface="Avenir Next Medium"/>
                <a:ea typeface="Avenir Next Medium"/>
                <a:cs typeface="Avenir Next Medium"/>
                <a:sym typeface="Avenir Next Medium"/>
              </a:defRPr>
            </a:lvl4pPr>
            <a:lvl5pPr marL="0" indent="1828800" algn="ctr" defTabSz="825500">
              <a:spcBef>
                <a:spcPts val="0"/>
              </a:spcBef>
              <a:buClrTx/>
              <a:buSzTx/>
              <a:buNone/>
              <a:defRPr sz="5400">
                <a:latin typeface="Avenir Next Medium"/>
                <a:ea typeface="Avenir Next Medium"/>
                <a:cs typeface="Avenir Next Medium"/>
                <a:sym typeface="Avenir Next Medium"/>
              </a:defRPr>
            </a:lvl5pPr>
          </a:lstStyle>
          <a:p>
            <a:r>
              <a:t>幻灯片副标题</a:t>
            </a:r>
          </a:p>
          <a:p>
            <a:pPr lvl="1"/>
            <a:endParaRPr/>
          </a:p>
          <a:p>
            <a:pPr lvl="2"/>
            <a:endParaRPr/>
          </a:p>
          <a:p>
            <a:pPr lvl="3"/>
            <a:endParaRPr/>
          </a:p>
          <a:p>
            <a:pPr lvl="4"/>
            <a:endParaRPr/>
          </a:p>
        </p:txBody>
      </p:sp>
      <p:sp>
        <p:nvSpPr>
          <p:cNvPr id="35"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42" name="幻灯片标题"/>
          <p:cNvSpPr txBox="1">
            <a:spLocks noGrp="1"/>
          </p:cNvSpPr>
          <p:nvPr>
            <p:ph type="title" hasCustomPrompt="1"/>
          </p:nvPr>
        </p:nvSpPr>
        <p:spPr>
          <a:prstGeom prst="rect">
            <a:avLst/>
          </a:prstGeom>
        </p:spPr>
        <p:txBody>
          <a:bodyPr/>
          <a:lstStyle/>
          <a:p>
            <a:r>
              <a:t>幻灯片标题</a:t>
            </a:r>
          </a:p>
        </p:txBody>
      </p:sp>
      <p:sp>
        <p:nvSpPr>
          <p:cNvPr id="43" name="幻灯片副标题"/>
          <p:cNvSpPr txBox="1">
            <a:spLocks noGrp="1"/>
          </p:cNvSpPr>
          <p:nvPr>
            <p:ph type="body" sz="quarter" idx="21" hasCustomPrompt="1"/>
          </p:nvPr>
        </p:nvSpPr>
        <p:spPr>
          <a:xfrm>
            <a:off x="1270000" y="2133600"/>
            <a:ext cx="21844000" cy="1016000"/>
          </a:xfrm>
          <a:prstGeom prst="rect">
            <a:avLst/>
          </a:prstGeom>
        </p:spPr>
        <p:txBody>
          <a:bodyPr/>
          <a:lstStyle>
            <a:lvl1pPr marL="0" indent="0" algn="ctr" defTabSz="784225">
              <a:spcBef>
                <a:spcPts val="0"/>
              </a:spcBef>
              <a:buClrTx/>
              <a:buSzTx/>
              <a:buNone/>
              <a:defRPr sz="5130">
                <a:latin typeface="Avenir Next Medium"/>
                <a:ea typeface="Avenir Next Medium"/>
                <a:cs typeface="Avenir Next Medium"/>
                <a:sym typeface="Avenir Next Medium"/>
              </a:defRPr>
            </a:lvl1pPr>
          </a:lstStyle>
          <a:p>
            <a:r>
              <a:t>幻灯片副标题</a:t>
            </a:r>
          </a:p>
        </p:txBody>
      </p:sp>
      <p:sp>
        <p:nvSpPr>
          <p:cNvPr id="44" name="正文级别 1…"/>
          <p:cNvSpPr txBox="1">
            <a:spLocks noGrp="1"/>
          </p:cNvSpPr>
          <p:nvPr>
            <p:ph type="body" idx="1" hasCustomPrompt="1"/>
          </p:nvPr>
        </p:nvSpPr>
        <p:spPr>
          <a:prstGeom prst="rect">
            <a:avLst/>
          </a:prstGeom>
        </p:spPr>
        <p:txBody>
          <a:bodyPr/>
          <a:lstStyle/>
          <a:p>
            <a:r>
              <a:t>幻灯片项目符号文本</a:t>
            </a:r>
          </a:p>
          <a:p>
            <a:pPr lvl="1"/>
            <a:endParaRPr/>
          </a:p>
          <a:p>
            <a:pPr lvl="2"/>
            <a:endParaRPr/>
          </a:p>
          <a:p>
            <a:pPr lvl="3"/>
            <a:endParaRPr/>
          </a:p>
          <a:p>
            <a:pPr lvl="4"/>
            <a:endParaRPr/>
          </a:p>
        </p:txBody>
      </p:sp>
      <p:sp>
        <p:nvSpPr>
          <p:cNvPr id="45"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项目符号">
    <p:spTree>
      <p:nvGrpSpPr>
        <p:cNvPr id="1" name=""/>
        <p:cNvGrpSpPr/>
        <p:nvPr/>
      </p:nvGrpSpPr>
      <p:grpSpPr>
        <a:xfrm>
          <a:off x="0" y="0"/>
          <a:ext cx="0" cy="0"/>
          <a:chOff x="0" y="0"/>
          <a:chExt cx="0" cy="0"/>
        </a:xfrm>
      </p:grpSpPr>
      <p:sp>
        <p:nvSpPr>
          <p:cNvPr id="52" name="正文级别 1…"/>
          <p:cNvSpPr txBox="1">
            <a:spLocks noGrp="1"/>
          </p:cNvSpPr>
          <p:nvPr>
            <p:ph type="body" idx="1" hasCustomPrompt="1"/>
          </p:nvPr>
        </p:nvSpPr>
        <p:spPr>
          <a:xfrm>
            <a:off x="1270000" y="4269316"/>
            <a:ext cx="21844000" cy="8432801"/>
          </a:xfrm>
          <a:prstGeom prst="rect">
            <a:avLst/>
          </a:prstGeom>
        </p:spPr>
        <p:txBody>
          <a:bodyPr numCol="2" spcCol="1092200"/>
          <a:lstStyle/>
          <a:p>
            <a:r>
              <a:t>幻灯片项目符号文本</a:t>
            </a:r>
          </a:p>
          <a:p>
            <a:pPr lvl="1"/>
            <a:endParaRPr/>
          </a:p>
          <a:p>
            <a:pPr lvl="2"/>
            <a:endParaRPr/>
          </a:p>
          <a:p>
            <a:pPr lvl="3"/>
            <a:endParaRPr/>
          </a:p>
          <a:p>
            <a:pPr lvl="4"/>
            <a:endParaRPr/>
          </a:p>
        </p:txBody>
      </p:sp>
      <p:sp>
        <p:nvSpPr>
          <p:cNvPr id="53"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标题、项目符号与照片">
    <p:spTree>
      <p:nvGrpSpPr>
        <p:cNvPr id="1" name=""/>
        <p:cNvGrpSpPr/>
        <p:nvPr/>
      </p:nvGrpSpPr>
      <p:grpSpPr>
        <a:xfrm>
          <a:off x="0" y="0"/>
          <a:ext cx="0" cy="0"/>
          <a:chOff x="0" y="0"/>
          <a:chExt cx="0" cy="0"/>
        </a:xfrm>
      </p:grpSpPr>
      <p:sp>
        <p:nvSpPr>
          <p:cNvPr id="60" name="粉色背景下的两只水母"/>
          <p:cNvSpPr>
            <a:spLocks noGrp="1"/>
          </p:cNvSpPr>
          <p:nvPr>
            <p:ph type="pic" idx="21"/>
          </p:nvPr>
        </p:nvSpPr>
        <p:spPr>
          <a:xfrm>
            <a:off x="10185400" y="0"/>
            <a:ext cx="18161000" cy="13716000"/>
          </a:xfrm>
          <a:prstGeom prst="rect">
            <a:avLst/>
          </a:prstGeom>
        </p:spPr>
        <p:txBody>
          <a:bodyPr lIns="91439" tIns="45719" rIns="91439" bIns="45719">
            <a:noAutofit/>
          </a:bodyPr>
          <a:lstStyle/>
          <a:p>
            <a:endParaRPr/>
          </a:p>
        </p:txBody>
      </p:sp>
      <p:sp>
        <p:nvSpPr>
          <p:cNvPr id="61" name="幻灯片标题"/>
          <p:cNvSpPr txBox="1">
            <a:spLocks noGrp="1"/>
          </p:cNvSpPr>
          <p:nvPr>
            <p:ph type="title" hasCustomPrompt="1"/>
          </p:nvPr>
        </p:nvSpPr>
        <p:spPr>
          <a:xfrm>
            <a:off x="1270000" y="838200"/>
            <a:ext cx="9652000" cy="1549400"/>
          </a:xfrm>
          <a:prstGeom prst="rect">
            <a:avLst/>
          </a:prstGeom>
        </p:spPr>
        <p:txBody>
          <a:bodyPr/>
          <a:lstStyle>
            <a:lvl1pPr>
              <a:defRPr>
                <a:gradFill flip="none" rotWithShape="1">
                  <a:gsLst>
                    <a:gs pos="0">
                      <a:srgbClr val="5E03FF"/>
                    </a:gs>
                    <a:gs pos="100000">
                      <a:srgbClr val="FF00F7"/>
                    </a:gs>
                  </a:gsLst>
                  <a:lin ang="3960000" scaled="0"/>
                </a:gradFill>
              </a:defRPr>
            </a:lvl1pPr>
          </a:lstStyle>
          <a:p>
            <a:r>
              <a:t>幻灯片标题</a:t>
            </a:r>
          </a:p>
        </p:txBody>
      </p:sp>
      <p:sp>
        <p:nvSpPr>
          <p:cNvPr id="62" name="正文级别 1…"/>
          <p:cNvSpPr txBox="1">
            <a:spLocks noGrp="1"/>
          </p:cNvSpPr>
          <p:nvPr>
            <p:ph type="body" sz="half" idx="1" hasCustomPrompt="1"/>
          </p:nvPr>
        </p:nvSpPr>
        <p:spPr>
          <a:xfrm>
            <a:off x="1270000" y="4267200"/>
            <a:ext cx="9652000" cy="8432800"/>
          </a:xfrm>
          <a:prstGeom prst="rect">
            <a:avLst/>
          </a:prstGeom>
        </p:spPr>
        <p:txBody>
          <a:bodyPr/>
          <a:lstStyle/>
          <a:p>
            <a:r>
              <a:t>幻灯片项目符号文本</a:t>
            </a:r>
          </a:p>
          <a:p>
            <a:pPr lvl="1"/>
            <a:endParaRPr/>
          </a:p>
          <a:p>
            <a:pPr lvl="2"/>
            <a:endParaRPr/>
          </a:p>
          <a:p>
            <a:pPr lvl="3"/>
            <a:endParaRPr/>
          </a:p>
          <a:p>
            <a:pPr lvl="4"/>
            <a:endParaRPr/>
          </a:p>
        </p:txBody>
      </p:sp>
      <p:sp>
        <p:nvSpPr>
          <p:cNvPr id="63" name="幻灯片副标题"/>
          <p:cNvSpPr txBox="1">
            <a:spLocks noGrp="1"/>
          </p:cNvSpPr>
          <p:nvPr>
            <p:ph type="body" sz="quarter" idx="22" hasCustomPrompt="1"/>
          </p:nvPr>
        </p:nvSpPr>
        <p:spPr>
          <a:xfrm>
            <a:off x="1270000" y="2133600"/>
            <a:ext cx="9652000" cy="1016000"/>
          </a:xfrm>
          <a:prstGeom prst="rect">
            <a:avLst/>
          </a:prstGeom>
        </p:spPr>
        <p:txBody>
          <a:bodyPr/>
          <a:lstStyle>
            <a:lvl1pPr marL="0" indent="0" algn="ctr" defTabSz="784225">
              <a:spcBef>
                <a:spcPts val="0"/>
              </a:spcBef>
              <a:buClrTx/>
              <a:buSzTx/>
              <a:buNone/>
              <a:defRPr sz="5130">
                <a:latin typeface="Avenir Next Medium"/>
                <a:ea typeface="Avenir Next Medium"/>
                <a:cs typeface="Avenir Next Medium"/>
                <a:sym typeface="Avenir Next Medium"/>
              </a:defRPr>
            </a:lvl1pPr>
          </a:lstStyle>
          <a:p>
            <a:r>
              <a:t>幻灯片副标题</a:t>
            </a:r>
          </a:p>
        </p:txBody>
      </p:sp>
      <p:sp>
        <p:nvSpPr>
          <p:cNvPr id="64"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标题、项目符号与实时视频（小）">
    <p:spTree>
      <p:nvGrpSpPr>
        <p:cNvPr id="1" name=""/>
        <p:cNvGrpSpPr/>
        <p:nvPr/>
      </p:nvGrpSpPr>
      <p:grpSpPr>
        <a:xfrm>
          <a:off x="0" y="0"/>
          <a:ext cx="0" cy="0"/>
          <a:chOff x="0" y="0"/>
          <a:chExt cx="0" cy="0"/>
        </a:xfrm>
      </p:grpSpPr>
      <p:sp>
        <p:nvSpPr>
          <p:cNvPr id="71" name="幻灯片标题"/>
          <p:cNvSpPr txBox="1">
            <a:spLocks noGrp="1"/>
          </p:cNvSpPr>
          <p:nvPr>
            <p:ph type="title" hasCustomPrompt="1"/>
          </p:nvPr>
        </p:nvSpPr>
        <p:spPr>
          <a:xfrm>
            <a:off x="1270000" y="838200"/>
            <a:ext cx="9652000" cy="1549400"/>
          </a:xfrm>
          <a:prstGeom prst="rect">
            <a:avLst/>
          </a:prstGeom>
        </p:spPr>
        <p:txBody>
          <a:bodyPr/>
          <a:lstStyle>
            <a:lvl1pPr>
              <a:defRPr>
                <a:gradFill flip="none" rotWithShape="1">
                  <a:gsLst>
                    <a:gs pos="0">
                      <a:srgbClr val="5E03FF"/>
                    </a:gs>
                    <a:gs pos="100000">
                      <a:srgbClr val="FF00F7"/>
                    </a:gs>
                  </a:gsLst>
                  <a:lin ang="3960000" scaled="0"/>
                </a:gradFill>
              </a:defRPr>
            </a:lvl1pPr>
          </a:lstStyle>
          <a:p>
            <a:r>
              <a:t>幻灯片标题</a:t>
            </a:r>
          </a:p>
        </p:txBody>
      </p:sp>
      <p:sp>
        <p:nvSpPr>
          <p:cNvPr id="72" name="正文级别 1…"/>
          <p:cNvSpPr txBox="1">
            <a:spLocks noGrp="1"/>
          </p:cNvSpPr>
          <p:nvPr>
            <p:ph type="body" sz="half" idx="1" hasCustomPrompt="1"/>
          </p:nvPr>
        </p:nvSpPr>
        <p:spPr>
          <a:xfrm>
            <a:off x="1270000" y="4267200"/>
            <a:ext cx="9652000" cy="8432800"/>
          </a:xfrm>
          <a:prstGeom prst="rect">
            <a:avLst/>
          </a:prstGeom>
        </p:spPr>
        <p:txBody>
          <a:bodyPr/>
          <a:lstStyle/>
          <a:p>
            <a:r>
              <a:t>幻灯片项目符号文本</a:t>
            </a:r>
          </a:p>
          <a:p>
            <a:pPr lvl="1"/>
            <a:endParaRPr/>
          </a:p>
          <a:p>
            <a:pPr lvl="2"/>
            <a:endParaRPr/>
          </a:p>
          <a:p>
            <a:pPr lvl="3"/>
            <a:endParaRPr/>
          </a:p>
          <a:p>
            <a:pPr lvl="4"/>
            <a:endParaRPr/>
          </a:p>
        </p:txBody>
      </p:sp>
      <p:sp>
        <p:nvSpPr>
          <p:cNvPr id="73" name="幻灯片副标题"/>
          <p:cNvSpPr txBox="1">
            <a:spLocks noGrp="1"/>
          </p:cNvSpPr>
          <p:nvPr>
            <p:ph type="body" sz="quarter" idx="21" hasCustomPrompt="1"/>
          </p:nvPr>
        </p:nvSpPr>
        <p:spPr>
          <a:xfrm>
            <a:off x="1270000" y="2133600"/>
            <a:ext cx="9652000" cy="1016000"/>
          </a:xfrm>
          <a:prstGeom prst="rect">
            <a:avLst/>
          </a:prstGeom>
        </p:spPr>
        <p:txBody>
          <a:bodyPr/>
          <a:lstStyle>
            <a:lvl1pPr marL="0" indent="0" algn="ctr" defTabSz="784225">
              <a:spcBef>
                <a:spcPts val="0"/>
              </a:spcBef>
              <a:buClrTx/>
              <a:buSzTx/>
              <a:buNone/>
              <a:defRPr sz="5130">
                <a:latin typeface="Avenir Next Medium"/>
                <a:ea typeface="Avenir Next Medium"/>
                <a:cs typeface="Avenir Next Medium"/>
                <a:sym typeface="Avenir Next Medium"/>
              </a:defRPr>
            </a:lvl1pPr>
          </a:lstStyle>
          <a:p>
            <a:r>
              <a:t>幻灯片副标题</a:t>
            </a:r>
          </a:p>
        </p:txBody>
      </p:sp>
      <p:sp>
        <p:nvSpPr>
          <p:cNvPr id="74"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标题、项目符号与实时视频（大）">
    <p:spTree>
      <p:nvGrpSpPr>
        <p:cNvPr id="1" name=""/>
        <p:cNvGrpSpPr/>
        <p:nvPr/>
      </p:nvGrpSpPr>
      <p:grpSpPr>
        <a:xfrm>
          <a:off x="0" y="0"/>
          <a:ext cx="0" cy="0"/>
          <a:chOff x="0" y="0"/>
          <a:chExt cx="0" cy="0"/>
        </a:xfrm>
      </p:grpSpPr>
      <p:sp>
        <p:nvSpPr>
          <p:cNvPr id="81" name="幻灯片标题"/>
          <p:cNvSpPr txBox="1">
            <a:spLocks noGrp="1"/>
          </p:cNvSpPr>
          <p:nvPr>
            <p:ph type="title" hasCustomPrompt="1"/>
          </p:nvPr>
        </p:nvSpPr>
        <p:spPr>
          <a:xfrm>
            <a:off x="1270000" y="838200"/>
            <a:ext cx="9652000" cy="1549400"/>
          </a:xfrm>
          <a:prstGeom prst="rect">
            <a:avLst/>
          </a:prstGeom>
        </p:spPr>
        <p:txBody>
          <a:bodyPr/>
          <a:lstStyle>
            <a:lvl1pPr>
              <a:defRPr>
                <a:gradFill flip="none" rotWithShape="1">
                  <a:gsLst>
                    <a:gs pos="0">
                      <a:srgbClr val="5E03FF"/>
                    </a:gs>
                    <a:gs pos="100000">
                      <a:srgbClr val="FF00F7"/>
                    </a:gs>
                  </a:gsLst>
                  <a:lin ang="3960000" scaled="0"/>
                </a:gradFill>
              </a:defRPr>
            </a:lvl1pPr>
          </a:lstStyle>
          <a:p>
            <a:r>
              <a:t>幻灯片标题</a:t>
            </a:r>
          </a:p>
        </p:txBody>
      </p:sp>
      <p:sp>
        <p:nvSpPr>
          <p:cNvPr id="82" name="正文级别 1…"/>
          <p:cNvSpPr txBox="1">
            <a:spLocks noGrp="1"/>
          </p:cNvSpPr>
          <p:nvPr>
            <p:ph type="body" sz="half" idx="1" hasCustomPrompt="1"/>
          </p:nvPr>
        </p:nvSpPr>
        <p:spPr>
          <a:xfrm>
            <a:off x="1270000" y="4267200"/>
            <a:ext cx="9652000" cy="8432800"/>
          </a:xfrm>
          <a:prstGeom prst="rect">
            <a:avLst/>
          </a:prstGeom>
        </p:spPr>
        <p:txBody>
          <a:bodyPr/>
          <a:lstStyle/>
          <a:p>
            <a:r>
              <a:t>幻灯片项目符号文本</a:t>
            </a:r>
          </a:p>
          <a:p>
            <a:pPr lvl="1"/>
            <a:endParaRPr/>
          </a:p>
          <a:p>
            <a:pPr lvl="2"/>
            <a:endParaRPr/>
          </a:p>
          <a:p>
            <a:pPr lvl="3"/>
            <a:endParaRPr/>
          </a:p>
          <a:p>
            <a:pPr lvl="4"/>
            <a:endParaRPr/>
          </a:p>
        </p:txBody>
      </p:sp>
      <p:sp>
        <p:nvSpPr>
          <p:cNvPr id="83" name="幻灯片副标题"/>
          <p:cNvSpPr txBox="1">
            <a:spLocks noGrp="1"/>
          </p:cNvSpPr>
          <p:nvPr>
            <p:ph type="body" sz="quarter" idx="21" hasCustomPrompt="1"/>
          </p:nvPr>
        </p:nvSpPr>
        <p:spPr>
          <a:xfrm>
            <a:off x="1270000" y="2133600"/>
            <a:ext cx="9652000" cy="1016000"/>
          </a:xfrm>
          <a:prstGeom prst="rect">
            <a:avLst/>
          </a:prstGeom>
        </p:spPr>
        <p:txBody>
          <a:bodyPr/>
          <a:lstStyle>
            <a:lvl1pPr marL="0" indent="0" algn="ctr" defTabSz="784225">
              <a:spcBef>
                <a:spcPts val="0"/>
              </a:spcBef>
              <a:buClrTx/>
              <a:buSzTx/>
              <a:buNone/>
              <a:defRPr sz="5130">
                <a:latin typeface="Avenir Next Medium"/>
                <a:ea typeface="Avenir Next Medium"/>
                <a:cs typeface="Avenir Next Medium"/>
                <a:sym typeface="Avenir Next Medium"/>
              </a:defRPr>
            </a:lvl1pPr>
          </a:lstStyle>
          <a:p>
            <a:r>
              <a:t>幻灯片副标题</a:t>
            </a:r>
          </a:p>
        </p:txBody>
      </p:sp>
      <p:sp>
        <p:nvSpPr>
          <p:cNvPr id="84"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节">
    <p:spTree>
      <p:nvGrpSpPr>
        <p:cNvPr id="1" name=""/>
        <p:cNvGrpSpPr/>
        <p:nvPr/>
      </p:nvGrpSpPr>
      <p:grpSpPr>
        <a:xfrm>
          <a:off x="0" y="0"/>
          <a:ext cx="0" cy="0"/>
          <a:chOff x="0" y="0"/>
          <a:chExt cx="0" cy="0"/>
        </a:xfrm>
      </p:grpSpPr>
      <p:sp>
        <p:nvSpPr>
          <p:cNvPr id="91" name="章节标题"/>
          <p:cNvSpPr txBox="1">
            <a:spLocks noGrp="1"/>
          </p:cNvSpPr>
          <p:nvPr>
            <p:ph type="title" hasCustomPrompt="1"/>
          </p:nvPr>
        </p:nvSpPr>
        <p:spPr>
          <a:xfrm>
            <a:off x="1270000" y="3289300"/>
            <a:ext cx="21844000" cy="3873500"/>
          </a:xfrm>
          <a:prstGeom prst="rect">
            <a:avLst/>
          </a:prstGeom>
        </p:spPr>
        <p:txBody>
          <a:bodyPr/>
          <a:lstStyle>
            <a:lvl1pPr>
              <a:lnSpc>
                <a:spcPct val="90000"/>
              </a:lnSpc>
              <a:defRPr sz="11600" spc="-348">
                <a:gradFill flip="none" rotWithShape="1">
                  <a:gsLst>
                    <a:gs pos="0">
                      <a:srgbClr val="FF00D8"/>
                    </a:gs>
                    <a:gs pos="100000">
                      <a:srgbClr val="FF542E"/>
                    </a:gs>
                  </a:gsLst>
                  <a:lin ang="3960000" scaled="0"/>
                </a:gradFill>
              </a:defRPr>
            </a:lvl1pPr>
          </a:lstStyle>
          <a:p>
            <a:r>
              <a:t>章节标题</a:t>
            </a:r>
          </a:p>
        </p:txBody>
      </p:sp>
      <p:sp>
        <p:nvSpPr>
          <p:cNvPr id="92"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仅标题">
    <p:spTree>
      <p:nvGrpSpPr>
        <p:cNvPr id="1" name=""/>
        <p:cNvGrpSpPr/>
        <p:nvPr/>
      </p:nvGrpSpPr>
      <p:grpSpPr>
        <a:xfrm>
          <a:off x="0" y="0"/>
          <a:ext cx="0" cy="0"/>
          <a:chOff x="0" y="0"/>
          <a:chExt cx="0" cy="0"/>
        </a:xfrm>
      </p:grpSpPr>
      <p:sp>
        <p:nvSpPr>
          <p:cNvPr id="99" name="幻灯片标题"/>
          <p:cNvSpPr txBox="1">
            <a:spLocks noGrp="1"/>
          </p:cNvSpPr>
          <p:nvPr>
            <p:ph type="title" hasCustomPrompt="1"/>
          </p:nvPr>
        </p:nvSpPr>
        <p:spPr>
          <a:prstGeom prst="rect">
            <a:avLst/>
          </a:prstGeom>
        </p:spPr>
        <p:txBody>
          <a:bodyPr/>
          <a:lstStyle/>
          <a:p>
            <a:r>
              <a:t>幻灯片标题</a:t>
            </a:r>
          </a:p>
        </p:txBody>
      </p:sp>
      <p:sp>
        <p:nvSpPr>
          <p:cNvPr id="100" name="幻灯片副标题"/>
          <p:cNvSpPr txBox="1">
            <a:spLocks noGrp="1"/>
          </p:cNvSpPr>
          <p:nvPr>
            <p:ph type="body" sz="quarter" idx="21" hasCustomPrompt="1"/>
          </p:nvPr>
        </p:nvSpPr>
        <p:spPr>
          <a:xfrm>
            <a:off x="1270000" y="2133600"/>
            <a:ext cx="21844000" cy="1016000"/>
          </a:xfrm>
          <a:prstGeom prst="rect">
            <a:avLst/>
          </a:prstGeom>
        </p:spPr>
        <p:txBody>
          <a:bodyPr/>
          <a:lstStyle>
            <a:lvl1pPr marL="0" indent="0" algn="ctr" defTabSz="784225">
              <a:spcBef>
                <a:spcPts val="0"/>
              </a:spcBef>
              <a:buClrTx/>
              <a:buSzTx/>
              <a:buNone/>
              <a:defRPr sz="5130">
                <a:latin typeface="Avenir Next Medium"/>
                <a:ea typeface="Avenir Next Medium"/>
                <a:cs typeface="Avenir Next Medium"/>
                <a:sym typeface="Avenir Next Medium"/>
              </a:defRPr>
            </a:lvl1pPr>
          </a:lstStyle>
          <a:p>
            <a:r>
              <a:t>幻灯片副标题</a:t>
            </a:r>
          </a:p>
        </p:txBody>
      </p:sp>
      <p:sp>
        <p:nvSpPr>
          <p:cNvPr id="101"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议程">
    <p:spTree>
      <p:nvGrpSpPr>
        <p:cNvPr id="1" name=""/>
        <p:cNvGrpSpPr/>
        <p:nvPr/>
      </p:nvGrpSpPr>
      <p:grpSpPr>
        <a:xfrm>
          <a:off x="0" y="0"/>
          <a:ext cx="0" cy="0"/>
          <a:chOff x="0" y="0"/>
          <a:chExt cx="0" cy="0"/>
        </a:xfrm>
      </p:grpSpPr>
      <p:sp>
        <p:nvSpPr>
          <p:cNvPr id="108" name="议程标题"/>
          <p:cNvSpPr txBox="1">
            <a:spLocks noGrp="1"/>
          </p:cNvSpPr>
          <p:nvPr>
            <p:ph type="title" hasCustomPrompt="1"/>
          </p:nvPr>
        </p:nvSpPr>
        <p:spPr>
          <a:xfrm>
            <a:off x="1270000" y="812800"/>
            <a:ext cx="21844000" cy="1562100"/>
          </a:xfrm>
          <a:prstGeom prst="rect">
            <a:avLst/>
          </a:prstGeom>
        </p:spPr>
        <p:txBody>
          <a:bodyPr/>
          <a:lstStyle/>
          <a:p>
            <a:r>
              <a:t>议程标题</a:t>
            </a:r>
          </a:p>
        </p:txBody>
      </p:sp>
      <p:sp>
        <p:nvSpPr>
          <p:cNvPr id="109" name="议程副标题"/>
          <p:cNvSpPr txBox="1">
            <a:spLocks noGrp="1"/>
          </p:cNvSpPr>
          <p:nvPr>
            <p:ph type="body" sz="quarter" idx="21" hasCustomPrompt="1"/>
          </p:nvPr>
        </p:nvSpPr>
        <p:spPr>
          <a:xfrm>
            <a:off x="1270000" y="2133600"/>
            <a:ext cx="21844000" cy="1016000"/>
          </a:xfrm>
          <a:prstGeom prst="rect">
            <a:avLst/>
          </a:prstGeom>
        </p:spPr>
        <p:txBody>
          <a:bodyPr/>
          <a:lstStyle>
            <a:lvl1pPr marL="0" indent="0" algn="ctr" defTabSz="784225">
              <a:spcBef>
                <a:spcPts val="0"/>
              </a:spcBef>
              <a:buClrTx/>
              <a:buSzTx/>
              <a:buNone/>
              <a:defRPr sz="5130">
                <a:latin typeface="Avenir Next Medium"/>
                <a:ea typeface="Avenir Next Medium"/>
                <a:cs typeface="Avenir Next Medium"/>
                <a:sym typeface="Avenir Next Medium"/>
              </a:defRPr>
            </a:lvl1pPr>
          </a:lstStyle>
          <a:p>
            <a:r>
              <a:t>议程副标题</a:t>
            </a:r>
          </a:p>
        </p:txBody>
      </p:sp>
      <p:sp>
        <p:nvSpPr>
          <p:cNvPr id="110" name="正文级别 1…"/>
          <p:cNvSpPr txBox="1">
            <a:spLocks noGrp="1"/>
          </p:cNvSpPr>
          <p:nvPr>
            <p:ph type="body" idx="1" hasCustomPrompt="1"/>
          </p:nvPr>
        </p:nvSpPr>
        <p:spPr>
          <a:prstGeom prst="rect">
            <a:avLst/>
          </a:prstGeom>
        </p:spPr>
        <p:txBody>
          <a:bodyPr/>
          <a:lstStyle>
            <a:lvl1pPr marL="0" indent="0" defTabSz="825500">
              <a:buClrTx/>
              <a:buSzTx/>
              <a:buNone/>
              <a:defRPr sz="5500" spc="-55"/>
            </a:lvl1pPr>
            <a:lvl2pPr marL="0" indent="457200" defTabSz="825500">
              <a:buClrTx/>
              <a:buSzTx/>
              <a:buNone/>
              <a:defRPr sz="5500" spc="-55"/>
            </a:lvl2pPr>
            <a:lvl3pPr marL="0" indent="914400" defTabSz="825500">
              <a:buClrTx/>
              <a:buSzTx/>
              <a:buNone/>
              <a:defRPr sz="5500" spc="-55"/>
            </a:lvl3pPr>
            <a:lvl4pPr marL="0" indent="1371600" defTabSz="825500">
              <a:buClrTx/>
              <a:buSzTx/>
              <a:buNone/>
              <a:defRPr sz="5500" spc="-55"/>
            </a:lvl4pPr>
            <a:lvl5pPr marL="0" indent="1828800" defTabSz="825500">
              <a:buClrTx/>
              <a:buSzTx/>
              <a:buNone/>
              <a:defRPr sz="5500" spc="-55"/>
            </a:lvl5pPr>
          </a:lstStyle>
          <a:p>
            <a:r>
              <a:t>议程主题</a:t>
            </a:r>
          </a:p>
          <a:p>
            <a:pPr lvl="1"/>
            <a:endParaRPr/>
          </a:p>
          <a:p>
            <a:pPr lvl="2"/>
            <a:endParaRPr/>
          </a:p>
          <a:p>
            <a:pPr lvl="3"/>
            <a:endParaRPr/>
          </a:p>
          <a:p>
            <a:pPr lvl="4"/>
            <a:endParaRPr/>
          </a:p>
        </p:txBody>
      </p:sp>
      <p:sp>
        <p:nvSpPr>
          <p:cNvPr id="111"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说明">
    <p:spTree>
      <p:nvGrpSpPr>
        <p:cNvPr id="1" name=""/>
        <p:cNvGrpSpPr/>
        <p:nvPr/>
      </p:nvGrpSpPr>
      <p:grpSpPr>
        <a:xfrm>
          <a:off x="0" y="0"/>
          <a:ext cx="0" cy="0"/>
          <a:chOff x="0" y="0"/>
          <a:chExt cx="0" cy="0"/>
        </a:xfrm>
      </p:grpSpPr>
      <p:sp>
        <p:nvSpPr>
          <p:cNvPr id="118" name="正文级别 1…"/>
          <p:cNvSpPr txBox="1">
            <a:spLocks noGrp="1"/>
          </p:cNvSpPr>
          <p:nvPr>
            <p:ph type="body" sz="half" idx="1" hasCustomPrompt="1"/>
          </p:nvPr>
        </p:nvSpPr>
        <p:spPr>
          <a:xfrm>
            <a:off x="1270000" y="4927600"/>
            <a:ext cx="21844000" cy="3902869"/>
          </a:xfrm>
          <a:prstGeom prst="rect">
            <a:avLst/>
          </a:prstGeom>
        </p:spPr>
        <p:txBody>
          <a:bodyPr anchor="ctr"/>
          <a:lstStyle>
            <a:lvl1pPr marL="0" indent="0" algn="ctr">
              <a:spcBef>
                <a:spcPts val="0"/>
              </a:spcBef>
              <a:buClrTx/>
              <a:buSzTx/>
              <a:buNone/>
              <a:defRPr sz="8400" spc="-252">
                <a:gradFill flip="none" rotWithShape="1">
                  <a:gsLst>
                    <a:gs pos="0">
                      <a:srgbClr val="1E98FD"/>
                    </a:gs>
                    <a:gs pos="100000">
                      <a:srgbClr val="FF00F7"/>
                    </a:gs>
                  </a:gsLst>
                  <a:lin ang="3960000" scaled="0"/>
                </a:gradFill>
                <a:latin typeface="Avenir Next Medium"/>
                <a:ea typeface="Avenir Next Medium"/>
                <a:cs typeface="Avenir Next Medium"/>
                <a:sym typeface="Avenir Next Medium"/>
              </a:defRPr>
            </a:lvl1pPr>
            <a:lvl2pPr marL="0" indent="457200" algn="ctr">
              <a:spcBef>
                <a:spcPts val="0"/>
              </a:spcBef>
              <a:buClrTx/>
              <a:buSzTx/>
              <a:buNone/>
              <a:defRPr sz="8400" spc="-252">
                <a:gradFill flip="none" rotWithShape="1">
                  <a:gsLst>
                    <a:gs pos="0">
                      <a:srgbClr val="1E98FD"/>
                    </a:gs>
                    <a:gs pos="100000">
                      <a:srgbClr val="FF00F7"/>
                    </a:gs>
                  </a:gsLst>
                  <a:lin ang="3960000" scaled="0"/>
                </a:gradFill>
                <a:latin typeface="Avenir Next Medium"/>
                <a:ea typeface="Avenir Next Medium"/>
                <a:cs typeface="Avenir Next Medium"/>
                <a:sym typeface="Avenir Next Medium"/>
              </a:defRPr>
            </a:lvl2pPr>
            <a:lvl3pPr marL="0" indent="914400" algn="ctr">
              <a:spcBef>
                <a:spcPts val="0"/>
              </a:spcBef>
              <a:buClrTx/>
              <a:buSzTx/>
              <a:buNone/>
              <a:defRPr sz="8400" spc="-252">
                <a:gradFill flip="none" rotWithShape="1">
                  <a:gsLst>
                    <a:gs pos="0">
                      <a:srgbClr val="1E98FD"/>
                    </a:gs>
                    <a:gs pos="100000">
                      <a:srgbClr val="FF00F7"/>
                    </a:gs>
                  </a:gsLst>
                  <a:lin ang="3960000" scaled="0"/>
                </a:gradFill>
                <a:latin typeface="Avenir Next Medium"/>
                <a:ea typeface="Avenir Next Medium"/>
                <a:cs typeface="Avenir Next Medium"/>
                <a:sym typeface="Avenir Next Medium"/>
              </a:defRPr>
            </a:lvl3pPr>
            <a:lvl4pPr marL="0" indent="1371600" algn="ctr">
              <a:spcBef>
                <a:spcPts val="0"/>
              </a:spcBef>
              <a:buClrTx/>
              <a:buSzTx/>
              <a:buNone/>
              <a:defRPr sz="8400" spc="-252">
                <a:gradFill flip="none" rotWithShape="1">
                  <a:gsLst>
                    <a:gs pos="0">
                      <a:srgbClr val="1E98FD"/>
                    </a:gs>
                    <a:gs pos="100000">
                      <a:srgbClr val="FF00F7"/>
                    </a:gs>
                  </a:gsLst>
                  <a:lin ang="3960000" scaled="0"/>
                </a:gradFill>
                <a:latin typeface="Avenir Next Medium"/>
                <a:ea typeface="Avenir Next Medium"/>
                <a:cs typeface="Avenir Next Medium"/>
                <a:sym typeface="Avenir Next Medium"/>
              </a:defRPr>
            </a:lvl4pPr>
            <a:lvl5pPr marL="0" indent="1828800" algn="ctr">
              <a:spcBef>
                <a:spcPts val="0"/>
              </a:spcBef>
              <a:buClrTx/>
              <a:buSzTx/>
              <a:buNone/>
              <a:defRPr sz="8400" spc="-252">
                <a:gradFill flip="none" rotWithShape="1">
                  <a:gsLst>
                    <a:gs pos="0">
                      <a:srgbClr val="1E98FD"/>
                    </a:gs>
                    <a:gs pos="100000">
                      <a:srgbClr val="FF00F7"/>
                    </a:gs>
                  </a:gsLst>
                  <a:lin ang="3960000" scaled="0"/>
                </a:gradFill>
                <a:latin typeface="Avenir Next Medium"/>
                <a:ea typeface="Avenir Next Medium"/>
                <a:cs typeface="Avenir Next Medium"/>
                <a:sym typeface="Avenir Next Medium"/>
              </a:defRPr>
            </a:lvl5pPr>
          </a:lstStyle>
          <a:p>
            <a:r>
              <a:t>说明</a:t>
            </a:r>
          </a:p>
          <a:p>
            <a:pPr lvl="1"/>
            <a:endParaRPr/>
          </a:p>
          <a:p>
            <a:pPr lvl="2"/>
            <a:endParaRPr/>
          </a:p>
          <a:p>
            <a:pPr lvl="3"/>
            <a:endParaRPr/>
          </a:p>
          <a:p>
            <a:pPr lvl="4"/>
            <a:endParaRPr/>
          </a:p>
        </p:txBody>
      </p:sp>
      <p:sp>
        <p:nvSpPr>
          <p:cNvPr id="119"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显著事实">
    <p:spTree>
      <p:nvGrpSpPr>
        <p:cNvPr id="1" name=""/>
        <p:cNvGrpSpPr/>
        <p:nvPr/>
      </p:nvGrpSpPr>
      <p:grpSpPr>
        <a:xfrm>
          <a:off x="0" y="0"/>
          <a:ext cx="0" cy="0"/>
          <a:chOff x="0" y="0"/>
          <a:chExt cx="0" cy="0"/>
        </a:xfrm>
      </p:grpSpPr>
      <p:sp>
        <p:nvSpPr>
          <p:cNvPr id="126" name="正文级别 1…"/>
          <p:cNvSpPr txBox="1">
            <a:spLocks noGrp="1"/>
          </p:cNvSpPr>
          <p:nvPr>
            <p:ph type="body" sz="half" idx="1" hasCustomPrompt="1"/>
          </p:nvPr>
        </p:nvSpPr>
        <p:spPr>
          <a:xfrm>
            <a:off x="1270000" y="3906096"/>
            <a:ext cx="21844000" cy="4488604"/>
          </a:xfrm>
          <a:prstGeom prst="rect">
            <a:avLst/>
          </a:prstGeom>
        </p:spPr>
        <p:txBody>
          <a:bodyPr anchor="b"/>
          <a:lstStyle>
            <a:lvl1pPr marL="0" indent="0" algn="ctr" defTabSz="2438338">
              <a:lnSpc>
                <a:spcPct val="80000"/>
              </a:lnSpc>
              <a:spcBef>
                <a:spcPts val="0"/>
              </a:spcBef>
              <a:buClrTx/>
              <a:buSzTx/>
              <a:buNone/>
              <a:defRPr sz="22400" spc="-448">
                <a:gradFill flip="none" rotWithShape="1">
                  <a:gsLst>
                    <a:gs pos="0">
                      <a:srgbClr val="1E98FD"/>
                    </a:gs>
                    <a:gs pos="100000">
                      <a:srgbClr val="FF00F7"/>
                    </a:gs>
                  </a:gsLst>
                  <a:lin ang="3960000" scaled="0"/>
                </a:gradFill>
                <a:latin typeface="+mn-lt"/>
                <a:ea typeface="+mn-ea"/>
                <a:cs typeface="+mn-cs"/>
                <a:sym typeface="Avenir Next Demi Bold"/>
              </a:defRPr>
            </a:lvl1pPr>
            <a:lvl2pPr marL="0" indent="457200" algn="ctr" defTabSz="2438338">
              <a:lnSpc>
                <a:spcPct val="80000"/>
              </a:lnSpc>
              <a:spcBef>
                <a:spcPts val="0"/>
              </a:spcBef>
              <a:buClrTx/>
              <a:buSzTx/>
              <a:buNone/>
              <a:defRPr sz="22400" spc="-448">
                <a:gradFill flip="none" rotWithShape="1">
                  <a:gsLst>
                    <a:gs pos="0">
                      <a:srgbClr val="1E98FD"/>
                    </a:gs>
                    <a:gs pos="100000">
                      <a:srgbClr val="FF00F7"/>
                    </a:gs>
                  </a:gsLst>
                  <a:lin ang="3960000" scaled="0"/>
                </a:gradFill>
                <a:latin typeface="+mn-lt"/>
                <a:ea typeface="+mn-ea"/>
                <a:cs typeface="+mn-cs"/>
                <a:sym typeface="Avenir Next Demi Bold"/>
              </a:defRPr>
            </a:lvl2pPr>
            <a:lvl3pPr marL="0" indent="914400" algn="ctr" defTabSz="2438338">
              <a:lnSpc>
                <a:spcPct val="80000"/>
              </a:lnSpc>
              <a:spcBef>
                <a:spcPts val="0"/>
              </a:spcBef>
              <a:buClrTx/>
              <a:buSzTx/>
              <a:buNone/>
              <a:defRPr sz="22400" spc="-448">
                <a:gradFill flip="none" rotWithShape="1">
                  <a:gsLst>
                    <a:gs pos="0">
                      <a:srgbClr val="1E98FD"/>
                    </a:gs>
                    <a:gs pos="100000">
                      <a:srgbClr val="FF00F7"/>
                    </a:gs>
                  </a:gsLst>
                  <a:lin ang="3960000" scaled="0"/>
                </a:gradFill>
                <a:latin typeface="+mn-lt"/>
                <a:ea typeface="+mn-ea"/>
                <a:cs typeface="+mn-cs"/>
                <a:sym typeface="Avenir Next Demi Bold"/>
              </a:defRPr>
            </a:lvl3pPr>
            <a:lvl4pPr marL="0" indent="1371600" algn="ctr" defTabSz="2438338">
              <a:lnSpc>
                <a:spcPct val="80000"/>
              </a:lnSpc>
              <a:spcBef>
                <a:spcPts val="0"/>
              </a:spcBef>
              <a:buClrTx/>
              <a:buSzTx/>
              <a:buNone/>
              <a:defRPr sz="22400" spc="-448">
                <a:gradFill flip="none" rotWithShape="1">
                  <a:gsLst>
                    <a:gs pos="0">
                      <a:srgbClr val="1E98FD"/>
                    </a:gs>
                    <a:gs pos="100000">
                      <a:srgbClr val="FF00F7"/>
                    </a:gs>
                  </a:gsLst>
                  <a:lin ang="3960000" scaled="0"/>
                </a:gradFill>
                <a:latin typeface="+mn-lt"/>
                <a:ea typeface="+mn-ea"/>
                <a:cs typeface="+mn-cs"/>
                <a:sym typeface="Avenir Next Demi Bold"/>
              </a:defRPr>
            </a:lvl4pPr>
            <a:lvl5pPr marL="0" indent="1828800" algn="ctr" defTabSz="2438338">
              <a:lnSpc>
                <a:spcPct val="80000"/>
              </a:lnSpc>
              <a:spcBef>
                <a:spcPts val="0"/>
              </a:spcBef>
              <a:buClrTx/>
              <a:buSzTx/>
              <a:buNone/>
              <a:defRPr sz="22400" spc="-448">
                <a:gradFill flip="none" rotWithShape="1">
                  <a:gsLst>
                    <a:gs pos="0">
                      <a:srgbClr val="1E98FD"/>
                    </a:gs>
                    <a:gs pos="100000">
                      <a:srgbClr val="FF00F7"/>
                    </a:gs>
                  </a:gsLst>
                  <a:lin ang="3960000" scaled="0"/>
                </a:gradFill>
                <a:latin typeface="+mn-lt"/>
                <a:ea typeface="+mn-ea"/>
                <a:cs typeface="+mn-cs"/>
                <a:sym typeface="Avenir Next Demi Bold"/>
              </a:defRPr>
            </a:lvl5pPr>
          </a:lstStyle>
          <a:p>
            <a:r>
              <a:t>100%</a:t>
            </a:r>
          </a:p>
          <a:p>
            <a:pPr lvl="1"/>
            <a:endParaRPr/>
          </a:p>
          <a:p>
            <a:pPr lvl="2"/>
            <a:endParaRPr/>
          </a:p>
          <a:p>
            <a:pPr lvl="3"/>
            <a:endParaRPr/>
          </a:p>
          <a:p>
            <a:pPr lvl="4"/>
            <a:endParaRPr/>
          </a:p>
        </p:txBody>
      </p:sp>
      <p:sp>
        <p:nvSpPr>
          <p:cNvPr id="127" name="事实信息"/>
          <p:cNvSpPr txBox="1">
            <a:spLocks noGrp="1"/>
          </p:cNvSpPr>
          <p:nvPr>
            <p:ph type="body" sz="quarter" idx="21" hasCustomPrompt="1"/>
          </p:nvPr>
        </p:nvSpPr>
        <p:spPr>
          <a:xfrm>
            <a:off x="1270000" y="8521700"/>
            <a:ext cx="21844000" cy="1016000"/>
          </a:xfrm>
          <a:prstGeom prst="rect">
            <a:avLst/>
          </a:prstGeom>
        </p:spPr>
        <p:txBody>
          <a:bodyPr/>
          <a:lstStyle>
            <a:lvl1pPr marL="0" indent="0" algn="ctr" defTabSz="825500">
              <a:spcBef>
                <a:spcPts val="0"/>
              </a:spcBef>
              <a:buClrTx/>
              <a:buSzTx/>
              <a:buNone/>
              <a:defRPr sz="4400">
                <a:latin typeface="Avenir Next Medium"/>
                <a:ea typeface="Avenir Next Medium"/>
                <a:cs typeface="Avenir Next Medium"/>
                <a:sym typeface="Avenir Next Medium"/>
              </a:defRPr>
            </a:lvl1pPr>
          </a:lstStyle>
          <a:p>
            <a:r>
              <a:t>事实信息</a:t>
            </a:r>
          </a:p>
        </p:txBody>
      </p:sp>
      <p:sp>
        <p:nvSpPr>
          <p:cNvPr id="128"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引文">
    <p:spTree>
      <p:nvGrpSpPr>
        <p:cNvPr id="1" name=""/>
        <p:cNvGrpSpPr/>
        <p:nvPr/>
      </p:nvGrpSpPr>
      <p:grpSpPr>
        <a:xfrm>
          <a:off x="0" y="0"/>
          <a:ext cx="0" cy="0"/>
          <a:chOff x="0" y="0"/>
          <a:chExt cx="0" cy="0"/>
        </a:xfrm>
      </p:grpSpPr>
      <p:sp>
        <p:nvSpPr>
          <p:cNvPr id="135" name="属性"/>
          <p:cNvSpPr txBox="1">
            <a:spLocks noGrp="1"/>
          </p:cNvSpPr>
          <p:nvPr>
            <p:ph type="body" sz="quarter" idx="21" hasCustomPrompt="1"/>
          </p:nvPr>
        </p:nvSpPr>
        <p:spPr>
          <a:xfrm>
            <a:off x="1270000" y="11155086"/>
            <a:ext cx="21844000" cy="832613"/>
          </a:xfrm>
          <a:prstGeom prst="rect">
            <a:avLst/>
          </a:prstGeom>
        </p:spPr>
        <p:txBody>
          <a:bodyPr anchor="ctr"/>
          <a:lstStyle>
            <a:lvl1pPr marL="0" indent="0" algn="ctr" defTabSz="784225">
              <a:spcBef>
                <a:spcPts val="0"/>
              </a:spcBef>
              <a:buClrTx/>
              <a:buSzTx/>
              <a:buNone/>
              <a:defRPr sz="4180">
                <a:latin typeface="Avenir Next Medium"/>
                <a:ea typeface="Avenir Next Medium"/>
                <a:cs typeface="Avenir Next Medium"/>
                <a:sym typeface="Avenir Next Medium"/>
              </a:defRPr>
            </a:lvl1pPr>
          </a:lstStyle>
          <a:p>
            <a:r>
              <a:t>属性</a:t>
            </a:r>
          </a:p>
        </p:txBody>
      </p:sp>
      <p:sp>
        <p:nvSpPr>
          <p:cNvPr id="136" name="正文级别 1…"/>
          <p:cNvSpPr txBox="1">
            <a:spLocks noGrp="1"/>
          </p:cNvSpPr>
          <p:nvPr>
            <p:ph type="body" sz="half" idx="1" hasCustomPrompt="1"/>
          </p:nvPr>
        </p:nvSpPr>
        <p:spPr>
          <a:xfrm>
            <a:off x="1270000" y="5141969"/>
            <a:ext cx="21844000" cy="3430191"/>
          </a:xfrm>
          <a:prstGeom prst="rect">
            <a:avLst/>
          </a:prstGeom>
        </p:spPr>
        <p:txBody>
          <a:bodyPr anchor="ctr"/>
          <a:lstStyle>
            <a:lvl1pPr marL="0" indent="0" algn="ctr">
              <a:lnSpc>
                <a:spcPct val="80000"/>
              </a:lnSpc>
              <a:spcBef>
                <a:spcPts val="0"/>
              </a:spcBef>
              <a:buClrTx/>
              <a:buSzTx/>
              <a:buNone/>
              <a:defRPr sz="8400" spc="-168">
                <a:gradFill flip="none" rotWithShape="1">
                  <a:gsLst>
                    <a:gs pos="0">
                      <a:srgbClr val="FF00D8"/>
                    </a:gs>
                    <a:gs pos="100000">
                      <a:srgbClr val="FF542E"/>
                    </a:gs>
                  </a:gsLst>
                  <a:lin ang="3960000" scaled="0"/>
                </a:gradFill>
                <a:latin typeface="+mn-lt"/>
                <a:ea typeface="+mn-ea"/>
                <a:cs typeface="+mn-cs"/>
                <a:sym typeface="Avenir Next Demi Bold"/>
              </a:defRPr>
            </a:lvl1pPr>
            <a:lvl2pPr marL="0" indent="457200" algn="ctr">
              <a:lnSpc>
                <a:spcPct val="80000"/>
              </a:lnSpc>
              <a:spcBef>
                <a:spcPts val="0"/>
              </a:spcBef>
              <a:buClrTx/>
              <a:buSzTx/>
              <a:buNone/>
              <a:defRPr sz="8400" spc="-168">
                <a:gradFill flip="none" rotWithShape="1">
                  <a:gsLst>
                    <a:gs pos="0">
                      <a:srgbClr val="FF00D8"/>
                    </a:gs>
                    <a:gs pos="100000">
                      <a:srgbClr val="FF542E"/>
                    </a:gs>
                  </a:gsLst>
                  <a:lin ang="3960000" scaled="0"/>
                </a:gradFill>
                <a:latin typeface="+mn-lt"/>
                <a:ea typeface="+mn-ea"/>
                <a:cs typeface="+mn-cs"/>
                <a:sym typeface="Avenir Next Demi Bold"/>
              </a:defRPr>
            </a:lvl2pPr>
            <a:lvl3pPr marL="0" indent="914400" algn="ctr">
              <a:lnSpc>
                <a:spcPct val="80000"/>
              </a:lnSpc>
              <a:spcBef>
                <a:spcPts val="0"/>
              </a:spcBef>
              <a:buClrTx/>
              <a:buSzTx/>
              <a:buNone/>
              <a:defRPr sz="8400" spc="-168">
                <a:gradFill flip="none" rotWithShape="1">
                  <a:gsLst>
                    <a:gs pos="0">
                      <a:srgbClr val="FF00D8"/>
                    </a:gs>
                    <a:gs pos="100000">
                      <a:srgbClr val="FF542E"/>
                    </a:gs>
                  </a:gsLst>
                  <a:lin ang="3960000" scaled="0"/>
                </a:gradFill>
                <a:latin typeface="+mn-lt"/>
                <a:ea typeface="+mn-ea"/>
                <a:cs typeface="+mn-cs"/>
                <a:sym typeface="Avenir Next Demi Bold"/>
              </a:defRPr>
            </a:lvl3pPr>
            <a:lvl4pPr marL="0" indent="1371600" algn="ctr">
              <a:lnSpc>
                <a:spcPct val="80000"/>
              </a:lnSpc>
              <a:spcBef>
                <a:spcPts val="0"/>
              </a:spcBef>
              <a:buClrTx/>
              <a:buSzTx/>
              <a:buNone/>
              <a:defRPr sz="8400" spc="-168">
                <a:gradFill flip="none" rotWithShape="1">
                  <a:gsLst>
                    <a:gs pos="0">
                      <a:srgbClr val="FF00D8"/>
                    </a:gs>
                    <a:gs pos="100000">
                      <a:srgbClr val="FF542E"/>
                    </a:gs>
                  </a:gsLst>
                  <a:lin ang="3960000" scaled="0"/>
                </a:gradFill>
                <a:latin typeface="+mn-lt"/>
                <a:ea typeface="+mn-ea"/>
                <a:cs typeface="+mn-cs"/>
                <a:sym typeface="Avenir Next Demi Bold"/>
              </a:defRPr>
            </a:lvl4pPr>
            <a:lvl5pPr marL="0" indent="1828800" algn="ctr">
              <a:lnSpc>
                <a:spcPct val="80000"/>
              </a:lnSpc>
              <a:spcBef>
                <a:spcPts val="0"/>
              </a:spcBef>
              <a:buClrTx/>
              <a:buSzTx/>
              <a:buNone/>
              <a:defRPr sz="8400" spc="-168">
                <a:gradFill flip="none" rotWithShape="1">
                  <a:gsLst>
                    <a:gs pos="0">
                      <a:srgbClr val="FF00D8"/>
                    </a:gs>
                    <a:gs pos="100000">
                      <a:srgbClr val="FF542E"/>
                    </a:gs>
                  </a:gsLst>
                  <a:lin ang="3960000" scaled="0"/>
                </a:gradFill>
                <a:latin typeface="+mn-lt"/>
                <a:ea typeface="+mn-ea"/>
                <a:cs typeface="+mn-cs"/>
                <a:sym typeface="Avenir Next Demi Bold"/>
              </a:defRPr>
            </a:lvl5pPr>
          </a:lstStyle>
          <a:p>
            <a:r>
              <a:t>“著名引文”</a:t>
            </a:r>
          </a:p>
          <a:p>
            <a:pPr lvl="1"/>
            <a:endParaRPr/>
          </a:p>
          <a:p>
            <a:pPr lvl="2"/>
            <a:endParaRPr/>
          </a:p>
          <a:p>
            <a:pPr lvl="3"/>
            <a:endParaRPr/>
          </a:p>
          <a:p>
            <a:pPr lvl="4"/>
            <a:endParaRPr/>
          </a:p>
        </p:txBody>
      </p:sp>
      <p:sp>
        <p:nvSpPr>
          <p:cNvPr id="137"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照片 - 3 联">
    <p:spTree>
      <p:nvGrpSpPr>
        <p:cNvPr id="1" name=""/>
        <p:cNvGrpSpPr/>
        <p:nvPr/>
      </p:nvGrpSpPr>
      <p:grpSpPr>
        <a:xfrm>
          <a:off x="0" y="0"/>
          <a:ext cx="0" cy="0"/>
          <a:chOff x="0" y="0"/>
          <a:chExt cx="0" cy="0"/>
        </a:xfrm>
      </p:grpSpPr>
      <p:sp>
        <p:nvSpPr>
          <p:cNvPr id="144" name="粉色背景下的两只水母"/>
          <p:cNvSpPr>
            <a:spLocks noGrp="1"/>
          </p:cNvSpPr>
          <p:nvPr>
            <p:ph type="pic" sz="half" idx="21"/>
          </p:nvPr>
        </p:nvSpPr>
        <p:spPr>
          <a:xfrm>
            <a:off x="12192000" y="4813300"/>
            <a:ext cx="12192000" cy="9207945"/>
          </a:xfrm>
          <a:prstGeom prst="rect">
            <a:avLst/>
          </a:prstGeom>
        </p:spPr>
        <p:txBody>
          <a:bodyPr lIns="91439" tIns="45719" rIns="91439" bIns="45719">
            <a:noAutofit/>
          </a:bodyPr>
          <a:lstStyle/>
          <a:p>
            <a:endParaRPr/>
          </a:p>
        </p:txBody>
      </p:sp>
      <p:sp>
        <p:nvSpPr>
          <p:cNvPr id="145" name="深蓝色背景下两只触碰的水母"/>
          <p:cNvSpPr>
            <a:spLocks noGrp="1"/>
          </p:cNvSpPr>
          <p:nvPr>
            <p:ph type="pic" sz="half" idx="22"/>
          </p:nvPr>
        </p:nvSpPr>
        <p:spPr>
          <a:xfrm>
            <a:off x="12192000" y="-628650"/>
            <a:ext cx="12192000" cy="8128000"/>
          </a:xfrm>
          <a:prstGeom prst="rect">
            <a:avLst/>
          </a:prstGeom>
        </p:spPr>
        <p:txBody>
          <a:bodyPr lIns="91439" tIns="45719" rIns="91439" bIns="45719">
            <a:noAutofit/>
          </a:bodyPr>
          <a:lstStyle/>
          <a:p>
            <a:endParaRPr/>
          </a:p>
        </p:txBody>
      </p:sp>
      <p:sp>
        <p:nvSpPr>
          <p:cNvPr id="146" name="蓝色背景下的两只水母"/>
          <p:cNvSpPr>
            <a:spLocks noGrp="1"/>
          </p:cNvSpPr>
          <p:nvPr>
            <p:ph type="pic" idx="23"/>
          </p:nvPr>
        </p:nvSpPr>
        <p:spPr>
          <a:xfrm>
            <a:off x="-4203700" y="0"/>
            <a:ext cx="20574000" cy="13716000"/>
          </a:xfrm>
          <a:prstGeom prst="rect">
            <a:avLst/>
          </a:prstGeom>
        </p:spPr>
        <p:txBody>
          <a:bodyPr lIns="91439" tIns="45719" rIns="91439" bIns="45719">
            <a:noAutofit/>
          </a:bodyPr>
          <a:lstStyle/>
          <a:p>
            <a:endParaRPr/>
          </a:p>
        </p:txBody>
      </p:sp>
      <p:sp>
        <p:nvSpPr>
          <p:cNvPr id="147"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照片">
    <p:spTree>
      <p:nvGrpSpPr>
        <p:cNvPr id="1" name=""/>
        <p:cNvGrpSpPr/>
        <p:nvPr/>
      </p:nvGrpSpPr>
      <p:grpSpPr>
        <a:xfrm>
          <a:off x="0" y="0"/>
          <a:ext cx="0" cy="0"/>
          <a:chOff x="0" y="0"/>
          <a:chExt cx="0" cy="0"/>
        </a:xfrm>
      </p:grpSpPr>
      <p:sp>
        <p:nvSpPr>
          <p:cNvPr id="154" name="深蓝色背景下两只触碰的水母"/>
          <p:cNvSpPr>
            <a:spLocks noGrp="1"/>
          </p:cNvSpPr>
          <p:nvPr>
            <p:ph type="pic" idx="21"/>
          </p:nvPr>
        </p:nvSpPr>
        <p:spPr>
          <a:xfrm>
            <a:off x="0" y="-1270000"/>
            <a:ext cx="24384000" cy="16256001"/>
          </a:xfrm>
          <a:prstGeom prst="rect">
            <a:avLst/>
          </a:prstGeom>
        </p:spPr>
        <p:txBody>
          <a:bodyPr lIns="91439" tIns="45719" rIns="91439" bIns="45719">
            <a:noAutofit/>
          </a:bodyPr>
          <a:lstStyle/>
          <a:p>
            <a:endParaRPr/>
          </a:p>
        </p:txBody>
      </p:sp>
      <p:sp>
        <p:nvSpPr>
          <p:cNvPr id="155" name="幻灯片编号"/>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
        <p:nvSpPr>
          <p:cNvPr id="162"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幻灯片标题"/>
          <p:cNvSpPr txBox="1">
            <a:spLocks noGrp="1"/>
          </p:cNvSpPr>
          <p:nvPr>
            <p:ph type="title" hasCustomPrompt="1"/>
          </p:nvPr>
        </p:nvSpPr>
        <p:spPr>
          <a:xfrm>
            <a:off x="1270000" y="812800"/>
            <a:ext cx="21844000" cy="15574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rmAutofit/>
          </a:bodyPr>
          <a:lstStyle/>
          <a:p>
            <a:r>
              <a:t>幻灯片标题</a:t>
            </a:r>
          </a:p>
        </p:txBody>
      </p:sp>
      <p:sp>
        <p:nvSpPr>
          <p:cNvPr id="3" name="正文级别 1…"/>
          <p:cNvSpPr txBox="1">
            <a:spLocks noGrp="1"/>
          </p:cNvSpPr>
          <p:nvPr>
            <p:ph type="body" idx="1" hasCustomPrompt="1"/>
          </p:nvPr>
        </p:nvSpPr>
        <p:spPr>
          <a:xfrm>
            <a:off x="1270000" y="4267200"/>
            <a:ext cx="21844000" cy="8432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幻灯片项目符号文本</a:t>
            </a:r>
          </a:p>
          <a:p>
            <a:pPr lvl="1"/>
            <a:endParaRPr/>
          </a:p>
          <a:p>
            <a:pPr lvl="2"/>
            <a:endParaRPr/>
          </a:p>
          <a:p>
            <a:pPr lvl="3"/>
            <a:endParaRPr/>
          </a:p>
          <a:p>
            <a:pPr lvl="4"/>
            <a:endParaRPr/>
          </a:p>
        </p:txBody>
      </p:sp>
      <p:sp>
        <p:nvSpPr>
          <p:cNvPr id="4" name="幻灯片编号"/>
          <p:cNvSpPr txBox="1">
            <a:spLocks noGrp="1"/>
          </p:cNvSpPr>
          <p:nvPr>
            <p:ph type="sldNum" sz="quarter" idx="2"/>
          </p:nvPr>
        </p:nvSpPr>
        <p:spPr>
          <a:xfrm>
            <a:off x="11966448" y="13065506"/>
            <a:ext cx="438405" cy="482601"/>
          </a:xfrm>
          <a:prstGeom prst="rect">
            <a:avLst/>
          </a:prstGeom>
          <a:ln w="12700">
            <a:miter lim="400000"/>
          </a:ln>
        </p:spPr>
        <p:txBody>
          <a:bodyPr wrap="none" lIns="50800" tIns="50800" rIns="50800" bIns="50800" anchor="b">
            <a:spAutoFit/>
          </a:bodyPr>
          <a:lstStyle>
            <a:lvl1pPr algn="ctr" defTabSz="825500">
              <a:spcBef>
                <a:spcPts val="0"/>
              </a:spcBef>
              <a:defRPr sz="22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ransition spd="med"/>
  <p:txStyles>
    <p:titleStyle>
      <a:lvl1pPr marL="0" marR="0" indent="0" algn="ctr" defTabSz="825500" rtl="0" latinLnBrk="0">
        <a:lnSpc>
          <a:spcPct val="80000"/>
        </a:lnSpc>
        <a:spcBef>
          <a:spcPts val="0"/>
        </a:spcBef>
        <a:spcAft>
          <a:spcPts val="0"/>
        </a:spcAft>
        <a:buClrTx/>
        <a:buSzTx/>
        <a:buFontTx/>
        <a:buNone/>
        <a:tabLst/>
        <a:defRPr sz="8400" b="0" i="0" u="none" strike="noStrike" cap="none" spc="-252" baseline="0">
          <a:solidFill>
            <a:srgbClr val="000000"/>
          </a:solidFill>
          <a:uFillTx/>
          <a:latin typeface="+mn-lt"/>
          <a:ea typeface="+mn-ea"/>
          <a:cs typeface="+mn-cs"/>
          <a:sym typeface="Avenir Next Demi Bold"/>
        </a:defRPr>
      </a:lvl1pPr>
      <a:lvl2pPr marL="0" marR="0" indent="457200" algn="ctr" defTabSz="825500" rtl="0" latinLnBrk="0">
        <a:lnSpc>
          <a:spcPct val="80000"/>
        </a:lnSpc>
        <a:spcBef>
          <a:spcPts val="0"/>
        </a:spcBef>
        <a:spcAft>
          <a:spcPts val="0"/>
        </a:spcAft>
        <a:buClrTx/>
        <a:buSzTx/>
        <a:buFontTx/>
        <a:buNone/>
        <a:tabLst/>
        <a:defRPr sz="8400" b="0" i="0" u="none" strike="noStrike" cap="none" spc="-252" baseline="0">
          <a:solidFill>
            <a:srgbClr val="000000"/>
          </a:solidFill>
          <a:uFillTx/>
          <a:latin typeface="+mn-lt"/>
          <a:ea typeface="+mn-ea"/>
          <a:cs typeface="+mn-cs"/>
          <a:sym typeface="Avenir Next Demi Bold"/>
        </a:defRPr>
      </a:lvl2pPr>
      <a:lvl3pPr marL="0" marR="0" indent="914400" algn="ctr" defTabSz="825500" rtl="0" latinLnBrk="0">
        <a:lnSpc>
          <a:spcPct val="80000"/>
        </a:lnSpc>
        <a:spcBef>
          <a:spcPts val="0"/>
        </a:spcBef>
        <a:spcAft>
          <a:spcPts val="0"/>
        </a:spcAft>
        <a:buClrTx/>
        <a:buSzTx/>
        <a:buFontTx/>
        <a:buNone/>
        <a:tabLst/>
        <a:defRPr sz="8400" b="0" i="0" u="none" strike="noStrike" cap="none" spc="-252" baseline="0">
          <a:solidFill>
            <a:srgbClr val="000000"/>
          </a:solidFill>
          <a:uFillTx/>
          <a:latin typeface="+mn-lt"/>
          <a:ea typeface="+mn-ea"/>
          <a:cs typeface="+mn-cs"/>
          <a:sym typeface="Avenir Next Demi Bold"/>
        </a:defRPr>
      </a:lvl3pPr>
      <a:lvl4pPr marL="0" marR="0" indent="1371600" algn="ctr" defTabSz="825500" rtl="0" latinLnBrk="0">
        <a:lnSpc>
          <a:spcPct val="80000"/>
        </a:lnSpc>
        <a:spcBef>
          <a:spcPts val="0"/>
        </a:spcBef>
        <a:spcAft>
          <a:spcPts val="0"/>
        </a:spcAft>
        <a:buClrTx/>
        <a:buSzTx/>
        <a:buFontTx/>
        <a:buNone/>
        <a:tabLst/>
        <a:defRPr sz="8400" b="0" i="0" u="none" strike="noStrike" cap="none" spc="-252" baseline="0">
          <a:solidFill>
            <a:srgbClr val="000000"/>
          </a:solidFill>
          <a:uFillTx/>
          <a:latin typeface="+mn-lt"/>
          <a:ea typeface="+mn-ea"/>
          <a:cs typeface="+mn-cs"/>
          <a:sym typeface="Avenir Next Demi Bold"/>
        </a:defRPr>
      </a:lvl4pPr>
      <a:lvl5pPr marL="0" marR="0" indent="1828800" algn="ctr" defTabSz="825500" rtl="0" latinLnBrk="0">
        <a:lnSpc>
          <a:spcPct val="80000"/>
        </a:lnSpc>
        <a:spcBef>
          <a:spcPts val="0"/>
        </a:spcBef>
        <a:spcAft>
          <a:spcPts val="0"/>
        </a:spcAft>
        <a:buClrTx/>
        <a:buSzTx/>
        <a:buFontTx/>
        <a:buNone/>
        <a:tabLst/>
        <a:defRPr sz="8400" b="0" i="0" u="none" strike="noStrike" cap="none" spc="-252" baseline="0">
          <a:solidFill>
            <a:srgbClr val="000000"/>
          </a:solidFill>
          <a:uFillTx/>
          <a:latin typeface="+mn-lt"/>
          <a:ea typeface="+mn-ea"/>
          <a:cs typeface="+mn-cs"/>
          <a:sym typeface="Avenir Next Demi Bold"/>
        </a:defRPr>
      </a:lvl5pPr>
      <a:lvl6pPr marL="0" marR="0" indent="2286000" algn="ctr" defTabSz="825500" rtl="0" latinLnBrk="0">
        <a:lnSpc>
          <a:spcPct val="80000"/>
        </a:lnSpc>
        <a:spcBef>
          <a:spcPts val="0"/>
        </a:spcBef>
        <a:spcAft>
          <a:spcPts val="0"/>
        </a:spcAft>
        <a:buClrTx/>
        <a:buSzTx/>
        <a:buFontTx/>
        <a:buNone/>
        <a:tabLst/>
        <a:defRPr sz="8400" b="0" i="0" u="none" strike="noStrike" cap="none" spc="-252" baseline="0">
          <a:solidFill>
            <a:srgbClr val="000000"/>
          </a:solidFill>
          <a:uFillTx/>
          <a:latin typeface="+mn-lt"/>
          <a:ea typeface="+mn-ea"/>
          <a:cs typeface="+mn-cs"/>
          <a:sym typeface="Avenir Next Demi Bold"/>
        </a:defRPr>
      </a:lvl6pPr>
      <a:lvl7pPr marL="0" marR="0" indent="2743200" algn="ctr" defTabSz="825500" rtl="0" latinLnBrk="0">
        <a:lnSpc>
          <a:spcPct val="80000"/>
        </a:lnSpc>
        <a:spcBef>
          <a:spcPts val="0"/>
        </a:spcBef>
        <a:spcAft>
          <a:spcPts val="0"/>
        </a:spcAft>
        <a:buClrTx/>
        <a:buSzTx/>
        <a:buFontTx/>
        <a:buNone/>
        <a:tabLst/>
        <a:defRPr sz="8400" b="0" i="0" u="none" strike="noStrike" cap="none" spc="-252" baseline="0">
          <a:solidFill>
            <a:srgbClr val="000000"/>
          </a:solidFill>
          <a:uFillTx/>
          <a:latin typeface="+mn-lt"/>
          <a:ea typeface="+mn-ea"/>
          <a:cs typeface="+mn-cs"/>
          <a:sym typeface="Avenir Next Demi Bold"/>
        </a:defRPr>
      </a:lvl7pPr>
      <a:lvl8pPr marL="0" marR="0" indent="3200400" algn="ctr" defTabSz="825500" rtl="0" latinLnBrk="0">
        <a:lnSpc>
          <a:spcPct val="80000"/>
        </a:lnSpc>
        <a:spcBef>
          <a:spcPts val="0"/>
        </a:spcBef>
        <a:spcAft>
          <a:spcPts val="0"/>
        </a:spcAft>
        <a:buClrTx/>
        <a:buSzTx/>
        <a:buFontTx/>
        <a:buNone/>
        <a:tabLst/>
        <a:defRPr sz="8400" b="0" i="0" u="none" strike="noStrike" cap="none" spc="-252" baseline="0">
          <a:solidFill>
            <a:srgbClr val="000000"/>
          </a:solidFill>
          <a:uFillTx/>
          <a:latin typeface="+mn-lt"/>
          <a:ea typeface="+mn-ea"/>
          <a:cs typeface="+mn-cs"/>
          <a:sym typeface="Avenir Next Demi Bold"/>
        </a:defRPr>
      </a:lvl8pPr>
      <a:lvl9pPr marL="0" marR="0" indent="3657600" algn="ctr" defTabSz="825500" rtl="0" latinLnBrk="0">
        <a:lnSpc>
          <a:spcPct val="80000"/>
        </a:lnSpc>
        <a:spcBef>
          <a:spcPts val="0"/>
        </a:spcBef>
        <a:spcAft>
          <a:spcPts val="0"/>
        </a:spcAft>
        <a:buClrTx/>
        <a:buSzTx/>
        <a:buFontTx/>
        <a:buNone/>
        <a:tabLst/>
        <a:defRPr sz="8400" b="0" i="0" u="none" strike="noStrike" cap="none" spc="-252" baseline="0">
          <a:solidFill>
            <a:srgbClr val="000000"/>
          </a:solidFill>
          <a:uFillTx/>
          <a:latin typeface="+mn-lt"/>
          <a:ea typeface="+mn-ea"/>
          <a:cs typeface="+mn-cs"/>
          <a:sym typeface="Avenir Next Demi Bold"/>
        </a:defRPr>
      </a:lvl9pPr>
    </p:titleStyle>
    <p:bodyStyle>
      <a:lvl1pPr marL="5588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Avenir Next Regular"/>
          <a:ea typeface="Avenir Next Regular"/>
          <a:cs typeface="Avenir Next Regular"/>
          <a:sym typeface="Avenir Next Regular"/>
        </a:defRPr>
      </a:lvl1pPr>
      <a:lvl2pPr marL="11176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Avenir Next Regular"/>
          <a:ea typeface="Avenir Next Regular"/>
          <a:cs typeface="Avenir Next Regular"/>
          <a:sym typeface="Avenir Next Regular"/>
        </a:defRPr>
      </a:lvl2pPr>
      <a:lvl3pPr marL="16764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Avenir Next Regular"/>
          <a:ea typeface="Avenir Next Regular"/>
          <a:cs typeface="Avenir Next Regular"/>
          <a:sym typeface="Avenir Next Regular"/>
        </a:defRPr>
      </a:lvl3pPr>
      <a:lvl4pPr marL="22352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Avenir Next Regular"/>
          <a:ea typeface="Avenir Next Regular"/>
          <a:cs typeface="Avenir Next Regular"/>
          <a:sym typeface="Avenir Next Regular"/>
        </a:defRPr>
      </a:lvl4pPr>
      <a:lvl5pPr marL="27940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Avenir Next Regular"/>
          <a:ea typeface="Avenir Next Regular"/>
          <a:cs typeface="Avenir Next Regular"/>
          <a:sym typeface="Avenir Next Regular"/>
        </a:defRPr>
      </a:lvl5pPr>
      <a:lvl6pPr marL="33528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Avenir Next Regular"/>
          <a:ea typeface="Avenir Next Regular"/>
          <a:cs typeface="Avenir Next Regular"/>
          <a:sym typeface="Avenir Next Regular"/>
        </a:defRPr>
      </a:lvl6pPr>
      <a:lvl7pPr marL="39116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Avenir Next Regular"/>
          <a:ea typeface="Avenir Next Regular"/>
          <a:cs typeface="Avenir Next Regular"/>
          <a:sym typeface="Avenir Next Regular"/>
        </a:defRPr>
      </a:lvl7pPr>
      <a:lvl8pPr marL="44704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Avenir Next Regular"/>
          <a:ea typeface="Avenir Next Regular"/>
          <a:cs typeface="Avenir Next Regular"/>
          <a:sym typeface="Avenir Next Regular"/>
        </a:defRPr>
      </a:lvl8pPr>
      <a:lvl9pPr marL="5029200" marR="0" indent="-558800" algn="l" defTabSz="2438400" rtl="0" latinLnBrk="0">
        <a:lnSpc>
          <a:spcPct val="100000"/>
        </a:lnSpc>
        <a:spcBef>
          <a:spcPts val="2400"/>
        </a:spcBef>
        <a:spcAft>
          <a:spcPts val="0"/>
        </a:spcAft>
        <a:buClr>
          <a:srgbClr val="000000"/>
        </a:buClr>
        <a:buSzPct val="100000"/>
        <a:buFontTx/>
        <a:buChar char="•"/>
        <a:tabLst/>
        <a:defRPr sz="4800" b="0" i="0" u="none" strike="noStrike" cap="none" spc="0" baseline="0">
          <a:solidFill>
            <a:srgbClr val="000000"/>
          </a:solidFill>
          <a:uFillTx/>
          <a:latin typeface="Avenir Next Regular"/>
          <a:ea typeface="Avenir Next Regular"/>
          <a:cs typeface="Avenir Next Regular"/>
          <a:sym typeface="Avenir Next Regular"/>
        </a:defRPr>
      </a:lvl9pPr>
    </p:bodyStyle>
    <p:otherStyle>
      <a:lvl1pPr marL="0" marR="0" indent="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Avenir Next Regular"/>
        </a:defRPr>
      </a:lvl1pPr>
      <a:lvl2pPr marL="0" marR="0" indent="4572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Avenir Next Regular"/>
        </a:defRPr>
      </a:lvl2pPr>
      <a:lvl3pPr marL="0" marR="0" indent="9144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Avenir Next Regular"/>
        </a:defRPr>
      </a:lvl3pPr>
      <a:lvl4pPr marL="0" marR="0" indent="13716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Avenir Next Regular"/>
        </a:defRPr>
      </a:lvl4pPr>
      <a:lvl5pPr marL="0" marR="0" indent="18288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Avenir Next Regular"/>
        </a:defRPr>
      </a:lvl5pPr>
      <a:lvl6pPr marL="0" marR="0" indent="22860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Avenir Next Regular"/>
        </a:defRPr>
      </a:lvl6pPr>
      <a:lvl7pPr marL="0" marR="0" indent="27432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Avenir Next Regular"/>
        </a:defRPr>
      </a:lvl7pPr>
      <a:lvl8pPr marL="0" marR="0" indent="32004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Avenir Next Regular"/>
        </a:defRPr>
      </a:lvl8pPr>
      <a:lvl9pPr marL="0" marR="0" indent="36576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chart" Target="../charts/chart2.xml"/><Relationship Id="rId12"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1.xml"/><Relationship Id="rId11" Type="http://schemas.openxmlformats.org/officeDocument/2006/relationships/image" Target="../media/image7.png"/><Relationship Id="rId5" Type="http://schemas.openxmlformats.org/officeDocument/2006/relationships/image" Target="../media/image3.png"/><Relationship Id="rId10" Type="http://schemas.openxmlformats.org/officeDocument/2006/relationships/image" Target="../media/image6.png"/><Relationship Id="rId4" Type="http://schemas.openxmlformats.org/officeDocument/2006/relationships/image" Target="../media/image2.png"/><Relationship Id="rId9"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1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Strategy Based on Shape Features"/>
          <p:cNvSpPr txBox="1">
            <a:spLocks noGrp="1"/>
          </p:cNvSpPr>
          <p:nvPr>
            <p:ph type="ctrTitle"/>
          </p:nvPr>
        </p:nvSpPr>
        <p:spPr>
          <a:xfrm>
            <a:off x="1270000" y="4134923"/>
            <a:ext cx="21844000" cy="3879454"/>
          </a:xfrm>
          <a:prstGeom prst="rect">
            <a:avLst/>
          </a:prstGeom>
        </p:spPr>
        <p:txBody>
          <a:bodyPr/>
          <a:lstStyle>
            <a:lvl1pPr defTabSz="2413955">
              <a:defRPr sz="11484" spc="-344"/>
            </a:lvl1pPr>
          </a:lstStyle>
          <a:p>
            <a:r>
              <a:rPr lang="en-US" altLang="zh-CN" dirty="0"/>
              <a:t>Shape of Price and EA returns</a:t>
            </a:r>
            <a:endParaRPr lang="en-US" dirty="0"/>
          </a:p>
        </p:txBody>
      </p:sp>
      <p:sp>
        <p:nvSpPr>
          <p:cNvPr id="172" name="Chenyu Wu, Wensheng Li, 06/28/2024"/>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808990">
              <a:defRPr sz="3430"/>
            </a:lvl1pPr>
          </a:lstStyle>
          <a:p>
            <a:r>
              <a:t>Chenyu Wu, Wensheng Li, 06/28/2024</a:t>
            </a:r>
          </a:p>
        </p:txBody>
      </p:sp>
      <p:sp>
        <p:nvSpPr>
          <p:cNvPr id="173" name="GAR-Team 2"/>
          <p:cNvSpPr txBox="1">
            <a:spLocks noGrp="1"/>
          </p:cNvSpPr>
          <p:nvPr>
            <p:ph type="subTitle" sz="quarter" idx="1"/>
          </p:nvPr>
        </p:nvSpPr>
        <p:spPr>
          <a:xfrm>
            <a:off x="1270000" y="7830622"/>
            <a:ext cx="21844000" cy="2512353"/>
          </a:xfrm>
          <a:prstGeom prst="rect">
            <a:avLst/>
          </a:prstGeom>
        </p:spPr>
        <p:txBody>
          <a:bodyPr/>
          <a:lstStyle/>
          <a:p>
            <a:r>
              <a:rPr dirty="0"/>
              <a:t>GAR-Team 2</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The high-level feature of historical prices"/>
          <p:cNvSpPr txBox="1">
            <a:spLocks noGrp="1"/>
          </p:cNvSpPr>
          <p:nvPr>
            <p:ph type="title"/>
          </p:nvPr>
        </p:nvSpPr>
        <p:spPr>
          <a:prstGeom prst="rect">
            <a:avLst/>
          </a:prstGeom>
        </p:spPr>
        <p:txBody>
          <a:bodyPr/>
          <a:lstStyle/>
          <a:p>
            <a:r>
              <a:rPr lang="en-US" altLang="zh-CN" dirty="0"/>
              <a:t>The ordering information of historical returns</a:t>
            </a:r>
            <a:endParaRPr dirty="0"/>
          </a:p>
        </p:txBody>
      </p:sp>
      <p:sp>
        <p:nvSpPr>
          <p:cNvPr id="179" name="Typically, we use basic statistics like mean, std to extract features from historical price or return. Researchers argue that higher level statistics can be extracted from historical price data, which can be very predictive."/>
          <p:cNvSpPr txBox="1"/>
          <p:nvPr/>
        </p:nvSpPr>
        <p:spPr>
          <a:xfrm>
            <a:off x="1166156" y="2283529"/>
            <a:ext cx="22316645" cy="28085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Autofit/>
          </a:bodyPr>
          <a:lstStyle/>
          <a:p>
            <a:pPr marL="558800" indent="-558800">
              <a:spcBef>
                <a:spcPts val="600"/>
              </a:spcBef>
              <a:buClr>
                <a:srgbClr val="000000"/>
              </a:buClr>
              <a:buSzPct val="100000"/>
              <a:buChar char="•"/>
            </a:pPr>
            <a:r>
              <a:rPr sz="4000" dirty="0"/>
              <a:t>Typically, we use basic statistics like mean, std</a:t>
            </a:r>
            <a:r>
              <a:rPr lang="en-GB" sz="4000" dirty="0"/>
              <a:t>, skew</a:t>
            </a:r>
            <a:r>
              <a:rPr sz="4000" dirty="0"/>
              <a:t> to extract features from historical price or return. </a:t>
            </a:r>
            <a:endParaRPr lang="en-GB" sz="4000" dirty="0"/>
          </a:p>
          <a:p>
            <a:pPr marL="558800" indent="-558800">
              <a:spcBef>
                <a:spcPts val="600"/>
              </a:spcBef>
              <a:buClr>
                <a:srgbClr val="000000"/>
              </a:buClr>
              <a:buSzPct val="100000"/>
              <a:buChar char="•"/>
            </a:pPr>
            <a:r>
              <a:rPr sz="4000" dirty="0"/>
              <a:t>Researchers argue that</a:t>
            </a:r>
            <a:r>
              <a:rPr lang="en-US" sz="4000" dirty="0"/>
              <a:t>,</a:t>
            </a:r>
            <a:r>
              <a:rPr lang="zh-CN" altLang="en-US" sz="4000" dirty="0"/>
              <a:t> </a:t>
            </a:r>
            <a:r>
              <a:rPr lang="en-US" altLang="zh-CN" sz="4000" b="1" dirty="0"/>
              <a:t>finding the high-level characteristics</a:t>
            </a:r>
            <a:r>
              <a:rPr lang="en-US" altLang="zh-CN" sz="4000" dirty="0"/>
              <a:t>, e.g.</a:t>
            </a:r>
            <a:r>
              <a:rPr sz="4000" dirty="0"/>
              <a:t> </a:t>
            </a:r>
            <a:r>
              <a:rPr lang="en-US" sz="4000" dirty="0"/>
              <a:t>regressing stock return on </a:t>
            </a:r>
            <a:r>
              <a:rPr lang="en-US" altLang="zh-CN" sz="4000" dirty="0"/>
              <a:t>TIME</a:t>
            </a:r>
            <a:r>
              <a:rPr lang="en-US" sz="4000" dirty="0"/>
              <a:t> order sequence</a:t>
            </a:r>
            <a:r>
              <a:rPr sz="4000" b="1" dirty="0"/>
              <a:t> </a:t>
            </a:r>
            <a:r>
              <a:rPr sz="4000" dirty="0"/>
              <a:t>can</a:t>
            </a:r>
            <a:r>
              <a:rPr lang="en-US" sz="4000" dirty="0"/>
              <a:t> extract more information about return order and give a good prediction to EA jump.</a:t>
            </a:r>
            <a:endParaRPr sz="4000" dirty="0"/>
          </a:p>
        </p:txBody>
      </p:sp>
      <p:pic>
        <p:nvPicPr>
          <p:cNvPr id="180" name="已粘贴的影片.png" descr="已粘贴的影片.png"/>
          <p:cNvPicPr>
            <a:picLocks noChangeAspect="1"/>
          </p:cNvPicPr>
          <p:nvPr/>
        </p:nvPicPr>
        <p:blipFill>
          <a:blip r:embed="rId3"/>
          <a:stretch>
            <a:fillRect/>
          </a:stretch>
        </p:blipFill>
        <p:spPr>
          <a:xfrm>
            <a:off x="15778597" y="5024561"/>
            <a:ext cx="8356630" cy="2524770"/>
          </a:xfrm>
          <a:prstGeom prst="rect">
            <a:avLst/>
          </a:prstGeom>
          <a:ln w="25400">
            <a:solidFill>
              <a:srgbClr val="000000"/>
            </a:solidFill>
            <a:miter lim="400000"/>
          </a:ln>
        </p:spPr>
      </p:pic>
      <p:pic>
        <p:nvPicPr>
          <p:cNvPr id="181" name="已粘贴的影片.png" descr="已粘贴的影片.png"/>
          <p:cNvPicPr>
            <a:picLocks/>
          </p:cNvPicPr>
          <p:nvPr/>
        </p:nvPicPr>
        <p:blipFill>
          <a:blip r:embed="rId4"/>
          <a:stretch>
            <a:fillRect/>
          </a:stretch>
        </p:blipFill>
        <p:spPr>
          <a:xfrm>
            <a:off x="15778597" y="7917157"/>
            <a:ext cx="8362866" cy="2454320"/>
          </a:xfrm>
          <a:prstGeom prst="rect">
            <a:avLst/>
          </a:prstGeom>
          <a:ln w="25400">
            <a:solidFill>
              <a:srgbClr val="000000"/>
            </a:solidFill>
            <a:miter lim="400000"/>
          </a:ln>
        </p:spPr>
      </p:pic>
      <p:pic>
        <p:nvPicPr>
          <p:cNvPr id="3" name="图片 2">
            <a:extLst>
              <a:ext uri="{FF2B5EF4-FFF2-40B4-BE49-F238E27FC236}">
                <a16:creationId xmlns:a16="http://schemas.microsoft.com/office/drawing/2014/main" id="{A7EA6EF3-EC68-6C22-E1CF-9BDD0ABD4C33}"/>
              </a:ext>
            </a:extLst>
          </p:cNvPr>
          <p:cNvPicPr>
            <a:picLocks/>
          </p:cNvPicPr>
          <p:nvPr/>
        </p:nvPicPr>
        <p:blipFill rotWithShape="1">
          <a:blip r:embed="rId5"/>
          <a:srcRect t="-1" b="-12353"/>
          <a:stretch/>
        </p:blipFill>
        <p:spPr>
          <a:xfrm>
            <a:off x="15778597" y="10739303"/>
            <a:ext cx="8362866" cy="2262938"/>
          </a:xfrm>
          <a:prstGeom prst="rect">
            <a:avLst/>
          </a:prstGeom>
          <a:ln w="28575">
            <a:solidFill>
              <a:schemeClr val="tx1"/>
            </a:solidFill>
          </a:ln>
        </p:spPr>
      </p:pic>
      <p:graphicFrame>
        <p:nvGraphicFramePr>
          <p:cNvPr id="7" name="图表 6">
            <a:extLst>
              <a:ext uri="{FF2B5EF4-FFF2-40B4-BE49-F238E27FC236}">
                <a16:creationId xmlns:a16="http://schemas.microsoft.com/office/drawing/2014/main" id="{9D7D8990-5171-2929-CC3C-9C75F959CF7C}"/>
              </a:ext>
            </a:extLst>
          </p:cNvPr>
          <p:cNvGraphicFramePr>
            <a:graphicFrameLocks/>
          </p:cNvGraphicFramePr>
          <p:nvPr>
            <p:extLst>
              <p:ext uri="{D42A27DB-BD31-4B8C-83A1-F6EECF244321}">
                <p14:modId xmlns:p14="http://schemas.microsoft.com/office/powerpoint/2010/main" val="2818687597"/>
              </p:ext>
            </p:extLst>
          </p:nvPr>
        </p:nvGraphicFramePr>
        <p:xfrm>
          <a:off x="1775756" y="5300382"/>
          <a:ext cx="6403009" cy="4130776"/>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9" name="图表 8">
            <a:extLst>
              <a:ext uri="{FF2B5EF4-FFF2-40B4-BE49-F238E27FC236}">
                <a16:creationId xmlns:a16="http://schemas.microsoft.com/office/drawing/2014/main" id="{83199D9A-C7AA-D7DC-0B84-321B0211A804}"/>
              </a:ext>
            </a:extLst>
          </p:cNvPr>
          <p:cNvGraphicFramePr>
            <a:graphicFrameLocks/>
          </p:cNvGraphicFramePr>
          <p:nvPr>
            <p:extLst>
              <p:ext uri="{D42A27DB-BD31-4B8C-83A1-F6EECF244321}">
                <p14:modId xmlns:p14="http://schemas.microsoft.com/office/powerpoint/2010/main" val="3332674567"/>
              </p:ext>
            </p:extLst>
          </p:nvPr>
        </p:nvGraphicFramePr>
        <p:xfrm>
          <a:off x="9511459" y="5408967"/>
          <a:ext cx="5557512" cy="4130776"/>
        </p:xfrm>
        <a:graphic>
          <a:graphicData uri="http://schemas.openxmlformats.org/drawingml/2006/chart">
            <c:chart xmlns:c="http://schemas.openxmlformats.org/drawingml/2006/chart" xmlns:r="http://schemas.openxmlformats.org/officeDocument/2006/relationships" r:id="rId7"/>
          </a:graphicData>
        </a:graphic>
      </p:graphicFrame>
      <p:cxnSp>
        <p:nvCxnSpPr>
          <p:cNvPr id="13" name="直接箭头连接符 12">
            <a:extLst>
              <a:ext uri="{FF2B5EF4-FFF2-40B4-BE49-F238E27FC236}">
                <a16:creationId xmlns:a16="http://schemas.microsoft.com/office/drawing/2014/main" id="{D13A055F-E72A-B5EA-4BA2-85DD4DC6ADDD}"/>
              </a:ext>
            </a:extLst>
          </p:cNvPr>
          <p:cNvCxnSpPr>
            <a:cxnSpLocks/>
          </p:cNvCxnSpPr>
          <p:nvPr/>
        </p:nvCxnSpPr>
        <p:spPr>
          <a:xfrm flipV="1">
            <a:off x="13585687" y="6430696"/>
            <a:ext cx="967998" cy="935074"/>
          </a:xfrm>
          <a:prstGeom prst="straightConnector1">
            <a:avLst/>
          </a:prstGeom>
          <a:noFill/>
          <a:ln w="12700" cap="flat">
            <a:solidFill>
              <a:srgbClr val="C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0" name="矩形 9">
            <a:extLst>
              <a:ext uri="{FF2B5EF4-FFF2-40B4-BE49-F238E27FC236}">
                <a16:creationId xmlns:a16="http://schemas.microsoft.com/office/drawing/2014/main" id="{5A4F3790-9050-DE94-7F4A-BB262BB4D5AE}"/>
              </a:ext>
            </a:extLst>
          </p:cNvPr>
          <p:cNvSpPr/>
          <p:nvPr/>
        </p:nvSpPr>
        <p:spPr>
          <a:xfrm>
            <a:off x="7357130" y="5548253"/>
            <a:ext cx="647183" cy="2001078"/>
          </a:xfrm>
          <a:prstGeom prst="rect">
            <a:avLst/>
          </a:prstGeom>
          <a:noFill/>
          <a:ln w="12700" cap="flat">
            <a:solidFill>
              <a:schemeClr val="accent5">
                <a:lumMod val="75000"/>
              </a:schemeClr>
            </a:solidFill>
            <a:prstDash val="dashDot"/>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FFFFFF"/>
              </a:solidFill>
              <a:effectLst/>
              <a:uFillTx/>
              <a:latin typeface="Avenir Next Medium"/>
              <a:ea typeface="Avenir Next Medium"/>
              <a:cs typeface="Avenir Next Medium"/>
              <a:sym typeface="Avenir Next Medium"/>
            </a:endParaRPr>
          </a:p>
        </p:txBody>
      </p:sp>
      <p:sp>
        <p:nvSpPr>
          <p:cNvPr id="11" name="矩形 10">
            <a:extLst>
              <a:ext uri="{FF2B5EF4-FFF2-40B4-BE49-F238E27FC236}">
                <a16:creationId xmlns:a16="http://schemas.microsoft.com/office/drawing/2014/main" id="{AC09C361-E6F0-D575-D10A-F4D4A6FE09F2}"/>
              </a:ext>
            </a:extLst>
          </p:cNvPr>
          <p:cNvSpPr/>
          <p:nvPr/>
        </p:nvSpPr>
        <p:spPr>
          <a:xfrm>
            <a:off x="14089235" y="5548253"/>
            <a:ext cx="647183" cy="2001078"/>
          </a:xfrm>
          <a:prstGeom prst="rect">
            <a:avLst/>
          </a:prstGeom>
          <a:noFill/>
          <a:ln w="12700" cap="flat">
            <a:solidFill>
              <a:schemeClr val="accent5">
                <a:lumMod val="75000"/>
              </a:schemeClr>
            </a:solidFill>
            <a:prstDash val="dashDot"/>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FFFFFF"/>
              </a:solidFill>
              <a:effectLst/>
              <a:uFillTx/>
              <a:latin typeface="Avenir Next Medium"/>
              <a:ea typeface="Avenir Next Medium"/>
              <a:cs typeface="Avenir Next Medium"/>
              <a:sym typeface="Avenir Next Medium"/>
            </a:endParaRPr>
          </a:p>
        </p:txBody>
      </p:sp>
      <p:grpSp>
        <p:nvGrpSpPr>
          <p:cNvPr id="34" name="成组">
            <a:extLst>
              <a:ext uri="{FF2B5EF4-FFF2-40B4-BE49-F238E27FC236}">
                <a16:creationId xmlns:a16="http://schemas.microsoft.com/office/drawing/2014/main" id="{B0513D29-06D7-132C-4228-8E4307C83221}"/>
              </a:ext>
            </a:extLst>
          </p:cNvPr>
          <p:cNvGrpSpPr>
            <a:grpSpLocks/>
          </p:cNvGrpSpPr>
          <p:nvPr/>
        </p:nvGrpSpPr>
        <p:grpSpPr>
          <a:xfrm>
            <a:off x="9654159" y="10481959"/>
            <a:ext cx="5295543" cy="2716554"/>
            <a:chOff x="8951" y="161931"/>
            <a:chExt cx="8406651" cy="5062721"/>
          </a:xfrm>
        </p:grpSpPr>
        <p:sp>
          <p:nvSpPr>
            <p:cNvPr id="35" name="矩形">
              <a:extLst>
                <a:ext uri="{FF2B5EF4-FFF2-40B4-BE49-F238E27FC236}">
                  <a16:creationId xmlns:a16="http://schemas.microsoft.com/office/drawing/2014/main" id="{051ACD56-5600-5440-37A2-83E244E37FAA}"/>
                </a:ext>
              </a:extLst>
            </p:cNvPr>
            <p:cNvSpPr/>
            <p:nvPr/>
          </p:nvSpPr>
          <p:spPr>
            <a:xfrm>
              <a:off x="8951" y="161931"/>
              <a:ext cx="8406651" cy="5062721"/>
            </a:xfrm>
            <a:prstGeom prst="rect">
              <a:avLst/>
            </a:prstGeom>
            <a:solidFill>
              <a:schemeClr val="accent2">
                <a:hueOff val="-206910"/>
                <a:satOff val="-12829"/>
                <a:lumOff val="16238"/>
                <a:alpha val="15612"/>
              </a:schemeClr>
            </a:solidFill>
            <a:ln w="63500" cap="flat">
              <a:solidFill>
                <a:schemeClr val="accent2"/>
              </a:solidFill>
              <a:prstDash val="solid"/>
              <a:miter lim="400000"/>
            </a:ln>
            <a:effectLst/>
          </p:spPr>
          <p:txBody>
            <a:bodyPr wrap="square" lIns="50800" tIns="50800" rIns="50800" bIns="50800" numCol="1" anchor="ctr">
              <a:noAutofit/>
            </a:bodyPr>
            <a:lstStyle/>
            <a:p>
              <a:pPr algn="ctr" defTabSz="457200">
                <a:spcBef>
                  <a:spcPts val="0"/>
                </a:spcBef>
                <a:defRPr sz="3200">
                  <a:solidFill>
                    <a:srgbClr val="FFFFFF"/>
                  </a:solidFill>
                  <a:latin typeface="Avenir Next Medium"/>
                  <a:ea typeface="Avenir Next Medium"/>
                  <a:cs typeface="Avenir Next Medium"/>
                  <a:sym typeface="Avenir Next Medium"/>
                </a:defRPr>
              </a:pPr>
              <a:endParaRPr sz="1800"/>
            </a:p>
          </p:txBody>
        </p:sp>
        <p:pic>
          <p:nvPicPr>
            <p:cNvPr id="36" name="已粘贴的影片.png" descr="已粘贴的影片.png">
              <a:extLst>
                <a:ext uri="{FF2B5EF4-FFF2-40B4-BE49-F238E27FC236}">
                  <a16:creationId xmlns:a16="http://schemas.microsoft.com/office/drawing/2014/main" id="{5E04C260-74F1-D3ED-6F76-8BB9C1FB11D4}"/>
                </a:ext>
              </a:extLst>
            </p:cNvPr>
            <p:cNvPicPr>
              <a:picLocks noChangeAspect="1"/>
            </p:cNvPicPr>
            <p:nvPr/>
          </p:nvPicPr>
          <p:blipFill>
            <a:blip r:embed="rId8"/>
            <a:srcRect l="18439" t="14383" r="9584" b="7686"/>
            <a:stretch>
              <a:fillRect/>
            </a:stretch>
          </p:blipFill>
          <p:spPr>
            <a:xfrm>
              <a:off x="869156" y="524504"/>
              <a:ext cx="6688535" cy="2841806"/>
            </a:xfrm>
            <a:custGeom>
              <a:avLst/>
              <a:gdLst/>
              <a:ahLst/>
              <a:cxnLst>
                <a:cxn ang="0">
                  <a:pos x="wd2" y="hd2"/>
                </a:cxn>
                <a:cxn ang="5400000">
                  <a:pos x="wd2" y="hd2"/>
                </a:cxn>
                <a:cxn ang="10800000">
                  <a:pos x="wd2" y="hd2"/>
                </a:cxn>
                <a:cxn ang="16200000">
                  <a:pos x="wd2" y="hd2"/>
                </a:cxn>
              </a:cxnLst>
              <a:rect l="0" t="0" r="r" b="b"/>
              <a:pathLst>
                <a:path w="21600" h="21554" extrusionOk="0">
                  <a:moveTo>
                    <a:pt x="21587" y="2"/>
                  </a:moveTo>
                  <a:cubicBezTo>
                    <a:pt x="21531" y="-17"/>
                    <a:pt x="21286" y="175"/>
                    <a:pt x="20996" y="468"/>
                  </a:cubicBezTo>
                  <a:cubicBezTo>
                    <a:pt x="14330" y="7213"/>
                    <a:pt x="13400" y="8113"/>
                    <a:pt x="13285" y="7946"/>
                  </a:cubicBezTo>
                  <a:cubicBezTo>
                    <a:pt x="13240" y="7880"/>
                    <a:pt x="13204" y="7587"/>
                    <a:pt x="13204" y="7292"/>
                  </a:cubicBezTo>
                  <a:cubicBezTo>
                    <a:pt x="13204" y="6788"/>
                    <a:pt x="13143" y="6674"/>
                    <a:pt x="12912" y="6744"/>
                  </a:cubicBezTo>
                  <a:cubicBezTo>
                    <a:pt x="12858" y="6761"/>
                    <a:pt x="12773" y="6546"/>
                    <a:pt x="12726" y="6266"/>
                  </a:cubicBezTo>
                  <a:lnTo>
                    <a:pt x="12640" y="5757"/>
                  </a:lnTo>
                  <a:lnTo>
                    <a:pt x="12531" y="6356"/>
                  </a:lnTo>
                  <a:cubicBezTo>
                    <a:pt x="12423" y="6952"/>
                    <a:pt x="12271" y="7003"/>
                    <a:pt x="12271" y="6443"/>
                  </a:cubicBezTo>
                  <a:cubicBezTo>
                    <a:pt x="12271" y="6283"/>
                    <a:pt x="12248" y="6206"/>
                    <a:pt x="12219" y="6272"/>
                  </a:cubicBezTo>
                  <a:cubicBezTo>
                    <a:pt x="12191" y="6338"/>
                    <a:pt x="12120" y="6299"/>
                    <a:pt x="12063" y="6188"/>
                  </a:cubicBezTo>
                  <a:cubicBezTo>
                    <a:pt x="11981" y="6028"/>
                    <a:pt x="11959" y="6074"/>
                    <a:pt x="11959" y="6401"/>
                  </a:cubicBezTo>
                  <a:cubicBezTo>
                    <a:pt x="11959" y="6630"/>
                    <a:pt x="11909" y="6950"/>
                    <a:pt x="11846" y="7109"/>
                  </a:cubicBezTo>
                  <a:cubicBezTo>
                    <a:pt x="11784" y="7267"/>
                    <a:pt x="11661" y="7579"/>
                    <a:pt x="11573" y="7804"/>
                  </a:cubicBezTo>
                  <a:cubicBezTo>
                    <a:pt x="11483" y="8036"/>
                    <a:pt x="11415" y="8465"/>
                    <a:pt x="11415" y="8791"/>
                  </a:cubicBezTo>
                  <a:cubicBezTo>
                    <a:pt x="11415" y="9362"/>
                    <a:pt x="11232" y="10035"/>
                    <a:pt x="11077" y="10035"/>
                  </a:cubicBezTo>
                  <a:cubicBezTo>
                    <a:pt x="11033" y="10035"/>
                    <a:pt x="10920" y="10202"/>
                    <a:pt x="10826" y="10408"/>
                  </a:cubicBezTo>
                  <a:lnTo>
                    <a:pt x="10656" y="10784"/>
                  </a:lnTo>
                  <a:lnTo>
                    <a:pt x="10493" y="10299"/>
                  </a:lnTo>
                  <a:lnTo>
                    <a:pt x="10332" y="9818"/>
                  </a:lnTo>
                  <a:lnTo>
                    <a:pt x="10129" y="10188"/>
                  </a:lnTo>
                  <a:cubicBezTo>
                    <a:pt x="10018" y="10392"/>
                    <a:pt x="9880" y="10516"/>
                    <a:pt x="9820" y="10462"/>
                  </a:cubicBezTo>
                  <a:cubicBezTo>
                    <a:pt x="9716" y="10369"/>
                    <a:pt x="9673" y="10592"/>
                    <a:pt x="9609" y="11579"/>
                  </a:cubicBezTo>
                  <a:cubicBezTo>
                    <a:pt x="9596" y="11779"/>
                    <a:pt x="9534" y="11947"/>
                    <a:pt x="9470" y="11949"/>
                  </a:cubicBezTo>
                  <a:cubicBezTo>
                    <a:pt x="9407" y="11951"/>
                    <a:pt x="9270" y="12090"/>
                    <a:pt x="9167" y="12259"/>
                  </a:cubicBezTo>
                  <a:cubicBezTo>
                    <a:pt x="8946" y="12620"/>
                    <a:pt x="8890" y="12564"/>
                    <a:pt x="8727" y="11826"/>
                  </a:cubicBezTo>
                  <a:cubicBezTo>
                    <a:pt x="8612" y="11305"/>
                    <a:pt x="8599" y="11293"/>
                    <a:pt x="8496" y="11609"/>
                  </a:cubicBezTo>
                  <a:cubicBezTo>
                    <a:pt x="8437" y="11793"/>
                    <a:pt x="8387" y="11872"/>
                    <a:pt x="8386" y="11784"/>
                  </a:cubicBezTo>
                  <a:cubicBezTo>
                    <a:pt x="8381" y="11449"/>
                    <a:pt x="8072" y="12565"/>
                    <a:pt x="8072" y="12918"/>
                  </a:cubicBezTo>
                  <a:cubicBezTo>
                    <a:pt x="8072" y="13122"/>
                    <a:pt x="8039" y="13335"/>
                    <a:pt x="7998" y="13394"/>
                  </a:cubicBezTo>
                  <a:cubicBezTo>
                    <a:pt x="7907" y="13525"/>
                    <a:pt x="7684" y="12564"/>
                    <a:pt x="7684" y="12045"/>
                  </a:cubicBezTo>
                  <a:cubicBezTo>
                    <a:pt x="7684" y="11523"/>
                    <a:pt x="7480" y="11578"/>
                    <a:pt x="7321" y="12145"/>
                  </a:cubicBezTo>
                  <a:cubicBezTo>
                    <a:pt x="7194" y="12598"/>
                    <a:pt x="7183" y="12606"/>
                    <a:pt x="7081" y="12283"/>
                  </a:cubicBezTo>
                  <a:cubicBezTo>
                    <a:pt x="6979" y="11959"/>
                    <a:pt x="6970" y="11961"/>
                    <a:pt x="6835" y="12377"/>
                  </a:cubicBezTo>
                  <a:cubicBezTo>
                    <a:pt x="6696" y="12805"/>
                    <a:pt x="6695" y="12807"/>
                    <a:pt x="6587" y="12446"/>
                  </a:cubicBezTo>
                  <a:cubicBezTo>
                    <a:pt x="6523" y="12233"/>
                    <a:pt x="6397" y="12089"/>
                    <a:pt x="6285" y="12103"/>
                  </a:cubicBezTo>
                  <a:cubicBezTo>
                    <a:pt x="6128" y="12121"/>
                    <a:pt x="6077" y="12271"/>
                    <a:pt x="5996" y="12948"/>
                  </a:cubicBezTo>
                  <a:cubicBezTo>
                    <a:pt x="5896" y="13773"/>
                    <a:pt x="5515" y="14947"/>
                    <a:pt x="5347" y="14947"/>
                  </a:cubicBezTo>
                  <a:cubicBezTo>
                    <a:pt x="5298" y="14947"/>
                    <a:pt x="5241" y="14788"/>
                    <a:pt x="5219" y="14592"/>
                  </a:cubicBezTo>
                  <a:cubicBezTo>
                    <a:pt x="5197" y="14397"/>
                    <a:pt x="5090" y="14099"/>
                    <a:pt x="4982" y="13933"/>
                  </a:cubicBezTo>
                  <a:cubicBezTo>
                    <a:pt x="4798" y="13650"/>
                    <a:pt x="4779" y="13649"/>
                    <a:pt x="4711" y="13933"/>
                  </a:cubicBezTo>
                  <a:cubicBezTo>
                    <a:pt x="4654" y="14172"/>
                    <a:pt x="4615" y="14192"/>
                    <a:pt x="4528" y="14023"/>
                  </a:cubicBezTo>
                  <a:cubicBezTo>
                    <a:pt x="4438" y="13848"/>
                    <a:pt x="4397" y="13929"/>
                    <a:pt x="4303" y="14457"/>
                  </a:cubicBezTo>
                  <a:cubicBezTo>
                    <a:pt x="4239" y="14812"/>
                    <a:pt x="4125" y="15213"/>
                    <a:pt x="4049" y="15345"/>
                  </a:cubicBezTo>
                  <a:cubicBezTo>
                    <a:pt x="3973" y="15476"/>
                    <a:pt x="3868" y="15811"/>
                    <a:pt x="3816" y="16088"/>
                  </a:cubicBezTo>
                  <a:cubicBezTo>
                    <a:pt x="3739" y="16492"/>
                    <a:pt x="3694" y="16557"/>
                    <a:pt x="3584" y="16419"/>
                  </a:cubicBezTo>
                  <a:cubicBezTo>
                    <a:pt x="3508" y="16325"/>
                    <a:pt x="3384" y="16203"/>
                    <a:pt x="3309" y="16148"/>
                  </a:cubicBezTo>
                  <a:cubicBezTo>
                    <a:pt x="3214" y="16080"/>
                    <a:pt x="3173" y="15862"/>
                    <a:pt x="3173" y="15426"/>
                  </a:cubicBezTo>
                  <a:cubicBezTo>
                    <a:pt x="3173" y="14827"/>
                    <a:pt x="3163" y="14800"/>
                    <a:pt x="2894" y="14818"/>
                  </a:cubicBezTo>
                  <a:cubicBezTo>
                    <a:pt x="2634" y="14835"/>
                    <a:pt x="2602" y="14904"/>
                    <a:pt x="2436" y="15778"/>
                  </a:cubicBezTo>
                  <a:cubicBezTo>
                    <a:pt x="2233" y="16854"/>
                    <a:pt x="2140" y="17052"/>
                    <a:pt x="2011" y="16687"/>
                  </a:cubicBezTo>
                  <a:cubicBezTo>
                    <a:pt x="1933" y="16469"/>
                    <a:pt x="1877" y="16494"/>
                    <a:pt x="1641" y="16871"/>
                  </a:cubicBezTo>
                  <a:cubicBezTo>
                    <a:pt x="1487" y="17115"/>
                    <a:pt x="1346" y="17278"/>
                    <a:pt x="1327" y="17232"/>
                  </a:cubicBezTo>
                  <a:cubicBezTo>
                    <a:pt x="1231" y="17009"/>
                    <a:pt x="758" y="18533"/>
                    <a:pt x="649" y="19417"/>
                  </a:cubicBezTo>
                  <a:cubicBezTo>
                    <a:pt x="531" y="20367"/>
                    <a:pt x="307" y="20918"/>
                    <a:pt x="140" y="20676"/>
                  </a:cubicBezTo>
                  <a:cubicBezTo>
                    <a:pt x="116" y="20708"/>
                    <a:pt x="93" y="20748"/>
                    <a:pt x="67" y="20793"/>
                  </a:cubicBezTo>
                  <a:cubicBezTo>
                    <a:pt x="66" y="20807"/>
                    <a:pt x="64" y="20819"/>
                    <a:pt x="64" y="20835"/>
                  </a:cubicBezTo>
                  <a:cubicBezTo>
                    <a:pt x="64" y="20983"/>
                    <a:pt x="40" y="21247"/>
                    <a:pt x="12" y="21422"/>
                  </a:cubicBezTo>
                  <a:cubicBezTo>
                    <a:pt x="6" y="21458"/>
                    <a:pt x="3" y="21479"/>
                    <a:pt x="0" y="21506"/>
                  </a:cubicBezTo>
                  <a:cubicBezTo>
                    <a:pt x="58" y="21583"/>
                    <a:pt x="209" y="21568"/>
                    <a:pt x="308" y="21467"/>
                  </a:cubicBezTo>
                  <a:cubicBezTo>
                    <a:pt x="358" y="21417"/>
                    <a:pt x="412" y="21370"/>
                    <a:pt x="429" y="21362"/>
                  </a:cubicBezTo>
                  <a:cubicBezTo>
                    <a:pt x="430" y="21362"/>
                    <a:pt x="433" y="21359"/>
                    <a:pt x="433" y="21359"/>
                  </a:cubicBezTo>
                  <a:cubicBezTo>
                    <a:pt x="434" y="21343"/>
                    <a:pt x="435" y="21325"/>
                    <a:pt x="433" y="21308"/>
                  </a:cubicBezTo>
                  <a:cubicBezTo>
                    <a:pt x="417" y="21147"/>
                    <a:pt x="2699" y="18766"/>
                    <a:pt x="6439" y="15044"/>
                  </a:cubicBezTo>
                  <a:cubicBezTo>
                    <a:pt x="7423" y="14064"/>
                    <a:pt x="7657" y="13821"/>
                    <a:pt x="7766" y="13999"/>
                  </a:cubicBezTo>
                  <a:cubicBezTo>
                    <a:pt x="7779" y="13986"/>
                    <a:pt x="7780" y="13989"/>
                    <a:pt x="7798" y="13972"/>
                  </a:cubicBezTo>
                  <a:cubicBezTo>
                    <a:pt x="7844" y="13925"/>
                    <a:pt x="7907" y="13872"/>
                    <a:pt x="7937" y="13855"/>
                  </a:cubicBezTo>
                  <a:cubicBezTo>
                    <a:pt x="7968" y="13837"/>
                    <a:pt x="8015" y="13787"/>
                    <a:pt x="8041" y="13743"/>
                  </a:cubicBezTo>
                  <a:cubicBezTo>
                    <a:pt x="8053" y="13723"/>
                    <a:pt x="8069" y="13705"/>
                    <a:pt x="8086" y="13686"/>
                  </a:cubicBezTo>
                  <a:cubicBezTo>
                    <a:pt x="8138" y="13450"/>
                    <a:pt x="8224" y="13310"/>
                    <a:pt x="8406" y="13117"/>
                  </a:cubicBezTo>
                  <a:cubicBezTo>
                    <a:pt x="8686" y="12821"/>
                    <a:pt x="8744" y="12812"/>
                    <a:pt x="8817" y="13036"/>
                  </a:cubicBezTo>
                  <a:cubicBezTo>
                    <a:pt x="8890" y="13262"/>
                    <a:pt x="8922" y="13260"/>
                    <a:pt x="9063" y="13030"/>
                  </a:cubicBezTo>
                  <a:cubicBezTo>
                    <a:pt x="9212" y="12786"/>
                    <a:pt x="9238" y="12805"/>
                    <a:pt x="9384" y="13265"/>
                  </a:cubicBezTo>
                  <a:lnTo>
                    <a:pt x="9545" y="13764"/>
                  </a:lnTo>
                  <a:lnTo>
                    <a:pt x="9547" y="13183"/>
                  </a:lnTo>
                  <a:cubicBezTo>
                    <a:pt x="9552" y="12124"/>
                    <a:pt x="9658" y="11780"/>
                    <a:pt x="10103" y="11404"/>
                  </a:cubicBezTo>
                  <a:cubicBezTo>
                    <a:pt x="10333" y="11210"/>
                    <a:pt x="10582" y="11041"/>
                    <a:pt x="10656" y="11028"/>
                  </a:cubicBezTo>
                  <a:cubicBezTo>
                    <a:pt x="10730" y="11015"/>
                    <a:pt x="10852" y="10877"/>
                    <a:pt x="10928" y="10721"/>
                  </a:cubicBezTo>
                  <a:cubicBezTo>
                    <a:pt x="11003" y="10565"/>
                    <a:pt x="11532" y="9962"/>
                    <a:pt x="12104" y="9381"/>
                  </a:cubicBezTo>
                  <a:cubicBezTo>
                    <a:pt x="13097" y="8373"/>
                    <a:pt x="13149" y="8341"/>
                    <a:pt x="13250" y="8665"/>
                  </a:cubicBezTo>
                  <a:cubicBezTo>
                    <a:pt x="13308" y="8852"/>
                    <a:pt x="13377" y="9297"/>
                    <a:pt x="13401" y="9655"/>
                  </a:cubicBezTo>
                  <a:cubicBezTo>
                    <a:pt x="13425" y="10013"/>
                    <a:pt x="13477" y="10448"/>
                    <a:pt x="13518" y="10622"/>
                  </a:cubicBezTo>
                  <a:cubicBezTo>
                    <a:pt x="13558" y="10795"/>
                    <a:pt x="13593" y="11288"/>
                    <a:pt x="13595" y="11714"/>
                  </a:cubicBezTo>
                  <a:cubicBezTo>
                    <a:pt x="13597" y="12336"/>
                    <a:pt x="13613" y="12427"/>
                    <a:pt x="13677" y="12169"/>
                  </a:cubicBezTo>
                  <a:cubicBezTo>
                    <a:pt x="13777" y="11764"/>
                    <a:pt x="13902" y="11926"/>
                    <a:pt x="13902" y="12464"/>
                  </a:cubicBezTo>
                  <a:cubicBezTo>
                    <a:pt x="13902" y="12688"/>
                    <a:pt x="13943" y="12962"/>
                    <a:pt x="13991" y="13075"/>
                  </a:cubicBezTo>
                  <a:cubicBezTo>
                    <a:pt x="14039" y="13187"/>
                    <a:pt x="14101" y="13759"/>
                    <a:pt x="14129" y="14342"/>
                  </a:cubicBezTo>
                  <a:cubicBezTo>
                    <a:pt x="14164" y="15073"/>
                    <a:pt x="14212" y="15386"/>
                    <a:pt x="14282" y="15351"/>
                  </a:cubicBezTo>
                  <a:cubicBezTo>
                    <a:pt x="14337" y="15323"/>
                    <a:pt x="14399" y="15455"/>
                    <a:pt x="14420" y="15643"/>
                  </a:cubicBezTo>
                  <a:cubicBezTo>
                    <a:pt x="14454" y="15949"/>
                    <a:pt x="14482" y="15928"/>
                    <a:pt x="14693" y="15435"/>
                  </a:cubicBezTo>
                  <a:cubicBezTo>
                    <a:pt x="14877" y="15003"/>
                    <a:pt x="14937" y="14676"/>
                    <a:pt x="14971" y="13900"/>
                  </a:cubicBezTo>
                  <a:cubicBezTo>
                    <a:pt x="15001" y="13225"/>
                    <a:pt x="15054" y="12880"/>
                    <a:pt x="15139" y="12810"/>
                  </a:cubicBezTo>
                  <a:cubicBezTo>
                    <a:pt x="15208" y="12754"/>
                    <a:pt x="15322" y="12590"/>
                    <a:pt x="15394" y="12446"/>
                  </a:cubicBezTo>
                  <a:cubicBezTo>
                    <a:pt x="15466" y="12301"/>
                    <a:pt x="15560" y="12230"/>
                    <a:pt x="15600" y="12289"/>
                  </a:cubicBezTo>
                  <a:cubicBezTo>
                    <a:pt x="15684" y="12410"/>
                    <a:pt x="15768" y="12001"/>
                    <a:pt x="15768" y="11483"/>
                  </a:cubicBezTo>
                  <a:cubicBezTo>
                    <a:pt x="15768" y="11296"/>
                    <a:pt x="15856" y="10922"/>
                    <a:pt x="15963" y="10652"/>
                  </a:cubicBezTo>
                  <a:cubicBezTo>
                    <a:pt x="16070" y="10382"/>
                    <a:pt x="16158" y="10056"/>
                    <a:pt x="16158" y="9926"/>
                  </a:cubicBezTo>
                  <a:cubicBezTo>
                    <a:pt x="16158" y="9587"/>
                    <a:pt x="16584" y="8544"/>
                    <a:pt x="16655" y="8710"/>
                  </a:cubicBezTo>
                  <a:cubicBezTo>
                    <a:pt x="16688" y="8787"/>
                    <a:pt x="16755" y="8852"/>
                    <a:pt x="16804" y="8852"/>
                  </a:cubicBezTo>
                  <a:cubicBezTo>
                    <a:pt x="16853" y="8852"/>
                    <a:pt x="16919" y="9251"/>
                    <a:pt x="16949" y="9740"/>
                  </a:cubicBezTo>
                  <a:cubicBezTo>
                    <a:pt x="16979" y="10229"/>
                    <a:pt x="17039" y="10717"/>
                    <a:pt x="17085" y="10823"/>
                  </a:cubicBezTo>
                  <a:cubicBezTo>
                    <a:pt x="17130" y="10930"/>
                    <a:pt x="17169" y="11144"/>
                    <a:pt x="17171" y="11299"/>
                  </a:cubicBezTo>
                  <a:cubicBezTo>
                    <a:pt x="17172" y="11454"/>
                    <a:pt x="17222" y="11733"/>
                    <a:pt x="17282" y="11919"/>
                  </a:cubicBezTo>
                  <a:cubicBezTo>
                    <a:pt x="17381" y="12225"/>
                    <a:pt x="17396" y="12153"/>
                    <a:pt x="17444" y="11172"/>
                  </a:cubicBezTo>
                  <a:cubicBezTo>
                    <a:pt x="17493" y="10160"/>
                    <a:pt x="17519" y="10048"/>
                    <a:pt x="17843" y="9469"/>
                  </a:cubicBezTo>
                  <a:cubicBezTo>
                    <a:pt x="18034" y="9128"/>
                    <a:pt x="18247" y="8712"/>
                    <a:pt x="18315" y="8542"/>
                  </a:cubicBezTo>
                  <a:cubicBezTo>
                    <a:pt x="18461" y="8178"/>
                    <a:pt x="18568" y="8274"/>
                    <a:pt x="18568" y="8770"/>
                  </a:cubicBezTo>
                  <a:cubicBezTo>
                    <a:pt x="18568" y="9226"/>
                    <a:pt x="18695" y="9225"/>
                    <a:pt x="18800" y="8767"/>
                  </a:cubicBezTo>
                  <a:cubicBezTo>
                    <a:pt x="18844" y="8571"/>
                    <a:pt x="18924" y="8445"/>
                    <a:pt x="18976" y="8490"/>
                  </a:cubicBezTo>
                  <a:cubicBezTo>
                    <a:pt x="19125" y="8618"/>
                    <a:pt x="19231" y="8363"/>
                    <a:pt x="19313" y="7669"/>
                  </a:cubicBezTo>
                  <a:cubicBezTo>
                    <a:pt x="19355" y="7319"/>
                    <a:pt x="19441" y="7022"/>
                    <a:pt x="19503" y="7012"/>
                  </a:cubicBezTo>
                  <a:cubicBezTo>
                    <a:pt x="19566" y="7002"/>
                    <a:pt x="19656" y="6982"/>
                    <a:pt x="19704" y="6967"/>
                  </a:cubicBezTo>
                  <a:cubicBezTo>
                    <a:pt x="19753" y="6952"/>
                    <a:pt x="19838" y="6675"/>
                    <a:pt x="19894" y="6350"/>
                  </a:cubicBezTo>
                  <a:cubicBezTo>
                    <a:pt x="19950" y="6025"/>
                    <a:pt x="20077" y="5453"/>
                    <a:pt x="20176" y="5080"/>
                  </a:cubicBezTo>
                  <a:cubicBezTo>
                    <a:pt x="20275" y="4706"/>
                    <a:pt x="20355" y="4206"/>
                    <a:pt x="20355" y="3969"/>
                  </a:cubicBezTo>
                  <a:cubicBezTo>
                    <a:pt x="20356" y="3301"/>
                    <a:pt x="20793" y="2576"/>
                    <a:pt x="20960" y="2967"/>
                  </a:cubicBezTo>
                  <a:cubicBezTo>
                    <a:pt x="21014" y="3091"/>
                    <a:pt x="21070" y="2924"/>
                    <a:pt x="21135" y="2452"/>
                  </a:cubicBezTo>
                  <a:cubicBezTo>
                    <a:pt x="21188" y="2067"/>
                    <a:pt x="21271" y="1633"/>
                    <a:pt x="21322" y="1483"/>
                  </a:cubicBezTo>
                  <a:cubicBezTo>
                    <a:pt x="21428" y="1166"/>
                    <a:pt x="21600" y="266"/>
                    <a:pt x="21600" y="23"/>
                  </a:cubicBezTo>
                  <a:cubicBezTo>
                    <a:pt x="21600" y="11"/>
                    <a:pt x="21595" y="4"/>
                    <a:pt x="21587" y="2"/>
                  </a:cubicBezTo>
                  <a:close/>
                </a:path>
              </a:pathLst>
            </a:custGeom>
            <a:ln w="25400" cap="flat">
              <a:solidFill>
                <a:srgbClr val="000000"/>
              </a:solidFill>
              <a:prstDash val="solid"/>
              <a:miter lim="400000"/>
            </a:ln>
            <a:effectLst/>
          </p:spPr>
        </p:pic>
        <mc:AlternateContent xmlns:mc="http://schemas.openxmlformats.org/markup-compatibility/2006" xmlns:a14="http://schemas.microsoft.com/office/drawing/2010/main">
          <mc:Choice Requires="a14">
            <p:sp>
              <p:nvSpPr>
                <p:cNvPr id="37" name="方程">
                  <a:extLst>
                    <a:ext uri="{FF2B5EF4-FFF2-40B4-BE49-F238E27FC236}">
                      <a16:creationId xmlns:a16="http://schemas.microsoft.com/office/drawing/2014/main" id="{CE84FDDE-3086-7954-E9E5-CAC29DF77DDE}"/>
                    </a:ext>
                  </a:extLst>
                </p:cNvPr>
                <p:cNvSpPr txBox="1"/>
                <p:nvPr/>
              </p:nvSpPr>
              <p:spPr>
                <a:xfrm>
                  <a:off x="7003483" y="1309073"/>
                  <a:ext cx="1013222" cy="743791"/>
                </a:xfrm>
                <a:prstGeom prst="rect">
                  <a:avLst/>
                </a:prstGeom>
                <a:noFill/>
                <a:ln w="12700" cap="flat">
                  <a:noFill/>
                  <a:miter lim="400000"/>
                </a:ln>
                <a:effectLst/>
              </p:spPr>
              <p:txBody>
                <a:bodyPr wrap="none" lIns="0" tIns="0" rIns="0" bIns="0">
                  <a:spAutoFit/>
                </a:bodyPr>
                <a:lstStyle/>
                <a:p>
                  <a:pPr defTabSz="914400" latinLnBrk="1">
                    <a:spcBef>
                      <a:spcPts val="0"/>
                    </a:spcBef>
                    <a:defRPr sz="1800"/>
                  </a:pPr>
                  <a14:m>
                    <m:oMathPara xmlns:m="http://schemas.openxmlformats.org/officeDocument/2006/math">
                      <m:oMathParaPr>
                        <m:jc m:val="centerGroup"/>
                      </m:oMathParaPr>
                      <m:oMath xmlns:m="http://schemas.openxmlformats.org/officeDocument/2006/math">
                        <m:sSup>
                          <m:sSupPr>
                            <m:ctrlPr>
                              <a:rPr sz="3200" i="1">
                                <a:solidFill>
                                  <a:srgbClr val="000000"/>
                                </a:solidFill>
                                <a:latin typeface="Cambria Math" panose="02040503050406030204" pitchFamily="18" charset="0"/>
                              </a:rPr>
                            </m:ctrlPr>
                          </m:sSupPr>
                          <m:e>
                            <m:r>
                              <a:rPr sz="3200" i="1">
                                <a:solidFill>
                                  <a:srgbClr val="000000"/>
                                </a:solidFill>
                                <a:latin typeface="Cambria Math" panose="02040503050406030204" pitchFamily="18" charset="0"/>
                              </a:rPr>
                              <m:t>𝐻</m:t>
                            </m:r>
                          </m:e>
                          <m:sup>
                            <m:r>
                              <a:rPr sz="3200" i="1">
                                <a:solidFill>
                                  <a:srgbClr val="000000"/>
                                </a:solidFill>
                                <a:latin typeface="Cambria Math" panose="02040503050406030204" pitchFamily="18" charset="0"/>
                              </a:rPr>
                              <m:t>−</m:t>
                            </m:r>
                          </m:sup>
                        </m:sSup>
                      </m:oMath>
                    </m:oMathPara>
                  </a14:m>
                  <a:endParaRPr sz="3200"/>
                </a:p>
              </p:txBody>
            </p:sp>
          </mc:Choice>
          <mc:Fallback xmlns="">
            <p:sp>
              <p:nvSpPr>
                <p:cNvPr id="37" name="方程">
                  <a:extLst>
                    <a:ext uri="{FF2B5EF4-FFF2-40B4-BE49-F238E27FC236}">
                      <a16:creationId xmlns:a16="http://schemas.microsoft.com/office/drawing/2014/main" id="{CE84FDDE-3086-7954-E9E5-CAC29DF77DDE}"/>
                    </a:ext>
                  </a:extLst>
                </p:cNvPr>
                <p:cNvSpPr txBox="1">
                  <a:spLocks noRot="1" noChangeAspect="1" noMove="1" noResize="1" noEditPoints="1" noAdjustHandles="1" noChangeArrowheads="1" noChangeShapeType="1" noTextEdit="1"/>
                </p:cNvSpPr>
                <p:nvPr/>
              </p:nvSpPr>
              <p:spPr>
                <a:xfrm>
                  <a:off x="7003483" y="1309073"/>
                  <a:ext cx="1013222" cy="743791"/>
                </a:xfrm>
                <a:prstGeom prst="rect">
                  <a:avLst/>
                </a:prstGeom>
                <a:blipFill>
                  <a:blip r:embed="rId9"/>
                  <a:stretch>
                    <a:fillRect/>
                  </a:stretch>
                </a:blipFill>
                <a:ln w="12700" cap="flat">
                  <a:noFill/>
                  <a:miter lim="4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方程">
                  <a:extLst>
                    <a:ext uri="{FF2B5EF4-FFF2-40B4-BE49-F238E27FC236}">
                      <a16:creationId xmlns:a16="http://schemas.microsoft.com/office/drawing/2014/main" id="{9922FA73-1A5F-3ABB-B2FC-76B636FFE94A}"/>
                    </a:ext>
                  </a:extLst>
                </p:cNvPr>
                <p:cNvSpPr txBox="1"/>
                <p:nvPr/>
              </p:nvSpPr>
              <p:spPr>
                <a:xfrm>
                  <a:off x="2070333" y="2973190"/>
                  <a:ext cx="4614465" cy="1481286"/>
                </a:xfrm>
                <a:prstGeom prst="rect">
                  <a:avLst/>
                </a:prstGeom>
                <a:noFill/>
                <a:ln w="12700" cap="flat">
                  <a:noFill/>
                  <a:miter lim="400000"/>
                </a:ln>
                <a:effectLst/>
              </p:spPr>
              <p:txBody>
                <a:bodyPr wrap="none" lIns="0" tIns="0" rIns="0" bIns="0">
                  <a:spAutoFit/>
                </a:bodyPr>
                <a:lstStyle/>
                <a:p>
                  <a:pPr defTabSz="914400" latinLnBrk="1">
                    <a:spcBef>
                      <a:spcPts val="0"/>
                    </a:spcBef>
                    <a:defRPr sz="1800"/>
                  </a:pPr>
                  <a14:m>
                    <m:oMathPara xmlns:m="http://schemas.openxmlformats.org/officeDocument/2006/math">
                      <m:oMathParaPr>
                        <m:jc m:val="centerGroup"/>
                      </m:oMathParaPr>
                      <m:oMath xmlns:m="http://schemas.openxmlformats.org/officeDocument/2006/math">
                        <m:r>
                          <a:rPr sz="3200" i="1">
                            <a:solidFill>
                              <a:srgbClr val="000000"/>
                            </a:solidFill>
                            <a:latin typeface="Cambria Math" panose="02040503050406030204" pitchFamily="18" charset="0"/>
                          </a:rPr>
                          <m:t>𝑉𝑆𝑆</m:t>
                        </m:r>
                        <m:r>
                          <a:rPr sz="3200" i="1">
                            <a:solidFill>
                              <a:srgbClr val="000000"/>
                            </a:solidFill>
                            <a:latin typeface="Cambria Math" panose="02040503050406030204" pitchFamily="18" charset="0"/>
                          </a:rPr>
                          <m:t>=</m:t>
                        </m:r>
                        <m:f>
                          <m:fPr>
                            <m:ctrlPr>
                              <a:rPr sz="3200" i="1">
                                <a:solidFill>
                                  <a:srgbClr val="000000"/>
                                </a:solidFill>
                                <a:latin typeface="Cambria Math" panose="02040503050406030204" pitchFamily="18" charset="0"/>
                              </a:rPr>
                            </m:ctrlPr>
                          </m:fPr>
                          <m:num>
                            <m:sSup>
                              <m:sSupPr>
                                <m:ctrlPr>
                                  <a:rPr sz="3200" i="1">
                                    <a:solidFill>
                                      <a:srgbClr val="000000"/>
                                    </a:solidFill>
                                    <a:latin typeface="Cambria Math" panose="02040503050406030204" pitchFamily="18" charset="0"/>
                                  </a:rPr>
                                </m:ctrlPr>
                              </m:sSupPr>
                              <m:e>
                                <m:r>
                                  <a:rPr sz="3200" i="1">
                                    <a:solidFill>
                                      <a:srgbClr val="000000"/>
                                    </a:solidFill>
                                    <a:latin typeface="Cambria Math" panose="02040503050406030204" pitchFamily="18" charset="0"/>
                                  </a:rPr>
                                  <m:t>𝐻</m:t>
                                </m:r>
                              </m:e>
                              <m:sup>
                                <m:r>
                                  <a:rPr sz="3200" i="1">
                                    <a:solidFill>
                                      <a:srgbClr val="000000"/>
                                    </a:solidFill>
                                    <a:latin typeface="Cambria Math" panose="02040503050406030204" pitchFamily="18" charset="0"/>
                                  </a:rPr>
                                  <m:t>+</m:t>
                                </m:r>
                              </m:sup>
                            </m:sSup>
                          </m:num>
                          <m:den>
                            <m:sSup>
                              <m:sSupPr>
                                <m:ctrlPr>
                                  <a:rPr sz="3200" i="1">
                                    <a:solidFill>
                                      <a:srgbClr val="000000"/>
                                    </a:solidFill>
                                    <a:latin typeface="Cambria Math" panose="02040503050406030204" pitchFamily="18" charset="0"/>
                                  </a:rPr>
                                </m:ctrlPr>
                              </m:sSupPr>
                              <m:e>
                                <m:r>
                                  <a:rPr sz="3200" i="1">
                                    <a:solidFill>
                                      <a:srgbClr val="000000"/>
                                    </a:solidFill>
                                    <a:latin typeface="Cambria Math" panose="02040503050406030204" pitchFamily="18" charset="0"/>
                                  </a:rPr>
                                  <m:t>𝐻</m:t>
                                </m:r>
                              </m:e>
                              <m:sup>
                                <m:r>
                                  <a:rPr sz="3200" i="1">
                                    <a:solidFill>
                                      <a:srgbClr val="000000"/>
                                    </a:solidFill>
                                    <a:latin typeface="Cambria Math" panose="02040503050406030204" pitchFamily="18" charset="0"/>
                                  </a:rPr>
                                  <m:t>−</m:t>
                                </m:r>
                              </m:sup>
                            </m:sSup>
                            <m:r>
                              <a:rPr sz="3200" i="1">
                                <a:solidFill>
                                  <a:srgbClr val="000000"/>
                                </a:solidFill>
                                <a:latin typeface="Cambria Math" panose="02040503050406030204" pitchFamily="18" charset="0"/>
                              </a:rPr>
                              <m:t>+</m:t>
                            </m:r>
                            <m:sSup>
                              <m:sSupPr>
                                <m:ctrlPr>
                                  <a:rPr sz="3200" i="1">
                                    <a:solidFill>
                                      <a:srgbClr val="000000"/>
                                    </a:solidFill>
                                    <a:latin typeface="Cambria Math" panose="02040503050406030204" pitchFamily="18" charset="0"/>
                                  </a:rPr>
                                </m:ctrlPr>
                              </m:sSupPr>
                              <m:e>
                                <m:r>
                                  <a:rPr sz="3200" i="1">
                                    <a:solidFill>
                                      <a:srgbClr val="000000"/>
                                    </a:solidFill>
                                    <a:latin typeface="Cambria Math" panose="02040503050406030204" pitchFamily="18" charset="0"/>
                                  </a:rPr>
                                  <m:t>𝐻</m:t>
                                </m:r>
                              </m:e>
                              <m:sup>
                                <m:r>
                                  <a:rPr sz="3200" i="1">
                                    <a:solidFill>
                                      <a:srgbClr val="000000"/>
                                    </a:solidFill>
                                    <a:latin typeface="Cambria Math" panose="02040503050406030204" pitchFamily="18" charset="0"/>
                                  </a:rPr>
                                  <m:t>+</m:t>
                                </m:r>
                              </m:sup>
                            </m:sSup>
                          </m:den>
                        </m:f>
                      </m:oMath>
                    </m:oMathPara>
                  </a14:m>
                  <a:endParaRPr sz="3200" dirty="0"/>
                </a:p>
              </p:txBody>
            </p:sp>
          </mc:Choice>
          <mc:Fallback xmlns="">
            <p:sp>
              <p:nvSpPr>
                <p:cNvPr id="38" name="方程">
                  <a:extLst>
                    <a:ext uri="{FF2B5EF4-FFF2-40B4-BE49-F238E27FC236}">
                      <a16:creationId xmlns:a16="http://schemas.microsoft.com/office/drawing/2014/main" id="{9922FA73-1A5F-3ABB-B2FC-76B636FFE94A}"/>
                    </a:ext>
                  </a:extLst>
                </p:cNvPr>
                <p:cNvSpPr txBox="1">
                  <a:spLocks noRot="1" noChangeAspect="1" noMove="1" noResize="1" noEditPoints="1" noAdjustHandles="1" noChangeArrowheads="1" noChangeShapeType="1" noTextEdit="1"/>
                </p:cNvSpPr>
                <p:nvPr/>
              </p:nvSpPr>
              <p:spPr>
                <a:xfrm>
                  <a:off x="2070333" y="2973190"/>
                  <a:ext cx="4614465" cy="1481286"/>
                </a:xfrm>
                <a:prstGeom prst="rect">
                  <a:avLst/>
                </a:prstGeom>
                <a:blipFill>
                  <a:blip r:embed="rId10"/>
                  <a:stretch>
                    <a:fillRect b="-23077"/>
                  </a:stretch>
                </a:blipFill>
                <a:ln w="12700" cap="flat">
                  <a:noFill/>
                  <a:miter lim="400000"/>
                </a:ln>
                <a:effectLst/>
              </p:spPr>
              <p:txBody>
                <a:bodyPr/>
                <a:lstStyle/>
                <a:p>
                  <a:r>
                    <a:rPr lang="zh-CN" altLang="en-US">
                      <a:noFill/>
                    </a:rPr>
                    <a:t> </a:t>
                  </a:r>
                </a:p>
              </p:txBody>
            </p:sp>
          </mc:Fallback>
        </mc:AlternateContent>
      </p:grpSp>
      <p:sp>
        <p:nvSpPr>
          <p:cNvPr id="17" name="文本框 16">
            <a:extLst>
              <a:ext uri="{FF2B5EF4-FFF2-40B4-BE49-F238E27FC236}">
                <a16:creationId xmlns:a16="http://schemas.microsoft.com/office/drawing/2014/main" id="{3C9F8A38-E9C8-403F-CDF3-EC44D281B0EA}"/>
              </a:ext>
            </a:extLst>
          </p:cNvPr>
          <p:cNvSpPr txBox="1"/>
          <p:nvPr/>
        </p:nvSpPr>
        <p:spPr>
          <a:xfrm>
            <a:off x="7182678" y="5109076"/>
            <a:ext cx="164327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altLang="zh-CN" sz="2400" dirty="0"/>
              <a:t>Salience</a:t>
            </a:r>
            <a:endParaRPr lang="zh-CN" altLang="en-US" sz="2400" dirty="0"/>
          </a:p>
        </p:txBody>
      </p:sp>
      <p:sp>
        <p:nvSpPr>
          <p:cNvPr id="39" name="文本框 38">
            <a:extLst>
              <a:ext uri="{FF2B5EF4-FFF2-40B4-BE49-F238E27FC236}">
                <a16:creationId xmlns:a16="http://schemas.microsoft.com/office/drawing/2014/main" id="{95E27DDB-8356-BEB2-7C14-A528B8F50E15}"/>
              </a:ext>
            </a:extLst>
          </p:cNvPr>
          <p:cNvSpPr txBox="1"/>
          <p:nvPr/>
        </p:nvSpPr>
        <p:spPr>
          <a:xfrm>
            <a:off x="13858191" y="5145896"/>
            <a:ext cx="164327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altLang="zh-CN" sz="2400" dirty="0"/>
              <a:t>Salience</a:t>
            </a:r>
            <a:endParaRPr lang="zh-CN" altLang="en-US" sz="2400" dirty="0"/>
          </a:p>
        </p:txBody>
      </p:sp>
      <p:grpSp>
        <p:nvGrpSpPr>
          <p:cNvPr id="40" name="成组">
            <a:extLst>
              <a:ext uri="{FF2B5EF4-FFF2-40B4-BE49-F238E27FC236}">
                <a16:creationId xmlns:a16="http://schemas.microsoft.com/office/drawing/2014/main" id="{0F5948B1-29EB-3CEE-C030-41FA6DB46FA0}"/>
              </a:ext>
            </a:extLst>
          </p:cNvPr>
          <p:cNvGrpSpPr>
            <a:grpSpLocks/>
          </p:cNvGrpSpPr>
          <p:nvPr/>
        </p:nvGrpSpPr>
        <p:grpSpPr>
          <a:xfrm>
            <a:off x="2190173" y="10481958"/>
            <a:ext cx="5869323" cy="2716555"/>
            <a:chOff x="0" y="0"/>
            <a:chExt cx="8372485" cy="3194032"/>
          </a:xfrm>
        </p:grpSpPr>
        <p:sp>
          <p:nvSpPr>
            <p:cNvPr id="41" name="矩形">
              <a:extLst>
                <a:ext uri="{FF2B5EF4-FFF2-40B4-BE49-F238E27FC236}">
                  <a16:creationId xmlns:a16="http://schemas.microsoft.com/office/drawing/2014/main" id="{F7EC2C4E-10D7-3703-3C35-99B5C458ACD2}"/>
                </a:ext>
              </a:extLst>
            </p:cNvPr>
            <p:cNvSpPr/>
            <p:nvPr/>
          </p:nvSpPr>
          <p:spPr>
            <a:xfrm>
              <a:off x="0" y="0"/>
              <a:ext cx="8372485" cy="3194032"/>
            </a:xfrm>
            <a:prstGeom prst="rect">
              <a:avLst/>
            </a:prstGeom>
            <a:solidFill>
              <a:schemeClr val="accent2">
                <a:hueOff val="-206910"/>
                <a:satOff val="-12829"/>
                <a:lumOff val="16238"/>
                <a:alpha val="15612"/>
              </a:schemeClr>
            </a:solidFill>
            <a:ln w="63500" cap="flat">
              <a:solidFill>
                <a:schemeClr val="accent2"/>
              </a:solidFill>
              <a:prstDash val="solid"/>
              <a:miter lim="400000"/>
            </a:ln>
            <a:effectLst/>
          </p:spPr>
          <p:txBody>
            <a:bodyPr wrap="square" lIns="50800" tIns="50800" rIns="50800" bIns="50800" numCol="1" anchor="ctr">
              <a:noAutofit/>
            </a:bodyPr>
            <a:lstStyle/>
            <a:p>
              <a:pPr algn="ctr" defTabSz="457200">
                <a:spcBef>
                  <a:spcPts val="0"/>
                </a:spcBef>
                <a:defRPr sz="3200">
                  <a:solidFill>
                    <a:srgbClr val="FFFFFF"/>
                  </a:solidFill>
                  <a:latin typeface="Avenir Next Medium"/>
                  <a:ea typeface="Avenir Next Medium"/>
                  <a:cs typeface="Avenir Next Medium"/>
                  <a:sym typeface="Avenir Next Medium"/>
                </a:defRPr>
              </a:pPr>
              <a:endParaRPr sz="1800"/>
            </a:p>
          </p:txBody>
        </p:sp>
        <mc:AlternateContent xmlns:mc="http://schemas.openxmlformats.org/markup-compatibility/2006" xmlns:a14="http://schemas.microsoft.com/office/drawing/2010/main">
          <mc:Choice Requires="a14">
            <p:sp>
              <p:nvSpPr>
                <p:cNvPr id="42" name="方程">
                  <a:extLst>
                    <a:ext uri="{FF2B5EF4-FFF2-40B4-BE49-F238E27FC236}">
                      <a16:creationId xmlns:a16="http://schemas.microsoft.com/office/drawing/2014/main" id="{FE1EC95F-84E3-7AD6-6B24-CF04C4C015E0}"/>
                    </a:ext>
                  </a:extLst>
                </p:cNvPr>
                <p:cNvSpPr txBox="1"/>
                <p:nvPr/>
              </p:nvSpPr>
              <p:spPr>
                <a:xfrm>
                  <a:off x="1412737" y="322283"/>
                  <a:ext cx="5495326" cy="578998"/>
                </a:xfrm>
                <a:prstGeom prst="rect">
                  <a:avLst/>
                </a:prstGeom>
                <a:noFill/>
                <a:ln w="12700" cap="flat">
                  <a:noFill/>
                  <a:miter lim="400000"/>
                </a:ln>
                <a:effectLst/>
              </p:spPr>
              <p:txBody>
                <a:bodyPr wrap="none" lIns="0" tIns="0" rIns="0" bIns="0">
                  <a:spAutoFit/>
                </a:bodyPr>
                <a:lstStyle/>
                <a:p>
                  <a:pPr defTabSz="914400" latinLnBrk="1">
                    <a:spcBef>
                      <a:spcPts val="0"/>
                    </a:spcBef>
                    <a:defRPr sz="1800"/>
                  </a:pPr>
                  <a14:m>
                    <m:oMathPara xmlns:m="http://schemas.openxmlformats.org/officeDocument/2006/math">
                      <m:oMathParaPr>
                        <m:jc m:val="centerGroup"/>
                      </m:oMathParaPr>
                      <m:oMath xmlns:m="http://schemas.openxmlformats.org/officeDocument/2006/math">
                        <m:r>
                          <a:rPr sz="3200" i="1">
                            <a:solidFill>
                              <a:srgbClr val="000000"/>
                            </a:solidFill>
                            <a:latin typeface="Cambria Math" panose="02040503050406030204" pitchFamily="18" charset="0"/>
                          </a:rPr>
                          <m:t>𝐭</m:t>
                        </m:r>
                        <m:r>
                          <a:rPr sz="3200" i="1">
                            <a:solidFill>
                              <a:srgbClr val="000000"/>
                            </a:solidFill>
                            <a:latin typeface="Cambria Math" panose="02040503050406030204" pitchFamily="18" charset="0"/>
                          </a:rPr>
                          <m:t>=[251,250,⋯,0]</m:t>
                        </m:r>
                      </m:oMath>
                    </m:oMathPara>
                  </a14:m>
                  <a:endParaRPr sz="3200"/>
                </a:p>
              </p:txBody>
            </p:sp>
          </mc:Choice>
          <mc:Fallback xmlns="">
            <p:sp>
              <p:nvSpPr>
                <p:cNvPr id="42" name="方程">
                  <a:extLst>
                    <a:ext uri="{FF2B5EF4-FFF2-40B4-BE49-F238E27FC236}">
                      <a16:creationId xmlns:a16="http://schemas.microsoft.com/office/drawing/2014/main" id="{FE1EC95F-84E3-7AD6-6B24-CF04C4C015E0}"/>
                    </a:ext>
                  </a:extLst>
                </p:cNvPr>
                <p:cNvSpPr txBox="1">
                  <a:spLocks noRot="1" noChangeAspect="1" noMove="1" noResize="1" noEditPoints="1" noAdjustHandles="1" noChangeArrowheads="1" noChangeShapeType="1" noTextEdit="1"/>
                </p:cNvSpPr>
                <p:nvPr/>
              </p:nvSpPr>
              <p:spPr>
                <a:xfrm>
                  <a:off x="1412737" y="322283"/>
                  <a:ext cx="5495326" cy="578998"/>
                </a:xfrm>
                <a:prstGeom prst="rect">
                  <a:avLst/>
                </a:prstGeom>
                <a:blipFill>
                  <a:blip r:embed="rId11"/>
                  <a:stretch>
                    <a:fillRect/>
                  </a:stretch>
                </a:blipFill>
                <a:ln w="12700" cap="flat">
                  <a:noFill/>
                  <a:miter lim="4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方程">
                  <a:extLst>
                    <a:ext uri="{FF2B5EF4-FFF2-40B4-BE49-F238E27FC236}">
                      <a16:creationId xmlns:a16="http://schemas.microsoft.com/office/drawing/2014/main" id="{4267A22B-BE33-E748-6618-CCF1F7A70120}"/>
                    </a:ext>
                  </a:extLst>
                </p:cNvPr>
                <p:cNvSpPr txBox="1"/>
                <p:nvPr/>
              </p:nvSpPr>
              <p:spPr>
                <a:xfrm>
                  <a:off x="1364499" y="1343422"/>
                  <a:ext cx="6319012" cy="578998"/>
                </a:xfrm>
                <a:prstGeom prst="rect">
                  <a:avLst/>
                </a:prstGeom>
                <a:noFill/>
                <a:ln w="12700" cap="flat">
                  <a:noFill/>
                  <a:miter lim="400000"/>
                </a:ln>
                <a:effectLst/>
              </p:spPr>
              <p:txBody>
                <a:bodyPr wrap="none" lIns="0" tIns="0" rIns="0" bIns="0">
                  <a:spAutoFit/>
                </a:bodyPr>
                <a:lstStyle/>
                <a:p>
                  <a:pPr defTabSz="914400" latinLnBrk="1">
                    <a:spcBef>
                      <a:spcPts val="0"/>
                    </a:spcBef>
                    <a:defRPr sz="1800"/>
                  </a:pPr>
                  <a14:m>
                    <m:oMathPara xmlns:m="http://schemas.openxmlformats.org/officeDocument/2006/math">
                      <m:oMathParaPr>
                        <m:jc m:val="centerGroup"/>
                      </m:oMathParaPr>
                      <m:oMath xmlns:m="http://schemas.openxmlformats.org/officeDocument/2006/math">
                        <m:r>
                          <a:rPr sz="3200" i="1">
                            <a:solidFill>
                              <a:srgbClr val="000000"/>
                            </a:solidFill>
                            <a:latin typeface="Cambria Math" panose="02040503050406030204" pitchFamily="18" charset="0"/>
                          </a:rPr>
                          <m:t>𝐯</m:t>
                        </m:r>
                        <m:r>
                          <a:rPr sz="3200" i="1">
                            <a:solidFill>
                              <a:srgbClr val="000000"/>
                            </a:solidFill>
                            <a:latin typeface="Cambria Math" panose="02040503050406030204" pitchFamily="18" charset="0"/>
                          </a:rPr>
                          <m:t>=[101,103,⋯,130]</m:t>
                        </m:r>
                      </m:oMath>
                    </m:oMathPara>
                  </a14:m>
                  <a:endParaRPr sz="3200"/>
                </a:p>
              </p:txBody>
            </p:sp>
          </mc:Choice>
          <mc:Fallback xmlns="">
            <p:sp>
              <p:nvSpPr>
                <p:cNvPr id="43" name="方程">
                  <a:extLst>
                    <a:ext uri="{FF2B5EF4-FFF2-40B4-BE49-F238E27FC236}">
                      <a16:creationId xmlns:a16="http://schemas.microsoft.com/office/drawing/2014/main" id="{4267A22B-BE33-E748-6618-CCF1F7A70120}"/>
                    </a:ext>
                  </a:extLst>
                </p:cNvPr>
                <p:cNvSpPr txBox="1">
                  <a:spLocks noRot="1" noChangeAspect="1" noMove="1" noResize="1" noEditPoints="1" noAdjustHandles="1" noChangeArrowheads="1" noChangeShapeType="1" noTextEdit="1"/>
                </p:cNvSpPr>
                <p:nvPr/>
              </p:nvSpPr>
              <p:spPr>
                <a:xfrm>
                  <a:off x="1364499" y="1343422"/>
                  <a:ext cx="6319012" cy="578998"/>
                </a:xfrm>
                <a:prstGeom prst="rect">
                  <a:avLst/>
                </a:prstGeom>
                <a:blipFill>
                  <a:blip r:embed="rId12"/>
                  <a:stretch>
                    <a:fillRect/>
                  </a:stretch>
                </a:blipFill>
                <a:ln w="12700" cap="flat">
                  <a:noFill/>
                  <a:miter lim="4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方程">
                  <a:extLst>
                    <a:ext uri="{FF2B5EF4-FFF2-40B4-BE49-F238E27FC236}">
                      <a16:creationId xmlns:a16="http://schemas.microsoft.com/office/drawing/2014/main" id="{54226FCB-B467-5242-CE28-1B3D929DD87A}"/>
                    </a:ext>
                  </a:extLst>
                </p:cNvPr>
                <p:cNvSpPr txBox="1"/>
                <p:nvPr/>
              </p:nvSpPr>
              <p:spPr>
                <a:xfrm>
                  <a:off x="1364499" y="2351759"/>
                  <a:ext cx="4898522" cy="578998"/>
                </a:xfrm>
                <a:prstGeom prst="rect">
                  <a:avLst/>
                </a:prstGeom>
                <a:noFill/>
                <a:ln w="12700" cap="flat">
                  <a:noFill/>
                  <a:miter lim="400000"/>
                </a:ln>
                <a:effectLst/>
              </p:spPr>
              <p:txBody>
                <a:bodyPr wrap="none" lIns="0" tIns="0" rIns="0" bIns="0">
                  <a:spAutoFit/>
                </a:bodyPr>
                <a:lstStyle/>
                <a:p>
                  <a:pPr defTabSz="914400" latinLnBrk="1">
                    <a:spcBef>
                      <a:spcPts val="0"/>
                    </a:spcBef>
                    <a:defRPr sz="1800"/>
                  </a:pPr>
                  <a14:m>
                    <m:oMathPara xmlns:m="http://schemas.openxmlformats.org/officeDocument/2006/math">
                      <m:oMathParaPr>
                        <m:jc m:val="centerGroup"/>
                      </m:oMathParaPr>
                      <m:oMath xmlns:m="http://schemas.openxmlformats.org/officeDocument/2006/math">
                        <m:r>
                          <a:rPr sz="3200" i="1">
                            <a:solidFill>
                              <a:srgbClr val="000000"/>
                            </a:solidFill>
                            <a:latin typeface="Cambria Math" panose="02040503050406030204" pitchFamily="18" charset="0"/>
                          </a:rPr>
                          <m:t>𝐶𝑅𝑂</m:t>
                        </m:r>
                        <m:r>
                          <a:rPr sz="3200" i="1">
                            <a:solidFill>
                              <a:srgbClr val="000000"/>
                            </a:solidFill>
                            <a:latin typeface="Cambria Math" panose="02040503050406030204" pitchFamily="18" charset="0"/>
                          </a:rPr>
                          <m:t>=</m:t>
                        </m:r>
                        <m:r>
                          <a:rPr sz="3200" i="1">
                            <a:solidFill>
                              <a:srgbClr val="000000"/>
                            </a:solidFill>
                            <a:latin typeface="Cambria Math" panose="02040503050406030204" pitchFamily="18" charset="0"/>
                          </a:rPr>
                          <m:t>𝑐𝑜𝑟𝑟</m:t>
                        </m:r>
                        <m:r>
                          <a:rPr sz="3200" i="1">
                            <a:solidFill>
                              <a:srgbClr val="000000"/>
                            </a:solidFill>
                            <a:latin typeface="Cambria Math" panose="02040503050406030204" pitchFamily="18" charset="0"/>
                          </a:rPr>
                          <m:t>(</m:t>
                        </m:r>
                        <m:r>
                          <a:rPr sz="3200" i="1">
                            <a:solidFill>
                              <a:srgbClr val="000000"/>
                            </a:solidFill>
                            <a:latin typeface="Cambria Math" panose="02040503050406030204" pitchFamily="18" charset="0"/>
                          </a:rPr>
                          <m:t>𝐭</m:t>
                        </m:r>
                        <m:r>
                          <a:rPr sz="3200" i="1">
                            <a:solidFill>
                              <a:srgbClr val="000000"/>
                            </a:solidFill>
                            <a:latin typeface="Cambria Math" panose="02040503050406030204" pitchFamily="18" charset="0"/>
                          </a:rPr>
                          <m:t>,</m:t>
                        </m:r>
                        <m:r>
                          <a:rPr sz="3200" i="1">
                            <a:solidFill>
                              <a:srgbClr val="000000"/>
                            </a:solidFill>
                            <a:latin typeface="Cambria Math" panose="02040503050406030204" pitchFamily="18" charset="0"/>
                          </a:rPr>
                          <m:t>𝐯</m:t>
                        </m:r>
                        <m:r>
                          <a:rPr sz="3200" i="1">
                            <a:solidFill>
                              <a:srgbClr val="000000"/>
                            </a:solidFill>
                            <a:latin typeface="Cambria Math" panose="02040503050406030204" pitchFamily="18" charset="0"/>
                          </a:rPr>
                          <m:t>)</m:t>
                        </m:r>
                      </m:oMath>
                    </m:oMathPara>
                  </a14:m>
                  <a:endParaRPr sz="3200" dirty="0"/>
                </a:p>
              </p:txBody>
            </p:sp>
          </mc:Choice>
          <mc:Fallback xmlns="">
            <p:sp>
              <p:nvSpPr>
                <p:cNvPr id="44" name="方程">
                  <a:extLst>
                    <a:ext uri="{FF2B5EF4-FFF2-40B4-BE49-F238E27FC236}">
                      <a16:creationId xmlns:a16="http://schemas.microsoft.com/office/drawing/2014/main" id="{54226FCB-B467-5242-CE28-1B3D929DD87A}"/>
                    </a:ext>
                  </a:extLst>
                </p:cNvPr>
                <p:cNvSpPr txBox="1">
                  <a:spLocks noRot="1" noChangeAspect="1" noMove="1" noResize="1" noEditPoints="1" noAdjustHandles="1" noChangeArrowheads="1" noChangeShapeType="1" noTextEdit="1"/>
                </p:cNvSpPr>
                <p:nvPr/>
              </p:nvSpPr>
              <p:spPr>
                <a:xfrm>
                  <a:off x="1364499" y="2351759"/>
                  <a:ext cx="4898522" cy="578998"/>
                </a:xfrm>
                <a:prstGeom prst="rect">
                  <a:avLst/>
                </a:prstGeom>
                <a:blipFill>
                  <a:blip r:embed="rId13"/>
                  <a:stretch>
                    <a:fillRect/>
                  </a:stretch>
                </a:blipFill>
                <a:ln w="12700" cap="flat">
                  <a:noFill/>
                  <a:miter lim="400000"/>
                </a:ln>
                <a:effectLst/>
              </p:spPr>
              <p:txBody>
                <a:bodyPr/>
                <a:lstStyle/>
                <a:p>
                  <a:r>
                    <a:rPr lang="zh-CN" altLang="en-US">
                      <a:noFill/>
                    </a:rPr>
                    <a:t> </a:t>
                  </a:r>
                </a:p>
              </p:txBody>
            </p:sp>
          </mc:Fallback>
        </mc:AlternateContent>
      </p:gr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9" name="成组"/>
          <p:cNvGrpSpPr/>
          <p:nvPr/>
        </p:nvGrpSpPr>
        <p:grpSpPr>
          <a:xfrm>
            <a:off x="1143452" y="5520831"/>
            <a:ext cx="6193068" cy="1472652"/>
            <a:chOff x="0" y="0"/>
            <a:chExt cx="6193066" cy="1472651"/>
          </a:xfrm>
        </p:grpSpPr>
        <p:sp>
          <p:nvSpPr>
            <p:cNvPr id="207" name="圆角矩形"/>
            <p:cNvSpPr/>
            <p:nvPr/>
          </p:nvSpPr>
          <p:spPr>
            <a:xfrm>
              <a:off x="0" y="0"/>
              <a:ext cx="6193067" cy="1472652"/>
            </a:xfrm>
            <a:prstGeom prst="roundRect">
              <a:avLst>
                <a:gd name="adj" fmla="val 16076"/>
              </a:avLst>
            </a:prstGeom>
            <a:solidFill>
              <a:schemeClr val="accent4">
                <a:alpha val="24581"/>
              </a:schemeClr>
            </a:solidFill>
            <a:ln w="63500" cap="flat">
              <a:solidFill>
                <a:schemeClr val="accent4"/>
              </a:solidFill>
              <a:prstDash val="solid"/>
              <a:miter lim="400000"/>
            </a:ln>
            <a:effectLst/>
          </p:spPr>
          <p:txBody>
            <a:bodyPr wrap="square" lIns="50800" tIns="50800" rIns="50800" bIns="50800" numCol="1" anchor="ctr">
              <a:noAutofit/>
            </a:bodyPr>
            <a:lstStyle/>
            <a:p>
              <a:pPr algn="ctr" defTabSz="457200">
                <a:spcBef>
                  <a:spcPts val="0"/>
                </a:spcBef>
                <a:defRPr sz="3200">
                  <a:solidFill>
                    <a:srgbClr val="FFFFFF"/>
                  </a:solidFill>
                  <a:latin typeface="Avenir Next Medium"/>
                  <a:ea typeface="Avenir Next Medium"/>
                  <a:cs typeface="Avenir Next Medium"/>
                  <a:sym typeface="Avenir Next Medium"/>
                </a:defRPr>
              </a:pPr>
              <a:endParaRPr/>
            </a:p>
          </p:txBody>
        </p:sp>
        <p:sp>
          <p:nvSpPr>
            <p:cNvPr id="208" name="uprice = close * shout…"/>
            <p:cNvSpPr/>
            <p:nvPr/>
          </p:nvSpPr>
          <p:spPr>
            <a:xfrm>
              <a:off x="385163" y="730699"/>
              <a:ext cx="5354715"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spAutoFit/>
            </a:bodyPr>
            <a:lstStyle/>
            <a:p>
              <a:pPr>
                <a:lnSpc>
                  <a:spcPct val="40000"/>
                </a:lnSpc>
                <a:defRPr sz="3200"/>
              </a:pPr>
              <a:r>
                <a:rPr dirty="0" err="1"/>
                <a:t>uprice</a:t>
              </a:r>
              <a:r>
                <a:rPr dirty="0"/>
                <a:t> = close * shout</a:t>
              </a:r>
            </a:p>
            <a:p>
              <a:pPr>
                <a:lnSpc>
                  <a:spcPct val="40000"/>
                </a:lnSpc>
                <a:defRPr sz="3200"/>
              </a:pPr>
              <a:r>
                <a:rPr dirty="0" err="1"/>
                <a:t>cro</a:t>
              </a:r>
              <a:r>
                <a:rPr dirty="0"/>
                <a:t> = </a:t>
              </a:r>
              <a:r>
                <a:rPr dirty="0" err="1"/>
                <a:t>CRO_vec</a:t>
              </a:r>
              <a:r>
                <a:rPr dirty="0"/>
                <a:t>(</a:t>
              </a:r>
              <a:r>
                <a:rPr dirty="0" err="1"/>
                <a:t>uprice</a:t>
              </a:r>
              <a:r>
                <a:rPr dirty="0"/>
                <a:t>, 252)</a:t>
              </a:r>
            </a:p>
          </p:txBody>
        </p:sp>
      </p:grpSp>
      <p:sp>
        <p:nvSpPr>
          <p:cNvPr id="210" name="Compute CRO with user defined operator…"/>
          <p:cNvSpPr txBox="1"/>
          <p:nvPr/>
        </p:nvSpPr>
        <p:spPr>
          <a:xfrm>
            <a:off x="1086643" y="2148185"/>
            <a:ext cx="13745089" cy="41687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marL="519684" indent="-519684" defTabSz="2267711">
              <a:spcBef>
                <a:spcPts val="600"/>
              </a:spcBef>
              <a:buClr>
                <a:srgbClr val="000000"/>
              </a:buClr>
              <a:buSzPct val="100000"/>
              <a:buChar char="•"/>
              <a:defRPr sz="4464"/>
            </a:pPr>
            <a:r>
              <a:rPr dirty="0"/>
              <a:t>Compute CRO with user defined operator</a:t>
            </a:r>
          </a:p>
          <a:p>
            <a:pPr marL="1039368" lvl="1" indent="-519684" defTabSz="2267711">
              <a:spcBef>
                <a:spcPts val="600"/>
              </a:spcBef>
              <a:buClr>
                <a:srgbClr val="000000"/>
              </a:buClr>
              <a:buSzPct val="100000"/>
              <a:buChar char="‣"/>
              <a:defRPr sz="3534"/>
            </a:pPr>
            <a:r>
              <a:rPr dirty="0"/>
              <a:t>We consider the long term correlation between the close price and the date, ignoring short-term noise</a:t>
            </a:r>
          </a:p>
          <a:p>
            <a:pPr marL="1039368" lvl="1" indent="-519684" defTabSz="2267711">
              <a:spcBef>
                <a:spcPts val="600"/>
              </a:spcBef>
              <a:buClr>
                <a:srgbClr val="000000"/>
              </a:buClr>
              <a:buSzPct val="100000"/>
              <a:buChar char="‣"/>
              <a:defRPr sz="3534"/>
            </a:pPr>
            <a:r>
              <a:rPr dirty="0"/>
              <a:t>Runtime: approximately 240s</a:t>
            </a:r>
          </a:p>
          <a:p>
            <a:pPr marL="1039368" lvl="1" indent="-519684" defTabSz="2267711">
              <a:spcBef>
                <a:spcPts val="600"/>
              </a:spcBef>
              <a:buClr>
                <a:srgbClr val="000000"/>
              </a:buClr>
              <a:buSzPct val="100000"/>
              <a:buChar char="‣"/>
              <a:defRPr sz="3534"/>
            </a:pPr>
            <a:r>
              <a:rPr dirty="0"/>
              <a:t>Compared with the current baseline:</a:t>
            </a:r>
            <a:r>
              <a:rPr b="1" dirty="0"/>
              <a:t> (+0.010, +0.009)</a:t>
            </a:r>
          </a:p>
        </p:txBody>
      </p:sp>
      <p:sp>
        <p:nvSpPr>
          <p:cNvPr id="211" name="The implementation of the CRO"/>
          <p:cNvSpPr txBox="1">
            <a:spLocks noGrp="1"/>
          </p:cNvSpPr>
          <p:nvPr>
            <p:ph type="title" idx="4294967295"/>
          </p:nvPr>
        </p:nvSpPr>
        <p:spPr>
          <a:xfrm>
            <a:off x="1270000" y="533400"/>
            <a:ext cx="21844000" cy="1557437"/>
          </a:xfrm>
          <a:prstGeom prst="rect">
            <a:avLst/>
          </a:prstGeom>
        </p:spPr>
        <p:txBody>
          <a:bodyPr/>
          <a:lstStyle/>
          <a:p>
            <a:r>
              <a:rPr dirty="0"/>
              <a:t>The implementation of the CRO</a:t>
            </a:r>
          </a:p>
        </p:txBody>
      </p:sp>
      <p:pic>
        <p:nvPicPr>
          <p:cNvPr id="212" name="已粘贴的影片.png" descr="已粘贴的影片.png"/>
          <p:cNvPicPr>
            <a:picLocks noChangeAspect="1"/>
          </p:cNvPicPr>
          <p:nvPr/>
        </p:nvPicPr>
        <p:blipFill>
          <a:blip r:embed="rId3"/>
          <a:stretch>
            <a:fillRect/>
          </a:stretch>
        </p:blipFill>
        <p:spPr>
          <a:xfrm>
            <a:off x="15525729" y="5713489"/>
            <a:ext cx="8405385" cy="7094715"/>
          </a:xfrm>
          <a:prstGeom prst="rect">
            <a:avLst/>
          </a:prstGeom>
          <a:ln w="25400">
            <a:solidFill>
              <a:srgbClr val="000000"/>
            </a:solidFill>
            <a:miter lim="400000"/>
          </a:ln>
        </p:spPr>
      </p:pic>
      <p:grpSp>
        <p:nvGrpSpPr>
          <p:cNvPr id="215" name="成组"/>
          <p:cNvGrpSpPr/>
          <p:nvPr/>
        </p:nvGrpSpPr>
        <p:grpSpPr>
          <a:xfrm>
            <a:off x="7532291" y="5551263"/>
            <a:ext cx="6723512" cy="1411788"/>
            <a:chOff x="0" y="0"/>
            <a:chExt cx="6723511" cy="1411786"/>
          </a:xfrm>
        </p:grpSpPr>
        <p:sp>
          <p:nvSpPr>
            <p:cNvPr id="213" name="圆角矩形"/>
            <p:cNvSpPr/>
            <p:nvPr/>
          </p:nvSpPr>
          <p:spPr>
            <a:xfrm>
              <a:off x="0" y="0"/>
              <a:ext cx="6707722" cy="1411787"/>
            </a:xfrm>
            <a:prstGeom prst="roundRect">
              <a:avLst>
                <a:gd name="adj" fmla="val 16769"/>
              </a:avLst>
            </a:prstGeom>
            <a:solidFill>
              <a:schemeClr val="accent1">
                <a:alpha val="25202"/>
              </a:schemeClr>
            </a:solidFill>
            <a:ln w="63500" cap="flat">
              <a:solidFill>
                <a:schemeClr val="accent1"/>
              </a:solidFill>
              <a:prstDash val="solid"/>
              <a:miter lim="400000"/>
            </a:ln>
            <a:effectLst/>
          </p:spPr>
          <p:txBody>
            <a:bodyPr wrap="square" lIns="50800" tIns="50800" rIns="50800" bIns="50800" numCol="1" anchor="ctr">
              <a:noAutofit/>
            </a:bodyPr>
            <a:lstStyle/>
            <a:p>
              <a:pPr algn="ctr" defTabSz="457200">
                <a:spcBef>
                  <a:spcPts val="0"/>
                </a:spcBef>
                <a:defRPr sz="3200">
                  <a:solidFill>
                    <a:srgbClr val="FFFFFF"/>
                  </a:solidFill>
                  <a:latin typeface="Avenir Next Medium"/>
                  <a:ea typeface="Avenir Next Medium"/>
                  <a:cs typeface="Avenir Next Medium"/>
                  <a:sym typeface="Avenir Next Medium"/>
                </a:defRPr>
              </a:pPr>
              <a:endParaRPr/>
            </a:p>
          </p:txBody>
        </p:sp>
        <p:sp>
          <p:nvSpPr>
            <p:cNvPr id="214" name="Variable: close, shout…"/>
            <p:cNvSpPr/>
            <p:nvPr/>
          </p:nvSpPr>
          <p:spPr>
            <a:xfrm>
              <a:off x="348704" y="160060"/>
              <a:ext cx="6374808"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p>
              <a:pPr>
                <a:defRPr sz="3100">
                  <a:solidFill>
                    <a:srgbClr val="5E5E5E"/>
                  </a:solidFill>
                  <a:latin typeface="Helvetica Neue"/>
                  <a:ea typeface="Helvetica Neue"/>
                  <a:cs typeface="Helvetica Neue"/>
                  <a:sym typeface="Helvetica Neue"/>
                </a:defRPr>
              </a:pPr>
              <a:r>
                <a:rPr b="1" dirty="0"/>
                <a:t>Variable</a:t>
              </a:r>
              <a:r>
                <a:rPr dirty="0"/>
                <a:t>: close, shout</a:t>
              </a:r>
            </a:p>
            <a:p>
              <a:pPr>
                <a:spcBef>
                  <a:spcPts val="300"/>
                </a:spcBef>
                <a:defRPr sz="3100">
                  <a:solidFill>
                    <a:srgbClr val="5E5E5E"/>
                  </a:solidFill>
                  <a:latin typeface="Helvetica Neue"/>
                  <a:ea typeface="Helvetica Neue"/>
                  <a:cs typeface="Helvetica Neue"/>
                  <a:sym typeface="Helvetica Neue"/>
                </a:defRPr>
              </a:pPr>
              <a:r>
                <a:rPr b="1" dirty="0"/>
                <a:t>Coverage</a:t>
              </a:r>
              <a:r>
                <a:rPr dirty="0"/>
                <a:t>: 3251, 3237, since 2006</a:t>
              </a:r>
            </a:p>
          </p:txBody>
        </p:sp>
      </p:grpSp>
      <p:pic>
        <p:nvPicPr>
          <p:cNvPr id="216" name="已粘贴的影片.png" descr="已粘贴的影片.png"/>
          <p:cNvPicPr>
            <a:picLocks noChangeAspect="1"/>
          </p:cNvPicPr>
          <p:nvPr/>
        </p:nvPicPr>
        <p:blipFill>
          <a:blip r:embed="rId4"/>
          <a:stretch>
            <a:fillRect/>
          </a:stretch>
        </p:blipFill>
        <p:spPr>
          <a:xfrm>
            <a:off x="1086643" y="8707812"/>
            <a:ext cx="6953626" cy="1658318"/>
          </a:xfrm>
          <a:prstGeom prst="rect">
            <a:avLst/>
          </a:prstGeom>
          <a:ln w="25400">
            <a:solidFill>
              <a:schemeClr val="accent5">
                <a:hueOff val="128995"/>
                <a:satOff val="10158"/>
                <a:lumOff val="-13824"/>
              </a:schemeClr>
            </a:solidFill>
            <a:miter lim="400000"/>
          </a:ln>
        </p:spPr>
      </p:pic>
      <p:grpSp>
        <p:nvGrpSpPr>
          <p:cNvPr id="190" name="成组"/>
          <p:cNvGrpSpPr/>
          <p:nvPr/>
        </p:nvGrpSpPr>
        <p:grpSpPr>
          <a:xfrm>
            <a:off x="15610284" y="2148185"/>
            <a:ext cx="8111107" cy="3164295"/>
            <a:chOff x="0" y="0"/>
            <a:chExt cx="7687072" cy="4370089"/>
          </a:xfrm>
        </p:grpSpPr>
        <p:sp>
          <p:nvSpPr>
            <p:cNvPr id="185" name="圆角矩形"/>
            <p:cNvSpPr/>
            <p:nvPr/>
          </p:nvSpPr>
          <p:spPr>
            <a:xfrm>
              <a:off x="0" y="0"/>
              <a:ext cx="7687072" cy="4370089"/>
            </a:xfrm>
            <a:prstGeom prst="roundRect">
              <a:avLst>
                <a:gd name="adj" fmla="val 5887"/>
              </a:avLst>
            </a:prstGeom>
            <a:solidFill>
              <a:schemeClr val="accent4">
                <a:alpha val="30001"/>
              </a:schemeClr>
            </a:solidFill>
            <a:ln w="12700" cap="flat">
              <a:noFill/>
              <a:miter lim="400000"/>
            </a:ln>
            <a:effectLst/>
          </p:spPr>
          <p:txBody>
            <a:bodyPr wrap="square" lIns="50800" tIns="50800" rIns="50800" bIns="50800" numCol="1" anchor="ctr">
              <a:noAutofit/>
            </a:bodyPr>
            <a:lstStyle/>
            <a:p>
              <a:pPr algn="ctr" defTabSz="457200">
                <a:spcBef>
                  <a:spcPts val="0"/>
                </a:spcBef>
                <a:defRPr sz="3200">
                  <a:latin typeface="Avenir Next Medium"/>
                  <a:ea typeface="Avenir Next Medium"/>
                  <a:cs typeface="Avenir Next Medium"/>
                  <a:sym typeface="Avenir Next Medium"/>
                </a:defRPr>
              </a:pPr>
              <a:endParaRPr sz="2400"/>
            </a:p>
          </p:txBody>
        </p:sp>
        <p:sp>
          <p:nvSpPr>
            <p:cNvPr id="186" name="The ordering of the price (CRO)"/>
            <p:cNvSpPr txBox="1"/>
            <p:nvPr/>
          </p:nvSpPr>
          <p:spPr>
            <a:xfrm>
              <a:off x="871736" y="69849"/>
              <a:ext cx="6248378" cy="90679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spAutoFit/>
            </a:bodyPr>
            <a:lstStyle>
              <a:lvl1pPr algn="ctr">
                <a:defRPr sz="4400" b="1">
                  <a:solidFill>
                    <a:srgbClr val="5E5E5E"/>
                  </a:solidFill>
                </a:defRPr>
              </a:lvl1pPr>
            </a:lstStyle>
            <a:p>
              <a:r>
                <a:rPr sz="3600" dirty="0"/>
                <a:t>The ordering of the price (CRO)</a:t>
              </a:r>
            </a:p>
          </p:txBody>
        </p:sp>
        <p:sp>
          <p:nvSpPr>
            <p:cNvPr id="187" name="Operator Definition: the correlation of the var and the time-stamp (date) in a given window"/>
            <p:cNvSpPr txBox="1"/>
            <p:nvPr/>
          </p:nvSpPr>
          <p:spPr>
            <a:xfrm>
              <a:off x="428833" y="953865"/>
              <a:ext cx="7153772" cy="133185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p>
              <a:pPr>
                <a:defRPr sz="3400">
                  <a:solidFill>
                    <a:srgbClr val="5E5E5E"/>
                  </a:solidFill>
                  <a:latin typeface="Helvetica Neue"/>
                  <a:ea typeface="Helvetica Neue"/>
                  <a:cs typeface="Helvetica Neue"/>
                  <a:sym typeface="Helvetica Neue"/>
                </a:defRPr>
              </a:pPr>
              <a:r>
                <a:rPr sz="2800" b="1" dirty="0"/>
                <a:t>Operator Definition</a:t>
              </a:r>
              <a:r>
                <a:rPr sz="2800" dirty="0"/>
                <a:t>: the correlation of the var and the time-stamp (date) in a given window</a:t>
              </a:r>
            </a:p>
          </p:txBody>
        </p:sp>
        <p:sp>
          <p:nvSpPr>
            <p:cNvPr id="189" name="Measures: The stability or the ordering of the stock price"/>
            <p:cNvSpPr txBox="1"/>
            <p:nvPr/>
          </p:nvSpPr>
          <p:spPr>
            <a:xfrm>
              <a:off x="428833" y="2357603"/>
              <a:ext cx="7153772" cy="133185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p>
              <a:pPr>
                <a:defRPr sz="3500">
                  <a:solidFill>
                    <a:srgbClr val="5E5E5E"/>
                  </a:solidFill>
                  <a:latin typeface="Helvetica Neue"/>
                  <a:ea typeface="Helvetica Neue"/>
                  <a:cs typeface="Helvetica Neue"/>
                  <a:sym typeface="Helvetica Neue"/>
                </a:defRPr>
              </a:pPr>
              <a:r>
                <a:rPr sz="2800" b="1" dirty="0"/>
                <a:t>Measures: </a:t>
              </a:r>
              <a:r>
                <a:rPr sz="2800" dirty="0"/>
                <a:t>The stability or the ordering of the stock price</a:t>
              </a:r>
            </a:p>
          </p:txBody>
        </p:sp>
      </p:grpSp>
      <p:pic>
        <p:nvPicPr>
          <p:cNvPr id="3" name="图片 2">
            <a:extLst>
              <a:ext uri="{FF2B5EF4-FFF2-40B4-BE49-F238E27FC236}">
                <a16:creationId xmlns:a16="http://schemas.microsoft.com/office/drawing/2014/main" id="{55A2930B-3A51-A1D5-1AD3-F6AA70980B27}"/>
              </a:ext>
            </a:extLst>
          </p:cNvPr>
          <p:cNvPicPr>
            <a:picLocks noChangeAspect="1"/>
          </p:cNvPicPr>
          <p:nvPr/>
        </p:nvPicPr>
        <p:blipFill>
          <a:blip r:embed="rId5"/>
          <a:stretch>
            <a:fillRect/>
          </a:stretch>
        </p:blipFill>
        <p:spPr>
          <a:xfrm>
            <a:off x="9877102" y="8169408"/>
            <a:ext cx="4629796" cy="1105054"/>
          </a:xfrm>
          <a:prstGeom prst="rect">
            <a:avLst/>
          </a:prstGeom>
        </p:spPr>
      </p:pic>
      <p:sp>
        <p:nvSpPr>
          <p:cNvPr id="5" name="文本框 4">
            <a:extLst>
              <a:ext uri="{FF2B5EF4-FFF2-40B4-BE49-F238E27FC236}">
                <a16:creationId xmlns:a16="http://schemas.microsoft.com/office/drawing/2014/main" id="{966C6FCC-848B-C96A-7810-EAB17FB3F1E7}"/>
              </a:ext>
            </a:extLst>
          </p:cNvPr>
          <p:cNvSpPr txBox="1"/>
          <p:nvPr/>
        </p:nvSpPr>
        <p:spPr>
          <a:xfrm>
            <a:off x="11181700" y="7595388"/>
            <a:ext cx="2833399"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2400" dirty="0" err="1">
                <a:solidFill>
                  <a:schemeClr val="bg1">
                    <a:lumMod val="50000"/>
                  </a:schemeClr>
                </a:solidFill>
              </a:rPr>
              <a:t>CRO_vec</a:t>
            </a:r>
            <a:r>
              <a:rPr lang="en-US" altLang="zh-CN" sz="2400" dirty="0">
                <a:solidFill>
                  <a:schemeClr val="bg1">
                    <a:lumMod val="50000"/>
                  </a:schemeClr>
                </a:solidFill>
              </a:rPr>
              <a:t>(</a:t>
            </a:r>
            <a:r>
              <a:rPr lang="en-US" altLang="zh-CN" sz="2400" dirty="0" err="1">
                <a:solidFill>
                  <a:schemeClr val="bg1">
                    <a:lumMod val="50000"/>
                  </a:schemeClr>
                </a:solidFill>
              </a:rPr>
              <a:t>uhigh</a:t>
            </a:r>
            <a:r>
              <a:rPr lang="en-US" altLang="zh-CN" sz="2400" dirty="0">
                <a:solidFill>
                  <a:schemeClr val="bg1">
                    <a:lumMod val="50000"/>
                  </a:schemeClr>
                </a:solidFill>
              </a:rPr>
              <a:t>)</a:t>
            </a:r>
            <a:endParaRPr lang="zh-CN" altLang="en-US" sz="2400" dirty="0">
              <a:solidFill>
                <a:schemeClr val="bg1">
                  <a:lumMod val="50000"/>
                </a:schemeClr>
              </a:solidFill>
            </a:endParaRPr>
          </a:p>
        </p:txBody>
      </p:sp>
      <p:sp>
        <p:nvSpPr>
          <p:cNvPr id="7" name="文本框 6">
            <a:extLst>
              <a:ext uri="{FF2B5EF4-FFF2-40B4-BE49-F238E27FC236}">
                <a16:creationId xmlns:a16="http://schemas.microsoft.com/office/drawing/2014/main" id="{F3635658-1717-F8A0-06DF-63277F040D36}"/>
              </a:ext>
            </a:extLst>
          </p:cNvPr>
          <p:cNvSpPr txBox="1"/>
          <p:nvPr/>
        </p:nvSpPr>
        <p:spPr>
          <a:xfrm>
            <a:off x="11165563" y="9385024"/>
            <a:ext cx="2833399"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2400" dirty="0" err="1">
                <a:solidFill>
                  <a:schemeClr val="bg1">
                    <a:lumMod val="50000"/>
                  </a:schemeClr>
                </a:solidFill>
              </a:rPr>
              <a:t>CRO_vec</a:t>
            </a:r>
            <a:r>
              <a:rPr lang="en-US" altLang="zh-CN" sz="2400" dirty="0">
                <a:solidFill>
                  <a:schemeClr val="bg1">
                    <a:lumMod val="50000"/>
                  </a:schemeClr>
                </a:solidFill>
              </a:rPr>
              <a:t>(</a:t>
            </a:r>
            <a:r>
              <a:rPr lang="en-US" altLang="zh-CN" sz="2400" dirty="0" err="1">
                <a:solidFill>
                  <a:schemeClr val="bg1">
                    <a:lumMod val="50000"/>
                  </a:schemeClr>
                </a:solidFill>
              </a:rPr>
              <a:t>mfblock</a:t>
            </a:r>
            <a:r>
              <a:rPr lang="en-US" altLang="zh-CN" sz="2400" dirty="0">
                <a:solidFill>
                  <a:schemeClr val="bg1">
                    <a:lumMod val="50000"/>
                  </a:schemeClr>
                </a:solidFill>
              </a:rPr>
              <a:t>)</a:t>
            </a:r>
            <a:endParaRPr lang="zh-CN" altLang="en-US" sz="2400" dirty="0">
              <a:solidFill>
                <a:schemeClr val="bg1">
                  <a:lumMod val="50000"/>
                </a:schemeClr>
              </a:solidFill>
            </a:endParaRPr>
          </a:p>
        </p:txBody>
      </p:sp>
      <p:pic>
        <p:nvPicPr>
          <p:cNvPr id="9" name="图片 8">
            <a:extLst>
              <a:ext uri="{FF2B5EF4-FFF2-40B4-BE49-F238E27FC236}">
                <a16:creationId xmlns:a16="http://schemas.microsoft.com/office/drawing/2014/main" id="{EE2E75AB-65C2-BDCD-3867-0877FE9EDB2C}"/>
              </a:ext>
            </a:extLst>
          </p:cNvPr>
          <p:cNvPicPr>
            <a:picLocks noChangeAspect="1"/>
          </p:cNvPicPr>
          <p:nvPr/>
        </p:nvPicPr>
        <p:blipFill>
          <a:blip r:embed="rId6"/>
          <a:stretch>
            <a:fillRect/>
          </a:stretch>
        </p:blipFill>
        <p:spPr>
          <a:xfrm>
            <a:off x="9860965" y="10112489"/>
            <a:ext cx="4601217" cy="1009791"/>
          </a:xfrm>
          <a:prstGeom prst="rect">
            <a:avLst/>
          </a:prstGeom>
        </p:spPr>
      </p:pic>
      <p:sp>
        <p:nvSpPr>
          <p:cNvPr id="10" name="文本框 9">
            <a:extLst>
              <a:ext uri="{FF2B5EF4-FFF2-40B4-BE49-F238E27FC236}">
                <a16:creationId xmlns:a16="http://schemas.microsoft.com/office/drawing/2014/main" id="{448E695D-65EC-03F3-384B-FCF68A42BB06}"/>
              </a:ext>
            </a:extLst>
          </p:cNvPr>
          <p:cNvSpPr txBox="1"/>
          <p:nvPr/>
        </p:nvSpPr>
        <p:spPr>
          <a:xfrm>
            <a:off x="11181699" y="11388080"/>
            <a:ext cx="2833399"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2400" dirty="0" err="1">
                <a:solidFill>
                  <a:schemeClr val="bg1">
                    <a:lumMod val="50000"/>
                  </a:schemeClr>
                </a:solidFill>
              </a:rPr>
              <a:t>CRO_vec</a:t>
            </a:r>
            <a:r>
              <a:rPr lang="en-US" altLang="zh-CN" sz="2400" dirty="0">
                <a:solidFill>
                  <a:schemeClr val="bg1">
                    <a:lumMod val="50000"/>
                  </a:schemeClr>
                </a:solidFill>
              </a:rPr>
              <a:t>(</a:t>
            </a:r>
            <a:r>
              <a:rPr lang="en-US" altLang="zh-CN" sz="2400" dirty="0" err="1">
                <a:solidFill>
                  <a:schemeClr val="bg1">
                    <a:lumMod val="50000"/>
                  </a:schemeClr>
                </a:solidFill>
              </a:rPr>
              <a:t>uvwap</a:t>
            </a:r>
            <a:r>
              <a:rPr lang="en-US" altLang="zh-CN" sz="2400" dirty="0">
                <a:solidFill>
                  <a:schemeClr val="bg1">
                    <a:lumMod val="50000"/>
                  </a:schemeClr>
                </a:solidFill>
              </a:rPr>
              <a:t>)</a:t>
            </a:r>
            <a:endParaRPr lang="zh-CN" altLang="en-US" sz="2400" dirty="0">
              <a:solidFill>
                <a:schemeClr val="bg1">
                  <a:lumMod val="50000"/>
                </a:schemeClr>
              </a:solidFill>
            </a:endParaRPr>
          </a:p>
        </p:txBody>
      </p:sp>
      <p:pic>
        <p:nvPicPr>
          <p:cNvPr id="13" name="图片 12">
            <a:extLst>
              <a:ext uri="{FF2B5EF4-FFF2-40B4-BE49-F238E27FC236}">
                <a16:creationId xmlns:a16="http://schemas.microsoft.com/office/drawing/2014/main" id="{978B168D-0C08-7DA3-E314-5AED418500BF}"/>
              </a:ext>
            </a:extLst>
          </p:cNvPr>
          <p:cNvPicPr>
            <a:picLocks noChangeAspect="1"/>
          </p:cNvPicPr>
          <p:nvPr/>
        </p:nvPicPr>
        <p:blipFill>
          <a:blip r:embed="rId7"/>
          <a:stretch>
            <a:fillRect/>
          </a:stretch>
        </p:blipFill>
        <p:spPr>
          <a:xfrm>
            <a:off x="9848523" y="12095645"/>
            <a:ext cx="4658375" cy="1047896"/>
          </a:xfrm>
          <a:prstGeom prst="rect">
            <a:avLst/>
          </a:prstGeom>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6" name="成组"/>
          <p:cNvGrpSpPr/>
          <p:nvPr/>
        </p:nvGrpSpPr>
        <p:grpSpPr>
          <a:xfrm>
            <a:off x="941370" y="6206767"/>
            <a:ext cx="6395876" cy="1472652"/>
            <a:chOff x="0" y="0"/>
            <a:chExt cx="6395874" cy="1472651"/>
          </a:xfrm>
        </p:grpSpPr>
        <p:sp>
          <p:nvSpPr>
            <p:cNvPr id="224" name="圆角矩形"/>
            <p:cNvSpPr/>
            <p:nvPr/>
          </p:nvSpPr>
          <p:spPr>
            <a:xfrm>
              <a:off x="0" y="0"/>
              <a:ext cx="6371131" cy="1472652"/>
            </a:xfrm>
            <a:prstGeom prst="roundRect">
              <a:avLst>
                <a:gd name="adj" fmla="val 16076"/>
              </a:avLst>
            </a:prstGeom>
            <a:solidFill>
              <a:schemeClr val="accent4">
                <a:alpha val="24581"/>
              </a:schemeClr>
            </a:solidFill>
            <a:ln w="63500" cap="flat">
              <a:solidFill>
                <a:schemeClr val="accent4"/>
              </a:solidFill>
              <a:prstDash val="solid"/>
              <a:miter lim="400000"/>
            </a:ln>
            <a:effectLst/>
          </p:spPr>
          <p:txBody>
            <a:bodyPr wrap="square" lIns="50800" tIns="50800" rIns="50800" bIns="50800" numCol="1" anchor="ctr">
              <a:noAutofit/>
            </a:bodyPr>
            <a:lstStyle/>
            <a:p>
              <a:pPr algn="ctr" defTabSz="457200">
                <a:spcBef>
                  <a:spcPts val="0"/>
                </a:spcBef>
                <a:defRPr sz="3200">
                  <a:solidFill>
                    <a:srgbClr val="FFFFFF"/>
                  </a:solidFill>
                  <a:latin typeface="Avenir Next Medium"/>
                  <a:ea typeface="Avenir Next Medium"/>
                  <a:cs typeface="Avenir Next Medium"/>
                  <a:sym typeface="Avenir Next Medium"/>
                </a:defRPr>
              </a:pPr>
              <a:endParaRPr/>
            </a:p>
          </p:txBody>
        </p:sp>
        <p:sp>
          <p:nvSpPr>
            <p:cNvPr id="225" name="uprice = close * shout…"/>
            <p:cNvSpPr/>
            <p:nvPr/>
          </p:nvSpPr>
          <p:spPr>
            <a:xfrm>
              <a:off x="253035" y="736325"/>
              <a:ext cx="6142840"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spAutoFit/>
            </a:bodyPr>
            <a:lstStyle/>
            <a:p>
              <a:pPr>
                <a:lnSpc>
                  <a:spcPct val="40000"/>
                </a:lnSpc>
                <a:defRPr sz="3200"/>
              </a:pPr>
              <a:r>
                <a:rPr dirty="0" err="1"/>
                <a:t>uprice</a:t>
              </a:r>
              <a:r>
                <a:rPr dirty="0"/>
                <a:t> = close * shout</a:t>
              </a:r>
            </a:p>
            <a:p>
              <a:pPr>
                <a:lnSpc>
                  <a:spcPct val="40000"/>
                </a:lnSpc>
                <a:defRPr sz="3200"/>
              </a:pPr>
              <a:r>
                <a:rPr dirty="0" err="1"/>
                <a:t>vss</a:t>
              </a:r>
              <a:r>
                <a:rPr dirty="0"/>
                <a:t>= </a:t>
              </a:r>
              <a:r>
                <a:rPr dirty="0" err="1"/>
                <a:t>cs_zscore</a:t>
              </a:r>
              <a:r>
                <a:rPr dirty="0"/>
                <a:t>(VSS(</a:t>
              </a:r>
              <a:r>
                <a:rPr dirty="0" err="1"/>
                <a:t>uprice</a:t>
              </a:r>
              <a:r>
                <a:rPr dirty="0"/>
                <a:t>, 63))</a:t>
              </a:r>
            </a:p>
          </p:txBody>
        </p:sp>
      </p:grpSp>
      <p:sp>
        <p:nvSpPr>
          <p:cNvPr id="227" name="Compute VSS with user defined operator, and then take the cross-section z-score…"/>
          <p:cNvSpPr txBox="1"/>
          <p:nvPr/>
        </p:nvSpPr>
        <p:spPr>
          <a:xfrm>
            <a:off x="1115579" y="1929711"/>
            <a:ext cx="13885992" cy="44589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marL="536447" indent="-536447" defTabSz="2340863">
              <a:spcBef>
                <a:spcPts val="600"/>
              </a:spcBef>
              <a:buClr>
                <a:srgbClr val="000000"/>
              </a:buClr>
              <a:buSzPct val="100000"/>
              <a:buChar char="•"/>
              <a:defRPr sz="4608"/>
            </a:pPr>
            <a:r>
              <a:rPr dirty="0"/>
              <a:t>Compute VSS with user defined operator, and then take the cross-section z-score</a:t>
            </a:r>
          </a:p>
          <a:p>
            <a:pPr marL="1072895" lvl="1" indent="-536447" defTabSz="2340863">
              <a:spcBef>
                <a:spcPts val="600"/>
              </a:spcBef>
              <a:buClr>
                <a:srgbClr val="000000"/>
              </a:buClr>
              <a:buSzPct val="100000"/>
              <a:buFontTx/>
              <a:buChar char="‣"/>
              <a:defRPr sz="3648"/>
            </a:pPr>
            <a:r>
              <a:rPr dirty="0"/>
              <a:t>Compute the convexity in one quarter</a:t>
            </a:r>
            <a:r>
              <a:rPr lang="en-US" dirty="0"/>
              <a:t>,</a:t>
            </a:r>
            <a:r>
              <a:rPr lang="en-US" altLang="zh-CN" dirty="0"/>
              <a:t> different rolling windows did not show much difference. </a:t>
            </a:r>
            <a:endParaRPr dirty="0"/>
          </a:p>
          <a:p>
            <a:pPr marL="1072895" lvl="1" indent="-536447" defTabSz="2340863">
              <a:spcBef>
                <a:spcPts val="600"/>
              </a:spcBef>
              <a:buClr>
                <a:srgbClr val="000000"/>
              </a:buClr>
              <a:buSzPct val="100000"/>
              <a:buChar char="‣"/>
              <a:defRPr sz="3648"/>
            </a:pPr>
            <a:r>
              <a:rPr dirty="0"/>
              <a:t>Runtime: approximately 30s</a:t>
            </a:r>
          </a:p>
          <a:p>
            <a:pPr marL="1072895" lvl="1" indent="-536447" defTabSz="2340863">
              <a:spcBef>
                <a:spcPts val="600"/>
              </a:spcBef>
              <a:buClr>
                <a:srgbClr val="000000"/>
              </a:buClr>
              <a:buSzPct val="100000"/>
              <a:buChar char="‣"/>
              <a:defRPr sz="3648"/>
            </a:pPr>
            <a:r>
              <a:rPr dirty="0"/>
              <a:t>Compared with the current baseline:</a:t>
            </a:r>
            <a:r>
              <a:rPr b="1" dirty="0"/>
              <a:t> (+0.004, +0.007)</a:t>
            </a:r>
          </a:p>
        </p:txBody>
      </p:sp>
      <p:sp>
        <p:nvSpPr>
          <p:cNvPr id="228" name="The implementation of the VSS"/>
          <p:cNvSpPr txBox="1">
            <a:spLocks noGrp="1"/>
          </p:cNvSpPr>
          <p:nvPr>
            <p:ph type="title" idx="4294967295"/>
          </p:nvPr>
        </p:nvSpPr>
        <p:spPr>
          <a:xfrm>
            <a:off x="1270000" y="533400"/>
            <a:ext cx="21844000" cy="1557437"/>
          </a:xfrm>
          <a:prstGeom prst="rect">
            <a:avLst/>
          </a:prstGeom>
        </p:spPr>
        <p:txBody>
          <a:bodyPr/>
          <a:lstStyle/>
          <a:p>
            <a:r>
              <a:rPr dirty="0"/>
              <a:t>The implementation of the VSS</a:t>
            </a:r>
          </a:p>
        </p:txBody>
      </p:sp>
      <p:pic>
        <p:nvPicPr>
          <p:cNvPr id="233" name="已粘贴的影片.png" descr="已粘贴的影片.png"/>
          <p:cNvPicPr>
            <a:picLocks noChangeAspect="1"/>
          </p:cNvPicPr>
          <p:nvPr/>
        </p:nvPicPr>
        <p:blipFill>
          <a:blip r:embed="rId3"/>
          <a:stretch>
            <a:fillRect/>
          </a:stretch>
        </p:blipFill>
        <p:spPr>
          <a:xfrm>
            <a:off x="941370" y="8233890"/>
            <a:ext cx="7923996" cy="4645102"/>
          </a:xfrm>
          <a:prstGeom prst="rect">
            <a:avLst/>
          </a:prstGeom>
          <a:ln w="25400">
            <a:solidFill>
              <a:srgbClr val="000000"/>
            </a:solidFill>
            <a:miter lim="400000"/>
          </a:ln>
        </p:spPr>
      </p:pic>
      <p:pic>
        <p:nvPicPr>
          <p:cNvPr id="234" name="已粘贴的影片.png" descr="已粘贴的影片.png"/>
          <p:cNvPicPr>
            <a:picLocks/>
          </p:cNvPicPr>
          <p:nvPr/>
        </p:nvPicPr>
        <p:blipFill>
          <a:blip r:embed="rId4"/>
          <a:stretch>
            <a:fillRect/>
          </a:stretch>
        </p:blipFill>
        <p:spPr>
          <a:xfrm>
            <a:off x="8121755" y="6101270"/>
            <a:ext cx="7264790" cy="1683663"/>
          </a:xfrm>
          <a:prstGeom prst="rect">
            <a:avLst/>
          </a:prstGeom>
          <a:ln w="25400">
            <a:solidFill>
              <a:schemeClr val="accent5">
                <a:hueOff val="128995"/>
                <a:satOff val="10158"/>
                <a:lumOff val="-13824"/>
              </a:schemeClr>
            </a:solidFill>
            <a:miter lim="400000"/>
          </a:ln>
        </p:spPr>
      </p:pic>
      <p:grpSp>
        <p:nvGrpSpPr>
          <p:cNvPr id="198" name="成组"/>
          <p:cNvGrpSpPr/>
          <p:nvPr/>
        </p:nvGrpSpPr>
        <p:grpSpPr>
          <a:xfrm>
            <a:off x="15786079" y="2090837"/>
            <a:ext cx="7687074" cy="4151430"/>
            <a:chOff x="0" y="0"/>
            <a:chExt cx="7687072" cy="4151429"/>
          </a:xfrm>
        </p:grpSpPr>
        <p:sp>
          <p:nvSpPr>
            <p:cNvPr id="192" name="圆角矩形"/>
            <p:cNvSpPr/>
            <p:nvPr/>
          </p:nvSpPr>
          <p:spPr>
            <a:xfrm>
              <a:off x="0" y="0"/>
              <a:ext cx="7687072" cy="4151429"/>
            </a:xfrm>
            <a:prstGeom prst="roundRect">
              <a:avLst>
                <a:gd name="adj" fmla="val 5887"/>
              </a:avLst>
            </a:prstGeom>
            <a:solidFill>
              <a:schemeClr val="accent1">
                <a:alpha val="21497"/>
              </a:schemeClr>
            </a:solidFill>
            <a:ln w="12700" cap="flat">
              <a:noFill/>
              <a:miter lim="400000"/>
            </a:ln>
            <a:effectLst/>
          </p:spPr>
          <p:txBody>
            <a:bodyPr wrap="square" lIns="50800" tIns="50800" rIns="50800" bIns="50800" numCol="1" anchor="ctr">
              <a:noAutofit/>
            </a:bodyPr>
            <a:lstStyle/>
            <a:p>
              <a:pPr algn="ctr" defTabSz="457200">
                <a:spcBef>
                  <a:spcPts val="0"/>
                </a:spcBef>
                <a:defRPr sz="3200">
                  <a:solidFill>
                    <a:srgbClr val="FFFFFF"/>
                  </a:solidFill>
                  <a:latin typeface="Avenir Next Medium"/>
                  <a:ea typeface="Avenir Next Medium"/>
                  <a:cs typeface="Avenir Next Medium"/>
                  <a:sym typeface="Avenir Next Medium"/>
                </a:defRPr>
              </a:pPr>
              <a:endParaRPr sz="2400"/>
            </a:p>
          </p:txBody>
        </p:sp>
        <p:sp>
          <p:nvSpPr>
            <p:cNvPr id="193" name="The convexity of the price path (VSS)"/>
            <p:cNvSpPr txBox="1"/>
            <p:nvPr/>
          </p:nvSpPr>
          <p:spPr>
            <a:xfrm>
              <a:off x="445127" y="176533"/>
              <a:ext cx="6834319" cy="12105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spAutoFit/>
            </a:bodyPr>
            <a:lstStyle>
              <a:lvl1pPr algn="ctr">
                <a:defRPr sz="4400" b="1">
                  <a:solidFill>
                    <a:srgbClr val="5E5E5E"/>
                  </a:solidFill>
                </a:defRPr>
              </a:lvl1pPr>
            </a:lstStyle>
            <a:p>
              <a:r>
                <a:rPr sz="3600" dirty="0"/>
                <a:t>The convexity of the price path</a:t>
              </a:r>
              <a:r>
                <a:rPr lang="zh-CN" altLang="en-US" sz="3600" dirty="0"/>
                <a:t> </a:t>
              </a:r>
              <a:r>
                <a:rPr sz="3600" dirty="0"/>
                <a:t>(VSS)</a:t>
              </a:r>
            </a:p>
          </p:txBody>
        </p:sp>
        <p:sp>
          <p:nvSpPr>
            <p:cNvPr id="194" name="Operator Definition: The positive and negative area between the price curve and the linear interpolation"/>
            <p:cNvSpPr txBox="1"/>
            <p:nvPr/>
          </p:nvSpPr>
          <p:spPr>
            <a:xfrm>
              <a:off x="242235" y="1673814"/>
              <a:ext cx="7240105" cy="139525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p>
              <a:pPr>
                <a:defRPr sz="3400">
                  <a:solidFill>
                    <a:srgbClr val="5E5E5E"/>
                  </a:solidFill>
                  <a:latin typeface="Helvetica Neue"/>
                  <a:ea typeface="Helvetica Neue"/>
                  <a:cs typeface="Helvetica Neue"/>
                  <a:sym typeface="Helvetica Neue"/>
                </a:defRPr>
              </a:pPr>
              <a:r>
                <a:rPr sz="2800" b="1" dirty="0"/>
                <a:t>Operator Definition</a:t>
              </a:r>
              <a:r>
                <a:rPr sz="2800" dirty="0"/>
                <a:t>: The positive and negative area between the price curve and the linear interpolation</a:t>
              </a:r>
            </a:p>
          </p:txBody>
        </p:sp>
        <p:sp>
          <p:nvSpPr>
            <p:cNvPr id="196" name="Measures: The convexity of the price curve"/>
            <p:cNvSpPr txBox="1"/>
            <p:nvPr/>
          </p:nvSpPr>
          <p:spPr>
            <a:xfrm>
              <a:off x="307381" y="3186740"/>
              <a:ext cx="7379691" cy="53347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p>
              <a:pPr>
                <a:defRPr sz="3400">
                  <a:solidFill>
                    <a:srgbClr val="5E5E5E"/>
                  </a:solidFill>
                  <a:latin typeface="Helvetica Neue"/>
                  <a:ea typeface="Helvetica Neue"/>
                  <a:cs typeface="Helvetica Neue"/>
                  <a:sym typeface="Helvetica Neue"/>
                </a:defRPr>
              </a:pPr>
              <a:r>
                <a:rPr sz="2800" b="1" dirty="0"/>
                <a:t>Measures: </a:t>
              </a:r>
              <a:r>
                <a:rPr sz="2800" dirty="0"/>
                <a:t>The convexity of the price curve </a:t>
              </a:r>
            </a:p>
          </p:txBody>
        </p:sp>
      </p:grpSp>
      <p:pic>
        <p:nvPicPr>
          <p:cNvPr id="3" name="图片 2">
            <a:extLst>
              <a:ext uri="{FF2B5EF4-FFF2-40B4-BE49-F238E27FC236}">
                <a16:creationId xmlns:a16="http://schemas.microsoft.com/office/drawing/2014/main" id="{B416C503-55AE-E7C2-BCE6-EBA42B36F14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535617" y="6359940"/>
            <a:ext cx="8683445" cy="7047864"/>
          </a:xfrm>
          <a:prstGeom prst="rect">
            <a:avLst/>
          </a:prstGeom>
        </p:spPr>
      </p:pic>
      <p:pic>
        <p:nvPicPr>
          <p:cNvPr id="5" name="图片 4">
            <a:extLst>
              <a:ext uri="{FF2B5EF4-FFF2-40B4-BE49-F238E27FC236}">
                <a16:creationId xmlns:a16="http://schemas.microsoft.com/office/drawing/2014/main" id="{032387B3-F3BA-0D0E-E9CF-237140FC651C}"/>
              </a:ext>
            </a:extLst>
          </p:cNvPr>
          <p:cNvPicPr>
            <a:picLocks noChangeAspect="1"/>
          </p:cNvPicPr>
          <p:nvPr/>
        </p:nvPicPr>
        <p:blipFill>
          <a:blip r:embed="rId6"/>
          <a:stretch>
            <a:fillRect/>
          </a:stretch>
        </p:blipFill>
        <p:spPr>
          <a:xfrm>
            <a:off x="9947091" y="9149312"/>
            <a:ext cx="4639322" cy="1009791"/>
          </a:xfrm>
          <a:prstGeom prst="rect">
            <a:avLst/>
          </a:prstGeom>
        </p:spPr>
      </p:pic>
      <p:sp>
        <p:nvSpPr>
          <p:cNvPr id="6" name="文本框 5">
            <a:extLst>
              <a:ext uri="{FF2B5EF4-FFF2-40B4-BE49-F238E27FC236}">
                <a16:creationId xmlns:a16="http://schemas.microsoft.com/office/drawing/2014/main" id="{A40FF654-2ECF-7393-88C5-0279852A7A78}"/>
              </a:ext>
            </a:extLst>
          </p:cNvPr>
          <p:cNvSpPr txBox="1"/>
          <p:nvPr/>
        </p:nvSpPr>
        <p:spPr>
          <a:xfrm>
            <a:off x="11210983" y="8549544"/>
            <a:ext cx="2833399"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2400" dirty="0">
                <a:solidFill>
                  <a:schemeClr val="bg1">
                    <a:lumMod val="50000"/>
                  </a:schemeClr>
                </a:solidFill>
              </a:rPr>
              <a:t>VSS(</a:t>
            </a:r>
            <a:r>
              <a:rPr lang="en-US" altLang="zh-CN" sz="2400" dirty="0" err="1">
                <a:solidFill>
                  <a:schemeClr val="bg1">
                    <a:lumMod val="50000"/>
                  </a:schemeClr>
                </a:solidFill>
              </a:rPr>
              <a:t>uhigh</a:t>
            </a:r>
            <a:r>
              <a:rPr lang="en-US" altLang="zh-CN" sz="2400" dirty="0">
                <a:solidFill>
                  <a:schemeClr val="bg1">
                    <a:lumMod val="50000"/>
                  </a:schemeClr>
                </a:solidFill>
              </a:rPr>
              <a:t> * </a:t>
            </a:r>
            <a:r>
              <a:rPr lang="en-US" altLang="zh-CN" sz="2400" dirty="0" err="1">
                <a:solidFill>
                  <a:schemeClr val="bg1">
                    <a:lumMod val="50000"/>
                  </a:schemeClr>
                </a:solidFill>
              </a:rPr>
              <a:t>shsout</a:t>
            </a:r>
            <a:r>
              <a:rPr lang="en-US" altLang="zh-CN" sz="2400" dirty="0">
                <a:solidFill>
                  <a:schemeClr val="bg1">
                    <a:lumMod val="50000"/>
                  </a:schemeClr>
                </a:solidFill>
              </a:rPr>
              <a:t>)</a:t>
            </a:r>
            <a:endParaRPr lang="zh-CN" altLang="en-US" sz="2400" dirty="0">
              <a:solidFill>
                <a:schemeClr val="bg1">
                  <a:lumMod val="50000"/>
                </a:schemeClr>
              </a:solidFill>
            </a:endParaRPr>
          </a:p>
        </p:txBody>
      </p:sp>
    </p:spTree>
    <p:extLst>
      <p:ext uri="{BB962C8B-B14F-4D97-AF65-F5344CB8AC3E}">
        <p14:creationId xmlns:p14="http://schemas.microsoft.com/office/powerpoint/2010/main" val="3769596389"/>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6" name="成组"/>
          <p:cNvGrpSpPr/>
          <p:nvPr/>
        </p:nvGrpSpPr>
        <p:grpSpPr>
          <a:xfrm>
            <a:off x="721567" y="6372579"/>
            <a:ext cx="6893807" cy="1472653"/>
            <a:chOff x="0" y="0"/>
            <a:chExt cx="6893805" cy="1472652"/>
          </a:xfrm>
        </p:grpSpPr>
        <p:sp>
          <p:nvSpPr>
            <p:cNvPr id="224" name="圆角矩形"/>
            <p:cNvSpPr/>
            <p:nvPr/>
          </p:nvSpPr>
          <p:spPr>
            <a:xfrm>
              <a:off x="0" y="0"/>
              <a:ext cx="6371131" cy="1472652"/>
            </a:xfrm>
            <a:prstGeom prst="roundRect">
              <a:avLst>
                <a:gd name="adj" fmla="val 16076"/>
              </a:avLst>
            </a:prstGeom>
            <a:solidFill>
              <a:schemeClr val="accent4">
                <a:alpha val="24581"/>
              </a:schemeClr>
            </a:solidFill>
            <a:ln w="63500" cap="flat">
              <a:solidFill>
                <a:schemeClr val="accent4"/>
              </a:solidFill>
              <a:prstDash val="solid"/>
              <a:miter lim="400000"/>
            </a:ln>
            <a:effectLst/>
          </p:spPr>
          <p:txBody>
            <a:bodyPr wrap="square" lIns="50800" tIns="50800" rIns="50800" bIns="50800" numCol="1" anchor="ctr">
              <a:noAutofit/>
            </a:bodyPr>
            <a:lstStyle/>
            <a:p>
              <a:pPr algn="ctr" defTabSz="457200">
                <a:spcBef>
                  <a:spcPts val="0"/>
                </a:spcBef>
                <a:defRPr sz="3200">
                  <a:solidFill>
                    <a:srgbClr val="FFFFFF"/>
                  </a:solidFill>
                  <a:latin typeface="Avenir Next Medium"/>
                  <a:ea typeface="Avenir Next Medium"/>
                  <a:cs typeface="Avenir Next Medium"/>
                  <a:sym typeface="Avenir Next Medium"/>
                </a:defRPr>
              </a:pPr>
              <a:endParaRPr/>
            </a:p>
          </p:txBody>
        </p:sp>
        <p:sp>
          <p:nvSpPr>
            <p:cNvPr id="225" name="uprice = close * shout…"/>
            <p:cNvSpPr/>
            <p:nvPr/>
          </p:nvSpPr>
          <p:spPr>
            <a:xfrm>
              <a:off x="265766" y="386964"/>
              <a:ext cx="6628039" cy="86344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spAutoFit/>
            </a:bodyPr>
            <a:lstStyle/>
            <a:p>
              <a:pPr>
                <a:lnSpc>
                  <a:spcPct val="40000"/>
                </a:lnSpc>
                <a:defRPr sz="3200"/>
              </a:pPr>
              <a:r>
                <a:rPr lang="en-US" dirty="0" err="1"/>
                <a:t>cs_zscore</a:t>
              </a:r>
              <a:r>
                <a:rPr lang="en-US" dirty="0"/>
                <a:t>(</a:t>
              </a:r>
              <a:r>
                <a:rPr lang="en-US" dirty="0" err="1"/>
                <a:t>asymetric</a:t>
              </a:r>
              <a:r>
                <a:rPr lang="en-US" dirty="0"/>
                <a:t>(ret1, 1, 42)</a:t>
              </a:r>
            </a:p>
            <a:p>
              <a:pPr>
                <a:lnSpc>
                  <a:spcPct val="40000"/>
                </a:lnSpc>
                <a:defRPr sz="3200"/>
              </a:pPr>
              <a:r>
                <a:rPr lang="en-US" dirty="0" err="1"/>
                <a:t>cs_indneut</a:t>
              </a:r>
              <a:r>
                <a:rPr lang="en-US" dirty="0"/>
                <a:t>(ASY, industry)</a:t>
              </a:r>
              <a:endParaRPr dirty="0"/>
            </a:p>
          </p:txBody>
        </p:sp>
      </p:grpSp>
      <p:sp>
        <p:nvSpPr>
          <p:cNvPr id="227" name="Compute VSS with user defined operator, and then take the cross-section z-score…"/>
          <p:cNvSpPr txBox="1"/>
          <p:nvPr/>
        </p:nvSpPr>
        <p:spPr>
          <a:xfrm>
            <a:off x="1086643" y="2148185"/>
            <a:ext cx="13885992" cy="44589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marL="536447" indent="-536447" defTabSz="2340863">
              <a:spcBef>
                <a:spcPts val="600"/>
              </a:spcBef>
              <a:buClr>
                <a:srgbClr val="000000"/>
              </a:buClr>
              <a:buSzPct val="100000"/>
              <a:buChar char="•"/>
              <a:defRPr sz="4608"/>
            </a:pPr>
            <a:r>
              <a:rPr dirty="0"/>
              <a:t>Compute </a:t>
            </a:r>
            <a:r>
              <a:rPr lang="en-US" altLang="zh-CN" dirty="0"/>
              <a:t>ASY</a:t>
            </a:r>
            <a:r>
              <a:rPr dirty="0"/>
              <a:t> with defined operator</a:t>
            </a:r>
            <a:r>
              <a:rPr lang="en-US" dirty="0"/>
              <a:t> below, then take the </a:t>
            </a:r>
            <a:r>
              <a:rPr lang="en-US" dirty="0" err="1"/>
              <a:t>cs_zscore</a:t>
            </a:r>
            <a:endParaRPr dirty="0"/>
          </a:p>
          <a:p>
            <a:pPr marL="1072895" lvl="1" indent="-536447" defTabSz="2340863">
              <a:spcBef>
                <a:spcPts val="600"/>
              </a:spcBef>
              <a:buClr>
                <a:srgbClr val="000000"/>
              </a:buClr>
              <a:buSzPct val="100000"/>
              <a:buChar char="‣"/>
              <a:defRPr sz="3648"/>
            </a:pPr>
            <a:r>
              <a:rPr dirty="0"/>
              <a:t>Compute the </a:t>
            </a:r>
            <a:r>
              <a:rPr lang="en-US" altLang="zh-CN" sz="4000" dirty="0"/>
              <a:t>asymmetries</a:t>
            </a:r>
            <a:r>
              <a:rPr dirty="0"/>
              <a:t> in </a:t>
            </a:r>
            <a:r>
              <a:rPr lang="en-US" dirty="0"/>
              <a:t>two</a:t>
            </a:r>
            <a:r>
              <a:rPr dirty="0"/>
              <a:t> </a:t>
            </a:r>
            <a:r>
              <a:rPr lang="en-US" dirty="0"/>
              <a:t>month, different rolling windows did not show much difference.</a:t>
            </a:r>
            <a:r>
              <a:rPr dirty="0"/>
              <a:t> </a:t>
            </a:r>
          </a:p>
          <a:p>
            <a:pPr marL="1072895" lvl="1" indent="-536447" defTabSz="2340863">
              <a:spcBef>
                <a:spcPts val="600"/>
              </a:spcBef>
              <a:buClr>
                <a:srgbClr val="000000"/>
              </a:buClr>
              <a:buSzPct val="100000"/>
              <a:buChar char="‣"/>
              <a:defRPr sz="3648"/>
            </a:pPr>
            <a:r>
              <a:rPr dirty="0"/>
              <a:t>Runtime: approximately </a:t>
            </a:r>
            <a:r>
              <a:rPr lang="en-US" dirty="0"/>
              <a:t>40</a:t>
            </a:r>
            <a:r>
              <a:rPr dirty="0"/>
              <a:t>s</a:t>
            </a:r>
          </a:p>
          <a:p>
            <a:pPr marL="1072895" lvl="1" indent="-536447" defTabSz="2340863">
              <a:spcBef>
                <a:spcPts val="600"/>
              </a:spcBef>
              <a:buClr>
                <a:srgbClr val="000000"/>
              </a:buClr>
              <a:buSzPct val="100000"/>
              <a:buChar char="‣"/>
              <a:defRPr sz="3648"/>
            </a:pPr>
            <a:r>
              <a:rPr dirty="0"/>
              <a:t>Compared with the current baseline:</a:t>
            </a:r>
            <a:r>
              <a:rPr b="1" dirty="0"/>
              <a:t> (+0.0</a:t>
            </a:r>
            <a:r>
              <a:rPr lang="en-US" b="1" dirty="0"/>
              <a:t>10</a:t>
            </a:r>
            <a:r>
              <a:rPr b="1" dirty="0"/>
              <a:t>, +0.007)</a:t>
            </a:r>
          </a:p>
        </p:txBody>
      </p:sp>
      <p:sp>
        <p:nvSpPr>
          <p:cNvPr id="228" name="The implementation of the VSS"/>
          <p:cNvSpPr txBox="1">
            <a:spLocks noGrp="1"/>
          </p:cNvSpPr>
          <p:nvPr>
            <p:ph type="title" idx="4294967295"/>
          </p:nvPr>
        </p:nvSpPr>
        <p:spPr>
          <a:xfrm>
            <a:off x="1270000" y="533400"/>
            <a:ext cx="21844000" cy="1557437"/>
          </a:xfrm>
          <a:prstGeom prst="rect">
            <a:avLst/>
          </a:prstGeom>
        </p:spPr>
        <p:txBody>
          <a:bodyPr/>
          <a:lstStyle/>
          <a:p>
            <a:r>
              <a:rPr dirty="0"/>
              <a:t>The implementation of the </a:t>
            </a:r>
            <a:r>
              <a:rPr lang="en-US" dirty="0"/>
              <a:t>ASY</a:t>
            </a:r>
            <a:endParaRPr dirty="0"/>
          </a:p>
        </p:txBody>
      </p:sp>
      <p:grpSp>
        <p:nvGrpSpPr>
          <p:cNvPr id="198" name="成组"/>
          <p:cNvGrpSpPr/>
          <p:nvPr/>
        </p:nvGrpSpPr>
        <p:grpSpPr>
          <a:xfrm>
            <a:off x="15786079" y="2079301"/>
            <a:ext cx="7687074" cy="3745916"/>
            <a:chOff x="0" y="211088"/>
            <a:chExt cx="7687072" cy="3745915"/>
          </a:xfrm>
        </p:grpSpPr>
        <p:sp>
          <p:nvSpPr>
            <p:cNvPr id="192" name="圆角矩形"/>
            <p:cNvSpPr/>
            <p:nvPr/>
          </p:nvSpPr>
          <p:spPr>
            <a:xfrm>
              <a:off x="0" y="211088"/>
              <a:ext cx="7687072" cy="3745915"/>
            </a:xfrm>
            <a:prstGeom prst="roundRect">
              <a:avLst>
                <a:gd name="adj" fmla="val 5887"/>
              </a:avLst>
            </a:prstGeom>
            <a:solidFill>
              <a:schemeClr val="accent1">
                <a:alpha val="21497"/>
              </a:schemeClr>
            </a:solidFill>
            <a:ln w="12700" cap="flat">
              <a:noFill/>
              <a:miter lim="400000"/>
            </a:ln>
            <a:effectLst/>
          </p:spPr>
          <p:txBody>
            <a:bodyPr wrap="square" lIns="50800" tIns="50800" rIns="50800" bIns="50800" numCol="1" anchor="ctr">
              <a:noAutofit/>
            </a:bodyPr>
            <a:lstStyle/>
            <a:p>
              <a:pPr algn="ctr" defTabSz="457200">
                <a:spcBef>
                  <a:spcPts val="0"/>
                </a:spcBef>
                <a:defRPr sz="3200">
                  <a:solidFill>
                    <a:srgbClr val="FFFFFF"/>
                  </a:solidFill>
                  <a:latin typeface="Avenir Next Medium"/>
                  <a:ea typeface="Avenir Next Medium"/>
                  <a:cs typeface="Avenir Next Medium"/>
                  <a:sym typeface="Avenir Next Medium"/>
                </a:defRPr>
              </a:pPr>
              <a:endParaRPr sz="2400"/>
            </a:p>
          </p:txBody>
        </p:sp>
        <p:sp>
          <p:nvSpPr>
            <p:cNvPr id="193" name="The convexity of the price path (VSS)"/>
            <p:cNvSpPr txBox="1"/>
            <p:nvPr/>
          </p:nvSpPr>
          <p:spPr>
            <a:xfrm>
              <a:off x="445127" y="453532"/>
              <a:ext cx="6834319" cy="65659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spAutoFit/>
            </a:bodyPr>
            <a:lstStyle>
              <a:lvl1pPr algn="ctr">
                <a:defRPr sz="4400" b="1">
                  <a:solidFill>
                    <a:srgbClr val="5E5E5E"/>
                  </a:solidFill>
                </a:defRPr>
              </a:lvl1pPr>
            </a:lstStyle>
            <a:p>
              <a:r>
                <a:rPr sz="3600" dirty="0"/>
                <a:t>The </a:t>
              </a:r>
              <a:r>
                <a:rPr lang="en-US" altLang="zh-CN" sz="3600" dirty="0"/>
                <a:t>asymmetries</a:t>
              </a:r>
              <a:r>
                <a:rPr sz="3600" dirty="0"/>
                <a:t> of the price (</a:t>
              </a:r>
              <a:r>
                <a:rPr lang="en-US" sz="3600" dirty="0"/>
                <a:t>ASY</a:t>
              </a:r>
              <a:r>
                <a:rPr sz="3600" dirty="0"/>
                <a:t>)</a:t>
              </a:r>
            </a:p>
          </p:txBody>
        </p:sp>
        <p:sp>
          <p:nvSpPr>
            <p:cNvPr id="194" name="Operator Definition: The positive and negative area between the price curve and the linear interpolation"/>
            <p:cNvSpPr txBox="1"/>
            <p:nvPr/>
          </p:nvSpPr>
          <p:spPr>
            <a:xfrm>
              <a:off x="223483" y="1260769"/>
              <a:ext cx="7240105" cy="139525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p>
              <a:pPr>
                <a:defRPr sz="3400">
                  <a:solidFill>
                    <a:srgbClr val="5E5E5E"/>
                  </a:solidFill>
                  <a:latin typeface="Helvetica Neue"/>
                  <a:ea typeface="Helvetica Neue"/>
                  <a:cs typeface="Helvetica Neue"/>
                  <a:sym typeface="Helvetica Neue"/>
                </a:defRPr>
              </a:pPr>
              <a:r>
                <a:rPr sz="2800" b="1" dirty="0"/>
                <a:t>Operator Definition</a:t>
              </a:r>
              <a:r>
                <a:rPr sz="2800" dirty="0"/>
                <a:t>: The </a:t>
              </a:r>
              <a:r>
                <a:rPr lang="en-US" sz="2800" dirty="0"/>
                <a:t>probability of  z-score return larger than 1 minus that of</a:t>
              </a:r>
              <a:r>
                <a:rPr lang="en-US" altLang="zh-CN" sz="2800" dirty="0"/>
                <a:t> return less than 1 minus on </a:t>
              </a:r>
              <a:r>
                <a:rPr lang="en-US" altLang="zh-CN" sz="2800" b="1" dirty="0"/>
                <a:t>time-series </a:t>
              </a:r>
              <a:r>
                <a:rPr lang="en-US" altLang="zh-CN" sz="2800" dirty="0"/>
                <a:t>axis</a:t>
              </a:r>
              <a:endParaRPr sz="2800" dirty="0"/>
            </a:p>
          </p:txBody>
        </p:sp>
        <p:sp>
          <p:nvSpPr>
            <p:cNvPr id="196" name="Measures: The convexity of the price curve"/>
            <p:cNvSpPr txBox="1"/>
            <p:nvPr/>
          </p:nvSpPr>
          <p:spPr>
            <a:xfrm>
              <a:off x="283217" y="2806669"/>
              <a:ext cx="7379691" cy="96436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p>
              <a:pPr>
                <a:defRPr sz="3400">
                  <a:solidFill>
                    <a:srgbClr val="5E5E5E"/>
                  </a:solidFill>
                  <a:latin typeface="Helvetica Neue"/>
                  <a:ea typeface="Helvetica Neue"/>
                  <a:cs typeface="Helvetica Neue"/>
                  <a:sym typeface="Helvetica Neue"/>
                </a:defRPr>
              </a:pPr>
              <a:r>
                <a:rPr sz="2800" b="1" dirty="0"/>
                <a:t>Measures: </a:t>
              </a:r>
              <a:r>
                <a:rPr sz="2800" dirty="0"/>
                <a:t>The </a:t>
              </a:r>
              <a:r>
                <a:rPr lang="en-US" altLang="zh-CN" sz="2800" dirty="0"/>
                <a:t>asymmetries</a:t>
              </a:r>
              <a:r>
                <a:rPr sz="2800" dirty="0"/>
                <a:t> of the </a:t>
              </a:r>
              <a:r>
                <a:rPr lang="en-US" sz="2800" dirty="0"/>
                <a:t>price shape</a:t>
              </a:r>
              <a:r>
                <a:rPr sz="2800" dirty="0"/>
                <a:t> </a:t>
              </a:r>
            </a:p>
          </p:txBody>
        </p:sp>
      </p:grpSp>
      <p:pic>
        <p:nvPicPr>
          <p:cNvPr id="6" name="图片 5">
            <a:extLst>
              <a:ext uri="{FF2B5EF4-FFF2-40B4-BE49-F238E27FC236}">
                <a16:creationId xmlns:a16="http://schemas.microsoft.com/office/drawing/2014/main" id="{CEB770F6-CADD-F1F3-B8B8-7EB353DE9BDC}"/>
              </a:ext>
            </a:extLst>
          </p:cNvPr>
          <p:cNvPicPr>
            <a:picLocks noChangeAspect="1"/>
          </p:cNvPicPr>
          <p:nvPr/>
        </p:nvPicPr>
        <p:blipFill>
          <a:blip r:embed="rId3"/>
          <a:stretch>
            <a:fillRect/>
          </a:stretch>
        </p:blipFill>
        <p:spPr>
          <a:xfrm>
            <a:off x="16002523" y="6056125"/>
            <a:ext cx="8017310" cy="4172985"/>
          </a:xfrm>
          <a:prstGeom prst="rect">
            <a:avLst/>
          </a:prstGeom>
        </p:spPr>
      </p:pic>
      <p:pic>
        <p:nvPicPr>
          <p:cNvPr id="13" name="图片 12">
            <a:extLst>
              <a:ext uri="{FF2B5EF4-FFF2-40B4-BE49-F238E27FC236}">
                <a16:creationId xmlns:a16="http://schemas.microsoft.com/office/drawing/2014/main" id="{78917127-FFA7-BB2B-BB6F-388C6C63ECED}"/>
              </a:ext>
            </a:extLst>
          </p:cNvPr>
          <p:cNvPicPr>
            <a:picLocks/>
          </p:cNvPicPr>
          <p:nvPr/>
        </p:nvPicPr>
        <p:blipFill>
          <a:blip r:embed="rId4"/>
          <a:stretch>
            <a:fillRect/>
          </a:stretch>
        </p:blipFill>
        <p:spPr>
          <a:xfrm>
            <a:off x="7615374" y="6276232"/>
            <a:ext cx="7651966" cy="1665345"/>
          </a:xfrm>
          <a:prstGeom prst="rect">
            <a:avLst/>
          </a:prstGeom>
          <a:ln w="28575">
            <a:solidFill>
              <a:srgbClr val="C00000"/>
            </a:solidFill>
          </a:ln>
        </p:spPr>
      </p:pic>
      <p:grpSp>
        <p:nvGrpSpPr>
          <p:cNvPr id="16" name="组合 15">
            <a:extLst>
              <a:ext uri="{FF2B5EF4-FFF2-40B4-BE49-F238E27FC236}">
                <a16:creationId xmlns:a16="http://schemas.microsoft.com/office/drawing/2014/main" id="{A4639A0C-F1D8-4FEB-EE42-2CAFC55975B1}"/>
              </a:ext>
            </a:extLst>
          </p:cNvPr>
          <p:cNvGrpSpPr/>
          <p:nvPr/>
        </p:nvGrpSpPr>
        <p:grpSpPr>
          <a:xfrm>
            <a:off x="721567" y="8424887"/>
            <a:ext cx="9761835" cy="3142928"/>
            <a:chOff x="2734456" y="8424887"/>
            <a:chExt cx="9761835" cy="3142928"/>
          </a:xfrm>
        </p:grpSpPr>
        <p:pic>
          <p:nvPicPr>
            <p:cNvPr id="4" name="图片 3">
              <a:extLst>
                <a:ext uri="{FF2B5EF4-FFF2-40B4-BE49-F238E27FC236}">
                  <a16:creationId xmlns:a16="http://schemas.microsoft.com/office/drawing/2014/main" id="{AA11A85E-24E9-9515-32C7-33DC03BE4A4E}"/>
                </a:ext>
              </a:extLst>
            </p:cNvPr>
            <p:cNvPicPr>
              <a:picLocks noChangeAspect="1"/>
            </p:cNvPicPr>
            <p:nvPr/>
          </p:nvPicPr>
          <p:blipFill rotWithShape="1">
            <a:blip r:embed="rId5"/>
            <a:srcRect t="-1" b="-14872"/>
            <a:stretch/>
          </p:blipFill>
          <p:spPr>
            <a:xfrm>
              <a:off x="2734456" y="8424887"/>
              <a:ext cx="9761835" cy="3142928"/>
            </a:xfrm>
            <a:prstGeom prst="rect">
              <a:avLst/>
            </a:prstGeom>
            <a:ln w="28575">
              <a:solidFill>
                <a:schemeClr val="tx1"/>
              </a:solidFill>
            </a:ln>
          </p:spPr>
        </p:pic>
        <p:pic>
          <p:nvPicPr>
            <p:cNvPr id="15" name="图片 14">
              <a:extLst>
                <a:ext uri="{FF2B5EF4-FFF2-40B4-BE49-F238E27FC236}">
                  <a16:creationId xmlns:a16="http://schemas.microsoft.com/office/drawing/2014/main" id="{303E5E80-95DF-6CFC-6C01-EC5DC746E0A2}"/>
                </a:ext>
              </a:extLst>
            </p:cNvPr>
            <p:cNvPicPr>
              <a:picLocks noChangeAspect="1"/>
            </p:cNvPicPr>
            <p:nvPr/>
          </p:nvPicPr>
          <p:blipFill>
            <a:blip r:embed="rId6"/>
            <a:stretch>
              <a:fillRect/>
            </a:stretch>
          </p:blipFill>
          <p:spPr>
            <a:xfrm>
              <a:off x="2734456" y="8491314"/>
              <a:ext cx="9590066" cy="2827129"/>
            </a:xfrm>
            <a:prstGeom prst="rect">
              <a:avLst/>
            </a:prstGeom>
          </p:spPr>
        </p:pic>
      </p:grpSp>
      <p:pic>
        <p:nvPicPr>
          <p:cNvPr id="19" name="图片 18">
            <a:extLst>
              <a:ext uri="{FF2B5EF4-FFF2-40B4-BE49-F238E27FC236}">
                <a16:creationId xmlns:a16="http://schemas.microsoft.com/office/drawing/2014/main" id="{60F44F5B-7476-81FD-2006-C5E0CB3313ED}"/>
              </a:ext>
            </a:extLst>
          </p:cNvPr>
          <p:cNvPicPr>
            <a:picLocks noChangeAspect="1"/>
          </p:cNvPicPr>
          <p:nvPr/>
        </p:nvPicPr>
        <p:blipFill>
          <a:blip r:embed="rId7"/>
          <a:stretch>
            <a:fillRect/>
          </a:stretch>
        </p:blipFill>
        <p:spPr>
          <a:xfrm>
            <a:off x="18591944" y="11318443"/>
            <a:ext cx="4657725" cy="1123950"/>
          </a:xfrm>
          <a:prstGeom prst="rect">
            <a:avLst/>
          </a:prstGeom>
        </p:spPr>
      </p:pic>
      <p:sp>
        <p:nvSpPr>
          <p:cNvPr id="20" name="文本框 19">
            <a:extLst>
              <a:ext uri="{FF2B5EF4-FFF2-40B4-BE49-F238E27FC236}">
                <a16:creationId xmlns:a16="http://schemas.microsoft.com/office/drawing/2014/main" id="{F4ABC576-0331-4ACE-174C-E2DB4A861150}"/>
              </a:ext>
            </a:extLst>
          </p:cNvPr>
          <p:cNvSpPr txBox="1"/>
          <p:nvPr/>
        </p:nvSpPr>
        <p:spPr>
          <a:xfrm>
            <a:off x="20065719" y="10820569"/>
            <a:ext cx="2833399"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2400" dirty="0" err="1">
                <a:solidFill>
                  <a:schemeClr val="bg1">
                    <a:lumMod val="50000"/>
                  </a:schemeClr>
                </a:solidFill>
              </a:rPr>
              <a:t>ts_skew</a:t>
            </a:r>
            <a:r>
              <a:rPr lang="en-US" altLang="zh-CN" sz="2400" dirty="0">
                <a:solidFill>
                  <a:schemeClr val="bg1">
                    <a:lumMod val="50000"/>
                  </a:schemeClr>
                </a:solidFill>
              </a:rPr>
              <a:t>(ret1, 42)</a:t>
            </a:r>
            <a:endParaRPr lang="zh-CN" altLang="en-US" sz="2400" dirty="0">
              <a:solidFill>
                <a:schemeClr val="bg1">
                  <a:lumMod val="50000"/>
                </a:schemeClr>
              </a:solidFill>
            </a:endParaRPr>
          </a:p>
        </p:txBody>
      </p:sp>
      <p:pic>
        <p:nvPicPr>
          <p:cNvPr id="22" name="图片 21">
            <a:extLst>
              <a:ext uri="{FF2B5EF4-FFF2-40B4-BE49-F238E27FC236}">
                <a16:creationId xmlns:a16="http://schemas.microsoft.com/office/drawing/2014/main" id="{801E45D4-67AC-9B71-4F24-541B5DCBFCBA}"/>
              </a:ext>
            </a:extLst>
          </p:cNvPr>
          <p:cNvPicPr>
            <a:picLocks noChangeAspect="1"/>
          </p:cNvPicPr>
          <p:nvPr/>
        </p:nvPicPr>
        <p:blipFill>
          <a:blip r:embed="rId8"/>
          <a:stretch>
            <a:fillRect/>
          </a:stretch>
        </p:blipFill>
        <p:spPr>
          <a:xfrm>
            <a:off x="11134274" y="9458085"/>
            <a:ext cx="4696480" cy="1105054"/>
          </a:xfrm>
          <a:prstGeom prst="rect">
            <a:avLst/>
          </a:prstGeom>
        </p:spPr>
      </p:pic>
      <p:sp>
        <p:nvSpPr>
          <p:cNvPr id="23" name="文本框 22">
            <a:extLst>
              <a:ext uri="{FF2B5EF4-FFF2-40B4-BE49-F238E27FC236}">
                <a16:creationId xmlns:a16="http://schemas.microsoft.com/office/drawing/2014/main" id="{47A629B5-3D08-5FD1-1140-E71AD0828037}"/>
              </a:ext>
            </a:extLst>
          </p:cNvPr>
          <p:cNvSpPr txBox="1"/>
          <p:nvPr/>
        </p:nvSpPr>
        <p:spPr>
          <a:xfrm>
            <a:off x="12654180" y="8996420"/>
            <a:ext cx="2833399"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2400" dirty="0" err="1">
                <a:solidFill>
                  <a:schemeClr val="bg1">
                    <a:lumMod val="50000"/>
                  </a:schemeClr>
                </a:solidFill>
              </a:rPr>
              <a:t>asymetric</a:t>
            </a:r>
            <a:r>
              <a:rPr lang="en-US" altLang="zh-CN" sz="2400" dirty="0">
                <a:solidFill>
                  <a:schemeClr val="bg1">
                    <a:lumMod val="50000"/>
                  </a:schemeClr>
                </a:solidFill>
              </a:rPr>
              <a:t>(ret5)</a:t>
            </a:r>
            <a:endParaRPr lang="zh-CN" altLang="en-US" sz="2400" dirty="0">
              <a:solidFill>
                <a:schemeClr val="bg1">
                  <a:lumMod val="50000"/>
                </a:schemeClr>
              </a:solidFill>
            </a:endParaRPr>
          </a:p>
        </p:txBody>
      </p:sp>
      <p:pic>
        <p:nvPicPr>
          <p:cNvPr id="25" name="图片 24">
            <a:extLst>
              <a:ext uri="{FF2B5EF4-FFF2-40B4-BE49-F238E27FC236}">
                <a16:creationId xmlns:a16="http://schemas.microsoft.com/office/drawing/2014/main" id="{F647861F-34D1-6010-E9F5-FF6D58590599}"/>
              </a:ext>
            </a:extLst>
          </p:cNvPr>
          <p:cNvPicPr>
            <a:picLocks noChangeAspect="1"/>
          </p:cNvPicPr>
          <p:nvPr/>
        </p:nvPicPr>
        <p:blipFill>
          <a:blip r:embed="rId9"/>
          <a:stretch>
            <a:fillRect/>
          </a:stretch>
        </p:blipFill>
        <p:spPr>
          <a:xfrm>
            <a:off x="11258116" y="11634585"/>
            <a:ext cx="4572638" cy="1019317"/>
          </a:xfrm>
          <a:prstGeom prst="rect">
            <a:avLst/>
          </a:prstGeom>
        </p:spPr>
      </p:pic>
      <p:sp>
        <p:nvSpPr>
          <p:cNvPr id="26" name="文本框 25">
            <a:extLst>
              <a:ext uri="{FF2B5EF4-FFF2-40B4-BE49-F238E27FC236}">
                <a16:creationId xmlns:a16="http://schemas.microsoft.com/office/drawing/2014/main" id="{053D7A98-544E-3F39-3C3F-B9E6A50F9E3C}"/>
              </a:ext>
            </a:extLst>
          </p:cNvPr>
          <p:cNvSpPr txBox="1"/>
          <p:nvPr/>
        </p:nvSpPr>
        <p:spPr>
          <a:xfrm>
            <a:off x="11552360" y="10927604"/>
            <a:ext cx="469648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2400" dirty="0" err="1">
                <a:solidFill>
                  <a:schemeClr val="bg1">
                    <a:lumMod val="50000"/>
                  </a:schemeClr>
                </a:solidFill>
              </a:rPr>
              <a:t>asymetric</a:t>
            </a:r>
            <a:r>
              <a:rPr lang="en-US" altLang="zh-CN" sz="2400" dirty="0">
                <a:solidFill>
                  <a:schemeClr val="bg1">
                    <a:lumMod val="50000"/>
                  </a:schemeClr>
                </a:solidFill>
              </a:rPr>
              <a:t>(</a:t>
            </a:r>
            <a:r>
              <a:rPr lang="en-US" altLang="zh-CN" sz="2400" dirty="0" err="1">
                <a:solidFill>
                  <a:schemeClr val="bg1">
                    <a:lumMod val="50000"/>
                  </a:schemeClr>
                </a:solidFill>
              </a:rPr>
              <a:t>min_pv_mean_ssqrt_r</a:t>
            </a:r>
            <a:r>
              <a:rPr lang="en-US" altLang="zh-CN" sz="2400" dirty="0">
                <a:solidFill>
                  <a:schemeClr val="bg1">
                    <a:lumMod val="50000"/>
                  </a:schemeClr>
                </a:solidFill>
              </a:rPr>
              <a:t>)</a:t>
            </a:r>
            <a:endParaRPr lang="zh-CN" altLang="en-US" sz="2400" dirty="0">
              <a:solidFill>
                <a:schemeClr val="bg1">
                  <a:lumMod val="50000"/>
                </a:schemeClr>
              </a:solidFill>
            </a:endParaRPr>
          </a:p>
        </p:txBody>
      </p:sp>
      <p:sp>
        <p:nvSpPr>
          <p:cNvPr id="27" name="文本框 26">
            <a:extLst>
              <a:ext uri="{FF2B5EF4-FFF2-40B4-BE49-F238E27FC236}">
                <a16:creationId xmlns:a16="http://schemas.microsoft.com/office/drawing/2014/main" id="{23E65CAC-EC57-A112-7C08-C79E07C4ED03}"/>
              </a:ext>
            </a:extLst>
          </p:cNvPr>
          <p:cNvSpPr txBox="1"/>
          <p:nvPr/>
        </p:nvSpPr>
        <p:spPr>
          <a:xfrm>
            <a:off x="20065719" y="12585835"/>
            <a:ext cx="2833399"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zh-CN" altLang="en-US" sz="2400" dirty="0">
                <a:solidFill>
                  <a:schemeClr val="tx1"/>
                </a:solidFill>
              </a:rPr>
              <a:t>√</a:t>
            </a:r>
            <a:r>
              <a:rPr lang="en-US" altLang="zh-CN" sz="2400" dirty="0">
                <a:solidFill>
                  <a:schemeClr val="tx1"/>
                </a:solidFill>
              </a:rPr>
              <a:t>  beaten</a:t>
            </a:r>
            <a:endParaRPr lang="zh-CN" altLang="en-US" sz="2400" dirty="0">
              <a:solidFill>
                <a:schemeClr val="tx1"/>
              </a:solidFill>
            </a:endParaRPr>
          </a:p>
        </p:txBody>
      </p:sp>
    </p:spTree>
    <p:extLst>
      <p:ext uri="{BB962C8B-B14F-4D97-AF65-F5344CB8AC3E}">
        <p14:creationId xmlns:p14="http://schemas.microsoft.com/office/powerpoint/2010/main" val="361200635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Combination of the 3 proxies"/>
          <p:cNvSpPr txBox="1">
            <a:spLocks noGrp="1"/>
          </p:cNvSpPr>
          <p:nvPr>
            <p:ph type="title"/>
          </p:nvPr>
        </p:nvSpPr>
        <p:spPr>
          <a:prstGeom prst="rect">
            <a:avLst/>
          </a:prstGeom>
        </p:spPr>
        <p:txBody>
          <a:bodyPr/>
          <a:lstStyle/>
          <a:p>
            <a:r>
              <a:rPr lang="en-US" altLang="zh-CN" dirty="0"/>
              <a:t>The Final results of the Shape &amp; order prediction</a:t>
            </a:r>
            <a:endParaRPr dirty="0"/>
          </a:p>
        </p:txBody>
      </p:sp>
      <p:sp>
        <p:nvSpPr>
          <p:cNvPr id="246" name="Combination of the 3 features have significant improvement…"/>
          <p:cNvSpPr txBox="1"/>
          <p:nvPr/>
        </p:nvSpPr>
        <p:spPr>
          <a:xfrm>
            <a:off x="1018506" y="2716908"/>
            <a:ext cx="23085840" cy="34400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pPr marL="491744" indent="-491744" defTabSz="2145791">
              <a:spcBef>
                <a:spcPts val="2100"/>
              </a:spcBef>
              <a:buClr>
                <a:srgbClr val="000000"/>
              </a:buClr>
              <a:buSzPct val="100000"/>
              <a:buChar char="•"/>
              <a:defRPr sz="4224"/>
            </a:pPr>
            <a:r>
              <a:rPr dirty="0"/>
              <a:t>Combination of the 3 features have improvement</a:t>
            </a:r>
          </a:p>
          <a:p>
            <a:pPr marL="983488" lvl="1" indent="-491744" defTabSz="2145791">
              <a:spcBef>
                <a:spcPts val="2100"/>
              </a:spcBef>
              <a:buClr>
                <a:srgbClr val="000000"/>
              </a:buClr>
              <a:buSzPct val="100000"/>
              <a:buChar char="•"/>
              <a:defRPr sz="3520"/>
            </a:pPr>
            <a:r>
              <a:rPr dirty="0"/>
              <a:t>The features are un-correlated</a:t>
            </a:r>
            <a:endParaRPr lang="zh-CN" altLang="en-US" dirty="0"/>
          </a:p>
        </p:txBody>
      </p:sp>
      <p:pic>
        <p:nvPicPr>
          <p:cNvPr id="3" name="图片 2">
            <a:extLst>
              <a:ext uri="{FF2B5EF4-FFF2-40B4-BE49-F238E27FC236}">
                <a16:creationId xmlns:a16="http://schemas.microsoft.com/office/drawing/2014/main" id="{0BC178A7-D3C2-55F2-81E8-7A24306183D3}"/>
              </a:ext>
            </a:extLst>
          </p:cNvPr>
          <p:cNvPicPr>
            <a:picLocks noChangeAspect="1"/>
          </p:cNvPicPr>
          <p:nvPr/>
        </p:nvPicPr>
        <p:blipFill>
          <a:blip r:embed="rId3"/>
          <a:stretch>
            <a:fillRect/>
          </a:stretch>
        </p:blipFill>
        <p:spPr>
          <a:xfrm>
            <a:off x="-247034" y="6858000"/>
            <a:ext cx="9227638" cy="5667368"/>
          </a:xfrm>
          <a:prstGeom prst="rect">
            <a:avLst/>
          </a:prstGeom>
        </p:spPr>
      </p:pic>
      <p:pic>
        <p:nvPicPr>
          <p:cNvPr id="17" name="图片 16">
            <a:extLst>
              <a:ext uri="{FF2B5EF4-FFF2-40B4-BE49-F238E27FC236}">
                <a16:creationId xmlns:a16="http://schemas.microsoft.com/office/drawing/2014/main" id="{1D802D00-2667-CE63-213F-4304871D464B}"/>
              </a:ext>
            </a:extLst>
          </p:cNvPr>
          <p:cNvPicPr>
            <a:picLocks/>
          </p:cNvPicPr>
          <p:nvPr/>
        </p:nvPicPr>
        <p:blipFill>
          <a:blip r:embed="rId4"/>
          <a:stretch>
            <a:fillRect/>
          </a:stretch>
        </p:blipFill>
        <p:spPr>
          <a:xfrm>
            <a:off x="12561426" y="4019534"/>
            <a:ext cx="7651966" cy="1665345"/>
          </a:xfrm>
          <a:prstGeom prst="rect">
            <a:avLst/>
          </a:prstGeom>
          <a:ln w="28575">
            <a:solidFill>
              <a:srgbClr val="C00000"/>
            </a:solidFill>
          </a:ln>
        </p:spPr>
      </p:pic>
      <p:grpSp>
        <p:nvGrpSpPr>
          <p:cNvPr id="24" name="成组">
            <a:extLst>
              <a:ext uri="{FF2B5EF4-FFF2-40B4-BE49-F238E27FC236}">
                <a16:creationId xmlns:a16="http://schemas.microsoft.com/office/drawing/2014/main" id="{683B9F6A-A42C-201A-3558-0BF4BE6AFAF6}"/>
              </a:ext>
            </a:extLst>
          </p:cNvPr>
          <p:cNvGrpSpPr/>
          <p:nvPr/>
        </p:nvGrpSpPr>
        <p:grpSpPr>
          <a:xfrm>
            <a:off x="9098472" y="6858000"/>
            <a:ext cx="15285528" cy="6045200"/>
            <a:chOff x="-267284" y="-27853"/>
            <a:chExt cx="15285527" cy="7461994"/>
          </a:xfrm>
        </p:grpSpPr>
        <p:graphicFrame>
          <p:nvGraphicFramePr>
            <p:cNvPr id="25" name="二维堆叠条形图">
              <a:extLst>
                <a:ext uri="{FF2B5EF4-FFF2-40B4-BE49-F238E27FC236}">
                  <a16:creationId xmlns:a16="http://schemas.microsoft.com/office/drawing/2014/main" id="{B5B87BF3-A4E7-0CC0-7BB6-2D513E4600B0}"/>
                </a:ext>
              </a:extLst>
            </p:cNvPr>
            <p:cNvGraphicFramePr/>
            <p:nvPr>
              <p:extLst>
                <p:ext uri="{D42A27DB-BD31-4B8C-83A1-F6EECF244321}">
                  <p14:modId xmlns:p14="http://schemas.microsoft.com/office/powerpoint/2010/main" val="1550544724"/>
                </p:ext>
              </p:extLst>
            </p:nvPr>
          </p:nvGraphicFramePr>
          <p:xfrm>
            <a:off x="-267284" y="-27853"/>
            <a:ext cx="7570247" cy="746199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6" name="二维堆叠条形图">
              <a:extLst>
                <a:ext uri="{FF2B5EF4-FFF2-40B4-BE49-F238E27FC236}">
                  <a16:creationId xmlns:a16="http://schemas.microsoft.com/office/drawing/2014/main" id="{01566D0E-7AD1-6EC6-8AB2-9F95AE4458CE}"/>
                </a:ext>
              </a:extLst>
            </p:cNvPr>
            <p:cNvGraphicFramePr/>
            <p:nvPr>
              <p:extLst>
                <p:ext uri="{D42A27DB-BD31-4B8C-83A1-F6EECF244321}">
                  <p14:modId xmlns:p14="http://schemas.microsoft.com/office/powerpoint/2010/main" val="3394464440"/>
                </p:ext>
              </p:extLst>
            </p:nvPr>
          </p:nvGraphicFramePr>
          <p:xfrm>
            <a:off x="7168344" y="-27853"/>
            <a:ext cx="7570246" cy="7461994"/>
          </p:xfrm>
          <a:graphic>
            <a:graphicData uri="http://schemas.openxmlformats.org/drawingml/2006/chart">
              <c:chart xmlns:c="http://schemas.openxmlformats.org/drawingml/2006/chart" xmlns:r="http://schemas.openxmlformats.org/officeDocument/2006/relationships" r:id="rId6"/>
            </a:graphicData>
          </a:graphic>
        </p:graphicFrame>
        <p:sp>
          <p:nvSpPr>
            <p:cNvPr id="28" name="线条">
              <a:extLst>
                <a:ext uri="{FF2B5EF4-FFF2-40B4-BE49-F238E27FC236}">
                  <a16:creationId xmlns:a16="http://schemas.microsoft.com/office/drawing/2014/main" id="{F3B8C241-A0F4-0B83-FF96-79DCC02E6BB7}"/>
                </a:ext>
              </a:extLst>
            </p:cNvPr>
            <p:cNvSpPr/>
            <p:nvPr/>
          </p:nvSpPr>
          <p:spPr>
            <a:xfrm>
              <a:off x="0" y="1652150"/>
              <a:ext cx="15018243" cy="1"/>
            </a:xfrm>
            <a:prstGeom prst="line">
              <a:avLst/>
            </a:prstGeom>
            <a:noFill/>
            <a:ln w="25400" cap="flat">
              <a:solidFill>
                <a:srgbClr val="000000"/>
              </a:solidFill>
              <a:custDash>
                <a:ds d="200000" sp="200000"/>
              </a:custDash>
              <a:miter lim="400000"/>
            </a:ln>
            <a:effectLst/>
          </p:spPr>
          <p:txBody>
            <a:bodyPr wrap="square" lIns="50800" tIns="50800" rIns="50800" bIns="50800" numCol="1" anchor="ctr">
              <a:noAutofit/>
            </a:bodyPr>
            <a:lstStyle/>
            <a:p>
              <a:endParaRPr dirty="0"/>
            </a:p>
          </p:txBody>
        </p:sp>
        <p:sp>
          <p:nvSpPr>
            <p:cNvPr id="29" name="线条">
              <a:extLst>
                <a:ext uri="{FF2B5EF4-FFF2-40B4-BE49-F238E27FC236}">
                  <a16:creationId xmlns:a16="http://schemas.microsoft.com/office/drawing/2014/main" id="{89F35835-1FC3-4739-E139-7FD705C56A3D}"/>
                </a:ext>
              </a:extLst>
            </p:cNvPr>
            <p:cNvSpPr/>
            <p:nvPr/>
          </p:nvSpPr>
          <p:spPr>
            <a:xfrm>
              <a:off x="0" y="2875138"/>
              <a:ext cx="15018243" cy="1"/>
            </a:xfrm>
            <a:prstGeom prst="line">
              <a:avLst/>
            </a:prstGeom>
            <a:noFill/>
            <a:ln w="25400" cap="flat">
              <a:solidFill>
                <a:srgbClr val="000000"/>
              </a:solidFill>
              <a:custDash>
                <a:ds d="200000" sp="200000"/>
              </a:custDash>
              <a:miter lim="400000"/>
            </a:ln>
            <a:effectLst/>
          </p:spPr>
          <p:txBody>
            <a:bodyPr wrap="square" lIns="50800" tIns="50800" rIns="50800" bIns="50800" numCol="1" anchor="ctr">
              <a:noAutofit/>
            </a:bodyPr>
            <a:lstStyle/>
            <a:p>
              <a:endParaRPr dirty="0"/>
            </a:p>
          </p:txBody>
        </p:sp>
        <p:sp>
          <p:nvSpPr>
            <p:cNvPr id="30" name="线条">
              <a:extLst>
                <a:ext uri="{FF2B5EF4-FFF2-40B4-BE49-F238E27FC236}">
                  <a16:creationId xmlns:a16="http://schemas.microsoft.com/office/drawing/2014/main" id="{D9EAEF5E-672D-F3D1-63A2-A59FEDF9159A}"/>
                </a:ext>
              </a:extLst>
            </p:cNvPr>
            <p:cNvSpPr/>
            <p:nvPr/>
          </p:nvSpPr>
          <p:spPr>
            <a:xfrm>
              <a:off x="-74254" y="4098127"/>
              <a:ext cx="15018243" cy="1"/>
            </a:xfrm>
            <a:prstGeom prst="line">
              <a:avLst/>
            </a:prstGeom>
            <a:noFill/>
            <a:ln w="25400" cap="flat">
              <a:solidFill>
                <a:srgbClr val="000000"/>
              </a:solidFill>
              <a:custDash>
                <a:ds d="200000" sp="200000"/>
              </a:custDash>
              <a:miter lim="400000"/>
            </a:ln>
            <a:effectLst/>
          </p:spPr>
          <p:txBody>
            <a:bodyPr wrap="square" lIns="50800" tIns="50800" rIns="50800" bIns="50800" numCol="1" anchor="ctr">
              <a:noAutofit/>
            </a:bodyPr>
            <a:lstStyle/>
            <a:p>
              <a:endParaRPr/>
            </a:p>
          </p:txBody>
        </p:sp>
        <p:sp>
          <p:nvSpPr>
            <p:cNvPr id="31" name="Training">
              <a:extLst>
                <a:ext uri="{FF2B5EF4-FFF2-40B4-BE49-F238E27FC236}">
                  <a16:creationId xmlns:a16="http://schemas.microsoft.com/office/drawing/2014/main" id="{56650EE6-F88B-5AEB-6E07-1141DE91B773}"/>
                </a:ext>
              </a:extLst>
            </p:cNvPr>
            <p:cNvSpPr txBox="1"/>
            <p:nvPr/>
          </p:nvSpPr>
          <p:spPr>
            <a:xfrm>
              <a:off x="5100994" y="0"/>
              <a:ext cx="2005610" cy="7620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sz="3800" b="1"/>
              </a:lvl1pPr>
            </a:lstStyle>
            <a:p>
              <a:r>
                <a:rPr dirty="0"/>
                <a:t>Training</a:t>
              </a:r>
            </a:p>
          </p:txBody>
        </p:sp>
        <p:sp>
          <p:nvSpPr>
            <p:cNvPr id="32" name="Validation">
              <a:extLst>
                <a:ext uri="{FF2B5EF4-FFF2-40B4-BE49-F238E27FC236}">
                  <a16:creationId xmlns:a16="http://schemas.microsoft.com/office/drawing/2014/main" id="{CE0D7F97-CA9D-04C8-3D72-95E0AA141573}"/>
                </a:ext>
              </a:extLst>
            </p:cNvPr>
            <p:cNvSpPr txBox="1"/>
            <p:nvPr/>
          </p:nvSpPr>
          <p:spPr>
            <a:xfrm>
              <a:off x="12362938" y="0"/>
              <a:ext cx="2493519" cy="7620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sz="3800" b="1"/>
              </a:lvl1pPr>
            </a:lstStyle>
            <a:p>
              <a:r>
                <a:rPr dirty="0"/>
                <a:t>Validation</a:t>
              </a:r>
            </a:p>
          </p:txBody>
        </p:sp>
        <p:sp>
          <p:nvSpPr>
            <p:cNvPr id="33" name="线条">
              <a:extLst>
                <a:ext uri="{FF2B5EF4-FFF2-40B4-BE49-F238E27FC236}">
                  <a16:creationId xmlns:a16="http://schemas.microsoft.com/office/drawing/2014/main" id="{79A09723-8FD8-2267-5DCB-6C8E93A580CC}"/>
                </a:ext>
              </a:extLst>
            </p:cNvPr>
            <p:cNvSpPr/>
            <p:nvPr/>
          </p:nvSpPr>
          <p:spPr>
            <a:xfrm>
              <a:off x="0" y="5302852"/>
              <a:ext cx="15018243" cy="1"/>
            </a:xfrm>
            <a:prstGeom prst="line">
              <a:avLst/>
            </a:prstGeom>
            <a:noFill/>
            <a:ln w="25400" cap="flat">
              <a:solidFill>
                <a:srgbClr val="000000"/>
              </a:solidFill>
              <a:custDash>
                <a:ds d="200000" sp="200000"/>
              </a:custDash>
              <a:miter lim="400000"/>
            </a:ln>
            <a:effectLst/>
          </p:spPr>
          <p:txBody>
            <a:bodyPr wrap="square" lIns="50800" tIns="50800" rIns="50800" bIns="50800" numCol="1" anchor="ctr">
              <a:noAutofit/>
            </a:bodyPr>
            <a:lstStyle/>
            <a:p>
              <a:endParaRPr/>
            </a:p>
          </p:txBody>
        </p:sp>
      </p:grpSp>
    </p:spTree>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advAuto="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Thank you!"/>
          <p:cNvSpPr txBox="1">
            <a:spLocks noGrp="1"/>
          </p:cNvSpPr>
          <p:nvPr>
            <p:ph type="body" sz="half" idx="1"/>
          </p:nvPr>
        </p:nvSpPr>
        <p:spPr>
          <a:prstGeom prst="rect">
            <a:avLst/>
          </a:prstGeom>
        </p:spPr>
        <p:txBody>
          <a:bodyPr/>
          <a:lstStyle>
            <a:lvl1pPr>
              <a:defRPr sz="10800" b="1" spc="-324">
                <a:latin typeface="Avenir Next Regular"/>
                <a:ea typeface="Avenir Next Regular"/>
                <a:cs typeface="Avenir Next Regular"/>
                <a:sym typeface="Avenir Next Regular"/>
              </a:defRPr>
            </a:lvl1pPr>
          </a:lstStyle>
          <a:p>
            <a:r>
              <a:t>Thank you!</a:t>
            </a:r>
          </a:p>
        </p:txBody>
      </p:sp>
    </p:spTree>
  </p:cSld>
  <p:clrMapOvr>
    <a:masterClrMapping/>
  </p:clrMapOvr>
  <p:transition spd="med"/>
</p:sld>
</file>

<file path=ppt/theme/theme1.xml><?xml version="1.0" encoding="utf-8"?>
<a:theme xmlns:a="http://schemas.openxmlformats.org/drawingml/2006/main" name="31_ColorGradientLight">
  <a:themeElements>
    <a:clrScheme name="31_ColorGradientLight">
      <a:dk1>
        <a:srgbClr val="000000"/>
      </a:dk1>
      <a:lt1>
        <a:srgbClr val="FFFFFF"/>
      </a:lt1>
      <a:dk2>
        <a:srgbClr val="5E5E5E"/>
      </a:dk2>
      <a:lt2>
        <a:srgbClr val="D5D5D5"/>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31_ColorGradientLight">
      <a:majorFont>
        <a:latin typeface="Avenir Next Demi Bold"/>
        <a:ea typeface="Avenir Next Demi Bold"/>
        <a:cs typeface="Avenir Next Demi Bold"/>
      </a:majorFont>
      <a:minorFont>
        <a:latin typeface="Avenir Next Demi Bold"/>
        <a:ea typeface="Avenir Next Demi Bold"/>
        <a:cs typeface="Avenir Next Demi Bold"/>
      </a:minorFont>
    </a:fontScheme>
    <a:fmtScheme name="31_ColorGradient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Avenir Next Regular"/>
            <a:ea typeface="Avenir Next Regular"/>
            <a:cs typeface="Avenir Next Regular"/>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31_ColorGradientLight">
  <a:themeElements>
    <a:clrScheme name="31_ColorGradientLight">
      <a:dk1>
        <a:srgbClr val="000000"/>
      </a:dk1>
      <a:lt1>
        <a:srgbClr val="FFFFFF"/>
      </a:lt1>
      <a:dk2>
        <a:srgbClr val="5E5E5E"/>
      </a:dk2>
      <a:lt2>
        <a:srgbClr val="D5D5D5"/>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31_ColorGradientLight">
      <a:majorFont>
        <a:latin typeface="Avenir Next Demi Bold"/>
        <a:ea typeface="Avenir Next Demi Bold"/>
        <a:cs typeface="Avenir Next Demi Bold"/>
      </a:majorFont>
      <a:minorFont>
        <a:latin typeface="Avenir Next Demi Bold"/>
        <a:ea typeface="Avenir Next Demi Bold"/>
        <a:cs typeface="Avenir Next Demi Bold"/>
      </a:minorFont>
    </a:fontScheme>
    <a:fmtScheme name="31_ColorGradient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Avenir Next Regular"/>
            <a:ea typeface="Avenir Next Regular"/>
            <a:cs typeface="Avenir Next Regular"/>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247</TotalTime>
  <Words>1359</Words>
  <Application>Microsoft Office PowerPoint</Application>
  <PresentationFormat>自定义</PresentationFormat>
  <Paragraphs>76</Paragraphs>
  <Slides>7</Slides>
  <Notes>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7</vt:i4>
      </vt:variant>
    </vt:vector>
  </HeadingPairs>
  <TitlesOfParts>
    <vt:vector size="16" baseType="lpstr">
      <vt:lpstr>Avenir Next Demi Bold</vt:lpstr>
      <vt:lpstr>Avenir Next Medium</vt:lpstr>
      <vt:lpstr>Avenir Next Regular</vt:lpstr>
      <vt:lpstr>Helvetica Neue</vt:lpstr>
      <vt:lpstr>Microsoft YaHei</vt:lpstr>
      <vt:lpstr>等线</vt:lpstr>
      <vt:lpstr>Arial</vt:lpstr>
      <vt:lpstr>Cambria Math</vt:lpstr>
      <vt:lpstr>31_ColorGradientLight</vt:lpstr>
      <vt:lpstr>Shape of Price and EA returns</vt:lpstr>
      <vt:lpstr>The ordering information of historical returns</vt:lpstr>
      <vt:lpstr>The implementation of the CRO</vt:lpstr>
      <vt:lpstr>The implementation of the VSS</vt:lpstr>
      <vt:lpstr>The implementation of the ASY</vt:lpstr>
      <vt:lpstr>The Final results of the Shape &amp; order prediction</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Strategy Based on Shape Features</dc:title>
  <dc:creator>HOMON</dc:creator>
  <cp:lastModifiedBy>HOMON</cp:lastModifiedBy>
  <cp:revision>61</cp:revision>
  <dcterms:modified xsi:type="dcterms:W3CDTF">2024-06-28T04:32:07Z</dcterms:modified>
</cp:coreProperties>
</file>